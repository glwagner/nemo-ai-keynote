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intro_gregory: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intro_gregory: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intro_gregory: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ai_terminology: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 name="Google Shape;32;ai_terminology: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Prototype terminology slide. AI is the broad umbrella, not a synonym for LLM. Machine learning includes trees, kernel methods, neural networks, and other statistical learning approaches. Deep learning uses multilayer neural networks, typically optimized using gradients and backpropagation. Large parameter counts motivate scalable optimization, but they do not define ML, nor are gradients exclusive to large models.</a:t>
            </a:r>
            <a:endParaRPr/>
          </a:p>
          <a:p>
            <a:pPr indent="0" lvl="0" marL="0" rtl="0" algn="l">
              <a:spcBef>
                <a:spcPts val="0"/>
              </a:spcBef>
              <a:spcAft>
                <a:spcPts val="0"/>
              </a:spcAft>
              <a:buNone/>
            </a:pPr>
            <a:r>
              <a:rPr lang="en-US"/>
              <a:t>LLMs are large neural language models, usually transformer-based today. Pretraining commonly uses token prediction over large text/code datasets, followed by other training such as instruction tuning and reinforcement learning. Transformers also serve applications beyond language; LLM is not defined solely by architecture or parameter count. Modern systems can also be multimodal.</a:t>
            </a:r>
            <a:endParaRPr/>
          </a:p>
          <a:p>
            <a:pPr indent="0" lvl="0" marL="0" rtl="0" algn="l">
              <a:spcBef>
                <a:spcPts val="0"/>
              </a:spcBef>
              <a:spcAft>
                <a:spcPts val="0"/>
              </a:spcAft>
              <a:buNone/>
            </a:pPr>
            <a:r>
              <a:rPr lang="en-US"/>
              <a:t>The harness is the surrounding software that assembles context, exposes tools, enforces permissions, keeps state, and manages execution. An LLM can be used without an agent. A tool-using agent gives the model control over some next actions, and may iterate using tool results. Ordinary interaction/tool feedback typically does not update model weights.</a:t>
            </a:r>
            <a:endParaRPr/>
          </a:p>
          <a:p>
            <a:pPr indent="0" lvl="0" marL="0" rtl="0" algn="l">
              <a:spcBef>
                <a:spcPts val="0"/>
              </a:spcBef>
              <a:spcAft>
                <a:spcPts val="0"/>
              </a:spcAft>
              <a:buNone/>
            </a:pPr>
            <a:r>
              <a:rPr lang="en-US"/>
              <a:t>In the usage/development sections, AI often refers to an LLM-powered assistant. The parameterization discussion also includes other ML models. Neural ocean or atmosphere emulators are not necessarily LLMs.</a:t>
            </a:r>
            <a:endParaRPr/>
          </a:p>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IBM Data and AI Team, AI vs. machine learning vs. deep learning vs. neural networks: https://www.ibm.com/think/topics/ai-vs-machine-learning-vs-deep-learning-vs-neural-networks</a:t>
            </a:r>
            <a:endParaRPr/>
          </a:p>
          <a:p>
            <a:pPr indent="0" lvl="0" marL="0" rtl="0" algn="l">
              <a:spcBef>
                <a:spcPts val="0"/>
              </a:spcBef>
              <a:spcAft>
                <a:spcPts val="0"/>
              </a:spcAft>
              <a:buNone/>
            </a:pPr>
            <a:r>
              <a:rPr lang="en-US"/>
              <a:t>LeCun, Bengio &amp; Hinton (2015), Deep learning: https://doi.org/10.1038/nature14539</a:t>
            </a:r>
            <a:endParaRPr/>
          </a:p>
          <a:p>
            <a:pPr indent="0" lvl="0" marL="0" rtl="0" algn="l">
              <a:spcBef>
                <a:spcPts val="0"/>
              </a:spcBef>
              <a:spcAft>
                <a:spcPts val="0"/>
              </a:spcAft>
              <a:buNone/>
            </a:pPr>
            <a:r>
              <a:rPr lang="en-US"/>
              <a:t>Vaswani et al. (2017), Attention Is All You Need: https://arxiv.org/abs/1706.03762</a:t>
            </a:r>
            <a:endParaRPr/>
          </a:p>
          <a:p>
            <a:pPr indent="0" lvl="0" marL="0" rtl="0" algn="l">
              <a:spcBef>
                <a:spcPts val="0"/>
              </a:spcBef>
              <a:spcAft>
                <a:spcPts val="0"/>
              </a:spcAft>
              <a:buNone/>
            </a:pPr>
            <a:r>
              <a:rPr lang="en-US"/>
              <a:t>Brown et al. (2020), Language Models are Few-Shot Learners: https://arxiv.org/abs/2005.14165</a:t>
            </a:r>
            <a:endParaRPr/>
          </a:p>
          <a:p>
            <a:pPr indent="0" lvl="0" marL="0" rtl="0" algn="l">
              <a:spcBef>
                <a:spcPts val="0"/>
              </a:spcBef>
              <a:spcAft>
                <a:spcPts val="0"/>
              </a:spcAft>
              <a:buNone/>
            </a:pPr>
            <a:r>
              <a:rPr lang="en-US"/>
              <a:t>Schluntz &amp; Zhang / Anthropic (2024), Building effective agents: https://www.anthropic.com/engineering/building-effective-agents</a:t>
            </a:r>
            <a:endParaRPr/>
          </a:p>
          <a:p>
            <a:pPr indent="0" lvl="0" marL="0" rtl="0" algn="l">
              <a:spcBef>
                <a:spcPts val="0"/>
              </a:spcBef>
              <a:spcAft>
                <a:spcPts val="0"/>
              </a:spcAft>
              <a:buNone/>
            </a:pPr>
            <a:r>
              <a:t/>
            </a:r>
            <a:endParaRPr/>
          </a:p>
        </p:txBody>
      </p:sp>
      <p:sp>
        <p:nvSpPr>
          <p:cNvPr id="33" name="Google Shape;33;ai_terminology: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ai_framing: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ai_framing: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Added actual screenshot of Nicola Jones’s Nature news headline, 18 September 2026: “AI cracked the Navier–Stokes challenge. What does that mean for physics?” https://www.nature.com/articles/d41586-026-02922-6</a:t>
            </a:r>
            <a:endParaRPr/>
          </a:p>
          <a:p>
            <a:pPr indent="0" lvl="0" marL="0" rtl="0" algn="l">
              <a:spcBef>
                <a:spcPts val="0"/>
              </a:spcBef>
              <a:spcAft>
                <a:spcPts val="0"/>
              </a:spcAft>
              <a:buNone/>
            </a:pPr>
            <a:r>
              <a:rPr lang="en-US"/>
              <a:t>This is a clipping of the published headline, not an independent verification of the mathematical result or a claim about general numerical solution of fluid dynamics. The article concerns the Navier–Stokes existence/smoothness challenge.</a:t>
            </a:r>
            <a:endParaRPr/>
          </a:p>
          <a:p>
            <a:pPr indent="0" lvl="0" marL="0" rtl="0" algn="l">
              <a:spcBef>
                <a:spcPts val="0"/>
              </a:spcBef>
              <a:spcAft>
                <a:spcPts val="0"/>
              </a:spcAft>
              <a:buNone/>
            </a:pPr>
            <a:r>
              <a:rPr lang="en-US"/>
              <a:t>Opening thesis: LLMs offer extraordinary opportunities and extraordinary risks. Attribution, understanding, and human control draw on the Leiden Declaration on Artificial Intelligence and Mathematics (2026): https://leidendeclaration.ai/</a:t>
            </a:r>
            <a:endParaRPr/>
          </a:p>
          <a:p>
            <a:pPr indent="0" lvl="0" marL="0" rtl="0" algn="l">
              <a:spcBef>
                <a:spcPts val="0"/>
              </a:spcBef>
              <a:spcAft>
                <a:spcPts val="0"/>
              </a:spcAft>
              <a:buNone/>
            </a:pPr>
            <a:r>
              <a:rPr lang="en-US"/>
              <a:t>Porting ≠ progress is Gregory’s application to ocean modeling, not a claim attributed to any individual paper. Porting can enable advances, but should not displace scientific goals or human understanding.</a:t>
            </a:r>
            <a:endParaRPr/>
          </a:p>
          <a:p>
            <a:pPr indent="0" lvl="0" marL="0" rtl="0" algn="l">
              <a:spcBef>
                <a:spcPts val="0"/>
              </a:spcBef>
              <a:spcAft>
                <a:spcPts val="0"/>
              </a:spcAft>
              <a:buNone/>
            </a:pPr>
            <a:r>
              <a:rPr lang="en-US"/>
              <a:t>The screenshots are actual title-region crops from the following source PDFs; all six clippings link to their sources. They illustrate a range of AI applications, not endorsements of the risk claims.</a:t>
            </a:r>
            <a:endParaRPr/>
          </a:p>
          <a:p>
            <a:pPr indent="0" lvl="0" marL="0" rtl="0" algn="l">
              <a:spcBef>
                <a:spcPts val="0"/>
              </a:spcBef>
              <a:spcAft>
                <a:spcPts val="0"/>
              </a:spcAft>
              <a:buNone/>
            </a:pPr>
            <a:r>
              <a:rPr lang="en-US"/>
              <a:t>FESOM2-JAX: https://arxiv.org/abs/2608.01546 (LLM-assisted model development)</a:t>
            </a:r>
            <a:endParaRPr/>
          </a:p>
          <a:p>
            <a:pPr indent="0" lvl="0" marL="0" rtl="0" algn="l">
              <a:spcBef>
                <a:spcPts val="0"/>
              </a:spcBef>
              <a:spcAft>
                <a:spcPts val="0"/>
              </a:spcAft>
              <a:buNone/>
            </a:pPr>
            <a:r>
              <a:rPr lang="en-US"/>
              <a:t>Samudra: https://arxiv.org/abs/2412.03795 (neural ocean emulator, not an LLM)</a:t>
            </a:r>
            <a:endParaRPr/>
          </a:p>
          <a:p>
            <a:pPr indent="0" lvl="0" marL="0" rtl="0" algn="l">
              <a:spcBef>
                <a:spcPts val="0"/>
              </a:spcBef>
              <a:spcAft>
                <a:spcPts val="0"/>
              </a:spcAft>
              <a:buNone/>
            </a:pPr>
            <a:r>
              <a:rPr lang="en-US"/>
              <a:t>ACE: https://arxiv.org/abs/2310.02074 (neural atmospheric emulator, not an LLM)</a:t>
            </a:r>
            <a:endParaRPr/>
          </a:p>
          <a:p>
            <a:pPr indent="0" lvl="0" marL="0" rtl="0" algn="l">
              <a:spcBef>
                <a:spcPts val="0"/>
              </a:spcBef>
              <a:spcAft>
                <a:spcPts val="0"/>
              </a:spcAft>
              <a:buNone/>
            </a:pPr>
            <a:r>
              <a:rPr lang="en-US"/>
              <a:t>OceanMind: https://arxiv.org/abs/2610.03780 (LLM agents for ocean diagnosis)</a:t>
            </a:r>
            <a:endParaRPr/>
          </a:p>
          <a:p>
            <a:pPr indent="0" lvl="0" marL="0" rtl="0" algn="l">
              <a:spcBef>
                <a:spcPts val="0"/>
              </a:spcBef>
              <a:spcAft>
                <a:spcPts val="0"/>
              </a:spcAft>
              <a:buNone/>
            </a:pPr>
            <a:r>
              <a:rPr lang="en-US"/>
              <a:t>AutoCF: https://arxiv.org/abs/2609.35753 (automated coastal flood workflow)</a:t>
            </a:r>
            <a:endParaRPr/>
          </a:p>
          <a:p>
            <a:pPr indent="0" lvl="0" marL="0" rtl="0" algn="l">
              <a:spcBef>
                <a:spcPts val="0"/>
              </a:spcBef>
              <a:spcAft>
                <a:spcPts val="0"/>
              </a:spcAft>
              <a:buNone/>
            </a:pPr>
            <a:r>
              <a:rPr lang="en-US"/>
              <a:t>Leiden Declaration: https://arxiv.org/abs/2609.35334 (declaration cover title)</a:t>
            </a:r>
            <a:endParaRPr/>
          </a:p>
          <a:p>
            <a:pPr indent="0" lvl="0" marL="0" rtl="0" algn="l">
              <a:spcBef>
                <a:spcPts val="0"/>
              </a:spcBef>
              <a:spcAft>
                <a:spcPts val="0"/>
              </a:spcAft>
              <a:buNone/>
            </a:pPr>
            <a:r>
              <a:t/>
            </a:r>
            <a:endParaRPr/>
          </a:p>
        </p:txBody>
      </p:sp>
      <p:sp>
        <p:nvSpPr>
          <p:cNvPr id="77" name="Google Shape;77;ai_framing: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use_experiment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use_experiments: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Proposed scientific workflow, not a claim of demonstrated autonomous execution. Context: Held2005 https://journals.ametsoc.org/doi/abs/10.1175/BAMS-86-11-1609 and Jeevanjee2017 https://agupubs.onlinelibrary.wiley.com/doi/10.1002/2017MS001038 .</a:t>
            </a:r>
            <a:endParaRPr/>
          </a:p>
        </p:txBody>
      </p:sp>
      <p:sp>
        <p:nvSpPr>
          <p:cNvPr id="124" name="Google Shape;124;use_experiments: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use_gradient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use_gradients: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https://github.com/CliMA/Oceananigans.jl/pull/5013 ; merged25Sep2026. Single-column twin experiment uses Enzyme via Reactant and BFGS/Optim.jl to estimate Cu₀, Cc₀, wind stress and surface buoyancy flux. Synthetic observations. Compiling gradients takes minutes; excessive time step makes cost jagged. Demonstration, not real-world forecast validation.</a:t>
            </a:r>
            <a:endParaRPr/>
          </a:p>
        </p:txBody>
      </p:sp>
      <p:sp>
        <p:nvSpPr>
          <p:cNvPr id="134" name="Google Shape;134;use_gradients: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dev_llm_history: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dev_llm_history: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Selected milestones, not a comprehensive history or a claim of first invention. Code completion, chat and agents coexist.</a:t>
            </a:r>
            <a:endParaRPr/>
          </a:p>
          <a:p>
            <a:pPr indent="0" lvl="0" marL="0" rtl="0" algn="l">
              <a:spcBef>
                <a:spcPts val="0"/>
              </a:spcBef>
              <a:spcAft>
                <a:spcPts val="0"/>
              </a:spcAft>
              <a:buNone/>
            </a:pPr>
            <a:r>
              <a:rPr lang="en-US"/>
              <a:t>2021-06-29: GitHub Copilot technical preview, powered by the original OpenAI Codex model.</a:t>
            </a:r>
            <a:endParaRPr/>
          </a:p>
          <a:p>
            <a:pPr indent="0" lvl="0" marL="0" rtl="0" algn="l">
              <a:spcBef>
                <a:spcPts val="0"/>
              </a:spcBef>
              <a:spcAft>
                <a:spcPts val="0"/>
              </a:spcAft>
              <a:buNone/>
            </a:pPr>
            <a:r>
              <a:rPr lang="en-US"/>
              <a:t>https://github.blog/news-insights/product-news/introducing-github-copilot-ai-pair-programmer/</a:t>
            </a:r>
            <a:endParaRPr/>
          </a:p>
          <a:p>
            <a:pPr indent="0" lvl="0" marL="0" rtl="0" algn="l">
              <a:spcBef>
                <a:spcPts val="0"/>
              </a:spcBef>
              <a:spcAft>
                <a:spcPts val="0"/>
              </a:spcAft>
              <a:buNone/>
            </a:pPr>
            <a:r>
              <a:rPr lang="en-US"/>
              <a:t>2022-11-30: ChatGPT research preview, including a code-debugging example.</a:t>
            </a:r>
            <a:endParaRPr/>
          </a:p>
          <a:p>
            <a:pPr indent="0" lvl="0" marL="0" rtl="0" algn="l">
              <a:spcBef>
                <a:spcPts val="0"/>
              </a:spcBef>
              <a:spcAft>
                <a:spcPts val="0"/>
              </a:spcAft>
              <a:buNone/>
            </a:pPr>
            <a:r>
              <a:rPr lang="en-US"/>
              <a:t>https://openai.com/index/chatgpt/</a:t>
            </a:r>
            <a:endParaRPr/>
          </a:p>
          <a:p>
            <a:pPr indent="0" lvl="0" marL="0" rtl="0" algn="l">
              <a:spcBef>
                <a:spcPts val="0"/>
              </a:spcBef>
              <a:spcAft>
                <a:spcPts val="0"/>
              </a:spcAft>
              <a:buNone/>
            </a:pPr>
            <a:r>
              <a:rPr lang="en-US"/>
              <a:t>2023-12-29: Copilot Chat generally available in VS Code and Visual Studio.</a:t>
            </a:r>
            <a:endParaRPr/>
          </a:p>
          <a:p>
            <a:pPr indent="0" lvl="0" marL="0" rtl="0" algn="l">
              <a:spcBef>
                <a:spcPts val="0"/>
              </a:spcBef>
              <a:spcAft>
                <a:spcPts val="0"/>
              </a:spcAft>
              <a:buNone/>
            </a:pPr>
            <a:r>
              <a:rPr lang="en-US"/>
              <a:t>https://github.blog/news-insights/product-news/github-copilot-chat-now-generally-available-for-organizations-and-individuals/</a:t>
            </a:r>
            <a:endParaRPr/>
          </a:p>
          <a:p>
            <a:pPr indent="0" lvl="0" marL="0" rtl="0" algn="l">
              <a:spcBef>
                <a:spcPts val="0"/>
              </a:spcBef>
              <a:spcAft>
                <a:spcPts val="0"/>
              </a:spcAft>
              <a:buNone/>
            </a:pPr>
            <a:r>
              <a:rPr lang="en-US"/>
              <a:t>2025-02-24: Claude Code research preview.</a:t>
            </a:r>
            <a:endParaRPr/>
          </a:p>
          <a:p>
            <a:pPr indent="0" lvl="0" marL="0" rtl="0" algn="l">
              <a:spcBef>
                <a:spcPts val="0"/>
              </a:spcBef>
              <a:spcAft>
                <a:spcPts val="0"/>
              </a:spcAft>
              <a:buNone/>
            </a:pPr>
            <a:r>
              <a:rPr lang="en-US"/>
              <a:t>https://www.anthropic.com/news/claude-3-7-sonnet</a:t>
            </a:r>
            <a:endParaRPr/>
          </a:p>
          <a:p>
            <a:pPr indent="0" lvl="0" marL="0" rtl="0" algn="l">
              <a:spcBef>
                <a:spcPts val="0"/>
              </a:spcBef>
              <a:spcAft>
                <a:spcPts val="0"/>
              </a:spcAft>
              <a:buNone/>
            </a:pPr>
            <a:r>
              <a:rPr lang="en-US"/>
              <a:t>2025-05-16: Codex cloud software engineering agent research preview (distinct from the 2021 model).</a:t>
            </a:r>
            <a:endParaRPr/>
          </a:p>
          <a:p>
            <a:pPr indent="0" lvl="0" marL="0" rtl="0" algn="l">
              <a:spcBef>
                <a:spcPts val="0"/>
              </a:spcBef>
              <a:spcAft>
                <a:spcPts val="0"/>
              </a:spcAft>
              <a:buNone/>
            </a:pPr>
            <a:r>
              <a:rPr lang="en-US"/>
              <a:t>https://openai.com/index/introducing-codex/</a:t>
            </a:r>
            <a:endParaRPr/>
          </a:p>
          <a:p>
            <a:pPr indent="0" lvl="0" marL="0" rtl="0" algn="l">
              <a:spcBef>
                <a:spcPts val="0"/>
              </a:spcBef>
              <a:spcAft>
                <a:spcPts val="0"/>
              </a:spcAft>
              <a:buNone/>
            </a:pPr>
            <a:r>
              <a:rPr lang="en-US"/>
              <a:t>Transition: these tools emerged across software engineering; scientific model developers participate in this wider change.</a:t>
            </a:r>
            <a:endParaRPr/>
          </a:p>
        </p:txBody>
      </p:sp>
      <p:sp>
        <p:nvSpPr>
          <p:cNvPr id="151" name="Google Shape;151;dev_llm_history: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dev_cost: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dev_cost: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Anthropic, Bringing Code Review to Claude Code, 9 March 2026.</a:t>
            </a:r>
            <a:endParaRPr/>
          </a:p>
          <a:p>
            <a:pPr indent="0" lvl="0" marL="0" rtl="0" algn="l">
              <a:spcBef>
                <a:spcPts val="0"/>
              </a:spcBef>
              <a:spcAft>
                <a:spcPts val="0"/>
              </a:spcAft>
              <a:buNone/>
            </a:pPr>
            <a:r>
              <a:rPr lang="en-US"/>
              <a:t>https://claude.com/blog/code-review/</a:t>
            </a:r>
            <a:endParaRPr/>
          </a:p>
          <a:p>
            <a:pPr indent="0" lvl="0" marL="0" rtl="0" algn="l">
              <a:spcBef>
                <a:spcPts val="0"/>
              </a:spcBef>
              <a:spcAft>
                <a:spcPts val="0"/>
              </a:spcAft>
              <a:buNone/>
            </a:pPr>
            <a:r>
              <a:rPr lang="en-US"/>
              <a:t>Anthropic reports code output per engineer grew 200% over the preceding year. This is a vendor self-report, not a controlled estimate of productivity or development cost. The claim that implementation cost is approaching zero is the speaker’s framing, not a measured result from this source.</a:t>
            </a:r>
            <a:endParaRPr/>
          </a:p>
          <a:p>
            <a:pPr indent="0" lvl="0" marL="0" rtl="0" algn="l">
              <a:spcBef>
                <a:spcPts val="0"/>
              </a:spcBef>
              <a:spcAft>
                <a:spcPts val="0"/>
              </a:spcAft>
              <a:buNone/>
            </a:pPr>
            <a:r>
              <a:t/>
            </a:r>
            <a:endParaRPr/>
          </a:p>
        </p:txBody>
      </p:sp>
      <p:sp>
        <p:nvSpPr>
          <p:cNvPr id="180" name="Google Shape;180;dev_cost: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dev_entry: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dev_entry: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GitHub Docs, Using GitHub Copilot to explore a codebase.</a:t>
            </a:r>
            <a:endParaRPr/>
          </a:p>
          <a:p>
            <a:pPr indent="0" lvl="0" marL="0" rtl="0" algn="l">
              <a:spcBef>
                <a:spcPts val="0"/>
              </a:spcBef>
              <a:spcAft>
                <a:spcPts val="0"/>
              </a:spcAft>
              <a:buNone/>
            </a:pPr>
            <a:r>
              <a:rPr lang="en-US"/>
              <a:t>https://docs.github.com/en/copilot/tutorials/explore-a-codebase</a:t>
            </a:r>
            <a:endParaRPr/>
          </a:p>
          <a:p>
            <a:pPr indent="0" lvl="0" marL="0" rtl="0" algn="l">
              <a:spcBef>
                <a:spcPts val="0"/>
              </a:spcBef>
              <a:spcAft>
                <a:spcPts val="0"/>
              </a:spcAft>
              <a:buNone/>
            </a:pPr>
            <a:r>
              <a:rPr lang="en-US"/>
              <a:t>This documents assistance with exploring an unfamiliar repository and understanding its architecture. It is capability guidance, not empirical evidence that inexperienced contributors produce correct changes. Add the specific Oceananigans PR and contributor context to support the project-specific example.</a:t>
            </a:r>
            <a:endParaRPr/>
          </a:p>
          <a:p>
            <a:pPr indent="0" lvl="0" marL="0" rtl="0" algn="l">
              <a:spcBef>
                <a:spcPts val="0"/>
              </a:spcBef>
              <a:spcAft>
                <a:spcPts val="0"/>
              </a:spcAft>
              <a:buNone/>
            </a:pPr>
            <a:r>
              <a:t/>
            </a:r>
            <a:endParaRPr/>
          </a:p>
        </p:txBody>
      </p:sp>
      <p:sp>
        <p:nvSpPr>
          <p:cNvPr id="190" name="Google Shape;190;dev_entry: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dev_evidence: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dev_evidence: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GitHub snapshot 30 Sep 2026. Jan–Aug 2024/2025/2026: human PRs opened 197/491/578; distinct PR authors 23/29/44; merged PRs 155/399/456; first-time PR authors 8/13/20. Bots excluded. First-time account does not imply novice developer. Activity is not productivity or causal evidence of AI's effect. https://github.com/CliMA/Oceananigans.jl . Full methods and data: outputs/oceananigans-ai/README.md.</a:t>
            </a:r>
            <a:endParaRPr/>
          </a:p>
        </p:txBody>
      </p:sp>
      <p:sp>
        <p:nvSpPr>
          <p:cNvPr id="200" name="Google Shape;200;dev_evidence: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dev_ai_share: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dev_ai_share: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Snapshot 30 Sep 2026; main b9725744cd313ed368bb7906880a5d884c4c78bf. Explicit Claude/Codex co-author trailer OR assistance disclosure in a merged PR matched by merge_commit_sha. Each SHA once. 2026: 201 Claude +3 Codex, no overlap; 204/597=34.17%. September partial:78+2=80/121=66.12%. Denominator includes merges/bots, UTC committer month. No Codex trailers; Codex evidence from https://github.com/CliMA/Oceananigans.jl/pull/5529 , /pull/6078 , /pull/6093 . Seven Claude commits additionally matched through PR descriptions. PR5376 excluded: merge SHA absent from saved main. Optional attribution; descriptions may change after merge. Not AI-written code fraction. outputs/oceananigans-ai/data/combined-ai-commit-evidence.csv contains exact evidence.</a:t>
            </a:r>
            <a:endParaRPr/>
          </a:p>
        </p:txBody>
      </p:sp>
      <p:sp>
        <p:nvSpPr>
          <p:cNvPr id="229" name="Google Shape;229;dev_ai_share: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dev_review: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dev_review: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Google Cloud, When AI writes the code, who reviews it?</a:t>
            </a:r>
            <a:endParaRPr/>
          </a:p>
          <a:p>
            <a:pPr indent="0" lvl="0" marL="0" rtl="0" algn="l">
              <a:spcBef>
                <a:spcPts val="0"/>
              </a:spcBef>
              <a:spcAft>
                <a:spcPts val="0"/>
              </a:spcAft>
              <a:buNone/>
            </a:pPr>
            <a:r>
              <a:rPr lang="en-US"/>
              <a:t>https://cloud.google.com/transform/when-ai-writes-the-code-who-reviews-it-cto-google-cloud</a:t>
            </a:r>
            <a:endParaRPr/>
          </a:p>
          <a:p>
            <a:pPr indent="0" lvl="0" marL="0" rtl="0" algn="l">
              <a:spcBef>
                <a:spcPts val="0"/>
              </a:spcBef>
              <a:spcAft>
                <a:spcPts val="0"/>
              </a:spcAft>
              <a:buNone/>
            </a:pPr>
            <a:r>
              <a:rPr lang="en-US"/>
              <a:t>Anthropic, Bringing Code Review to Claude Code, 9 March 2026.</a:t>
            </a:r>
            <a:endParaRPr/>
          </a:p>
          <a:p>
            <a:pPr indent="0" lvl="0" marL="0" rtl="0" algn="l">
              <a:spcBef>
                <a:spcPts val="0"/>
              </a:spcBef>
              <a:spcAft>
                <a:spcPts val="0"/>
              </a:spcAft>
              <a:buNone/>
            </a:pPr>
            <a:r>
              <a:rPr lang="en-US"/>
              <a:t>https://claude.com/blog/code-review/</a:t>
            </a:r>
            <a:endParaRPr/>
          </a:p>
          <a:p>
            <a:pPr indent="0" lvl="0" marL="0" rtl="0" algn="l">
              <a:spcBef>
                <a:spcPts val="0"/>
              </a:spcBef>
              <a:spcAft>
                <a:spcPts val="0"/>
              </a:spcAft>
              <a:buNone/>
            </a:pPr>
            <a:r>
              <a:rPr lang="en-US"/>
              <a:t>Both describe review becoming a bottleneck as code production accelerates. These are practitioner accounts, not measurements of Oceananigans review throughput.</a:t>
            </a:r>
            <a:endParaRPr/>
          </a:p>
          <a:p>
            <a:pPr indent="0" lvl="0" marL="0" rtl="0" algn="l">
              <a:spcBef>
                <a:spcPts val="0"/>
              </a:spcBef>
              <a:spcAft>
                <a:spcPts val="0"/>
              </a:spcAft>
              <a:buNone/>
            </a:pPr>
            <a:r>
              <a:t/>
            </a:r>
            <a:endParaRPr/>
          </a:p>
        </p:txBody>
      </p:sp>
      <p:sp>
        <p:nvSpPr>
          <p:cNvPr id="274" name="Google Shape;274;dev_review: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dev_case: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dev_case: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https://github.com/CliMA/Oceananigans.jl/pull/5742 . Benoît Pasquier discloses that code and most of the description were generated with Claude Code, says he reviewed the code, and requests additional review. Fix to IsopycnalSkewSymmetricDiffusivity with ExplicitTimeDiscretization, merged26Aug2026. Quote removes hyperlink markup. Direct evidence of assistance and review request, not review hours.</a:t>
            </a:r>
            <a:endParaRPr/>
          </a:p>
        </p:txBody>
      </p:sp>
      <p:sp>
        <p:nvSpPr>
          <p:cNvPr id="285" name="Google Shape;285;dev_case: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dev_inventory: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dev_inventory: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Snapshot 30 Sep 2026, human PRs only. Open inventory 51 end-Dec2025 to115 end-Aug2026 reconstructed from creation/final closure dates; reopening history unavailable. Includes drafts, author delays, CI failures, abandoned work. Does not directly measure review effort or prove an AI-induced bottleneck. https://github.com/CliMA/Oceananigans.jl ; outputs/oceananigans-ai/data/monthly.csv.</a:t>
            </a:r>
            <a:endParaRPr/>
          </a:p>
        </p:txBody>
      </p:sp>
      <p:sp>
        <p:nvSpPr>
          <p:cNvPr id="295" name="Google Shape;295;dev_inventory: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understand_main: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understand_main: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Talk thesis, applying Naur (1985) to AI-assisted Earth system model development. Naur did not discuss modern AI. The bottleneck is a proposed framing, not a measured result. Distinguish understanding an implementation from understanding the physical system.</a:t>
            </a:r>
            <a:endParaRPr/>
          </a:p>
          <a:p>
            <a:pPr indent="0" lvl="0" marL="0" rtl="0" algn="l">
              <a:spcBef>
                <a:spcPts val="0"/>
              </a:spcBef>
              <a:spcAft>
                <a:spcPts val="0"/>
              </a:spcAft>
              <a:buNone/>
            </a:pPr>
            <a:r>
              <a:rPr lang="en-US"/>
              <a:t>Naur (1985), Programming as Theory Building</a:t>
            </a:r>
            <a:endParaRPr/>
          </a:p>
          <a:p>
            <a:pPr indent="0" lvl="0" marL="0" rtl="0" algn="l">
              <a:spcBef>
                <a:spcPts val="0"/>
              </a:spcBef>
              <a:spcAft>
                <a:spcPts val="0"/>
              </a:spcAft>
              <a:buNone/>
            </a:pPr>
            <a:r>
              <a:rPr lang="en-US"/>
              <a:t>https://pages.cs.wisc.edu/~remzi/Naur.pdf</a:t>
            </a:r>
            <a:endParaRPr/>
          </a:p>
        </p:txBody>
      </p:sp>
      <p:sp>
        <p:nvSpPr>
          <p:cNvPr id="353" name="Google Shape;353;understand_main: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dev_acces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dev_access: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Argument: when useful AI assistance is unequally available, it can amplify productivity differences between researchers and institutions. This is a risk and proposed mechanism, not an estimate of inequality in Earth system modeling.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ILO–World Bank (2024), Buffer or Bottleneck? Employment Exposure to Generative AI and the Digital Divide in Latin America. Finds digital access and infrastructure gaps can prevent workers from benefiting from potential augmentation.</a:t>
            </a:r>
            <a:endParaRPr/>
          </a:p>
          <a:p>
            <a:pPr indent="0" lvl="0" marL="0" rtl="0" algn="l">
              <a:spcBef>
                <a:spcPts val="0"/>
              </a:spcBef>
              <a:spcAft>
                <a:spcPts val="0"/>
              </a:spcAft>
              <a:buNone/>
            </a:pPr>
            <a:r>
              <a:rPr lang="en-US"/>
              <a:t>https://www.ilo.org/publications/buffer-or-bottleneck-employment-exposure-generative-ai-and-digital-divide</a:t>
            </a:r>
            <a:endParaRPr/>
          </a:p>
          <a:p>
            <a:pPr indent="0" lvl="0" marL="0" rtl="0" algn="l">
              <a:spcBef>
                <a:spcPts val="0"/>
              </a:spcBef>
              <a:spcAft>
                <a:spcPts val="0"/>
              </a:spcAft>
              <a:buNone/>
            </a:pPr>
            <a:r>
              <a:rPr lang="en-US"/>
              <a:t>ILO overview explicitly identifies cost, infrastructure, and skills as barriers that can widen productivity divides:</a:t>
            </a:r>
            <a:endParaRPr/>
          </a:p>
          <a:p>
            <a:pPr indent="0" lvl="0" marL="0" rtl="0" algn="l">
              <a:spcBef>
                <a:spcPts val="0"/>
              </a:spcBef>
              <a:spcAft>
                <a:spcPts val="0"/>
              </a:spcAft>
              <a:buNone/>
            </a:pPr>
            <a:r>
              <a:rPr lang="en-US"/>
              <a:t>https://www.ilo.org/topics-and-sectors/artificial-intelligence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Brynjolfsson, Li &amp; Raymond (2023), Generative AI at Work, NBER Working Paper 31161. Reports productivity gains in customer support, especially among less experienced workers. This is not a study of scientific coding or subscription tiers. AI can narrow experience gaps among people given access, even while unequal access creates another divide.</a:t>
            </a:r>
            <a:endParaRPr/>
          </a:p>
          <a:p>
            <a:pPr indent="0" lvl="0" marL="0" rtl="0" algn="l">
              <a:spcBef>
                <a:spcPts val="0"/>
              </a:spcBef>
              <a:spcAft>
                <a:spcPts val="0"/>
              </a:spcAft>
              <a:buNone/>
            </a:pPr>
            <a:r>
              <a:rPr lang="en-US"/>
              <a:t>https://www.nber.org/papers/w31161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Shared tool access, training, and research budgets are discussion options for the NEMO community, not findings established by these studies.</a:t>
            </a:r>
            <a:endParaRPr/>
          </a:p>
          <a:p>
            <a:pPr indent="0" lvl="0" marL="0" rtl="0" algn="l">
              <a:spcBef>
                <a:spcPts val="0"/>
              </a:spcBef>
              <a:spcAft>
                <a:spcPts val="0"/>
              </a:spcAft>
              <a:buNone/>
            </a:pPr>
            <a:r>
              <a:t/>
            </a:r>
            <a:endParaRPr/>
          </a:p>
        </p:txBody>
      </p:sp>
      <p:sp>
        <p:nvSpPr>
          <p:cNvPr id="363" name="Google Shape;363;dev_access: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dev_question: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dev_question: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a:t>
            </a:r>
            <a:endParaRPr/>
          </a:p>
          <a:p>
            <a:pPr indent="0" lvl="0" marL="0" rtl="0" algn="l">
              <a:spcBef>
                <a:spcPts val="0"/>
              </a:spcBef>
              <a:spcAft>
                <a:spcPts val="0"/>
              </a:spcAft>
              <a:buNone/>
            </a:pPr>
            <a:r>
              <a:rPr lang="en-US"/>
              <a:t>Google Engineering Practices, What to look for in a code review.</a:t>
            </a:r>
            <a:endParaRPr/>
          </a:p>
          <a:p>
            <a:pPr indent="0" lvl="0" marL="0" rtl="0" algn="l">
              <a:spcBef>
                <a:spcPts val="0"/>
              </a:spcBef>
              <a:spcAft>
                <a:spcPts val="0"/>
              </a:spcAft>
              <a:buNone/>
            </a:pPr>
            <a:r>
              <a:rPr lang="en-US"/>
              <a:t>https://google.github.io/eng-practices/review/reviewer/looking-for.html</a:t>
            </a:r>
            <a:endParaRPr/>
          </a:p>
          <a:p>
            <a:pPr indent="0" lvl="0" marL="0" rtl="0" algn="l">
              <a:spcBef>
                <a:spcPts val="0"/>
              </a:spcBef>
              <a:spcAft>
                <a:spcPts val="0"/>
              </a:spcAft>
              <a:buNone/>
            </a:pPr>
            <a:r>
              <a:rPr lang="en-US"/>
              <a:t>Google Engineering Practices, Writing good CL descriptions.</a:t>
            </a:r>
            <a:endParaRPr/>
          </a:p>
          <a:p>
            <a:pPr indent="0" lvl="0" marL="0" rtl="0" algn="l">
              <a:spcBef>
                <a:spcPts val="0"/>
              </a:spcBef>
              <a:spcAft>
                <a:spcPts val="0"/>
              </a:spcAft>
              <a:buNone/>
            </a:pPr>
            <a:r>
              <a:rPr lang="en-US"/>
              <a:t>https://google.github.io/eng-practices/review/developer/cl-descriptions.html</a:t>
            </a:r>
            <a:endParaRPr/>
          </a:p>
          <a:p>
            <a:pPr indent="0" lvl="0" marL="0" rtl="0" algn="l">
              <a:spcBef>
                <a:spcPts val="0"/>
              </a:spcBef>
              <a:spcAft>
                <a:spcPts val="0"/>
              </a:spcAft>
              <a:buNone/>
            </a:pPr>
            <a:r>
              <a:rPr lang="en-US"/>
              <a:t>These guides discuss design, functionality, tests, and explaining a change’s purpose. The questions about numerical correctness and simulation evidence are our application of those principles to ocean-model development.</a:t>
            </a:r>
            <a:endParaRPr/>
          </a:p>
          <a:p>
            <a:pPr indent="0" lvl="0" marL="0" rtl="0" algn="l">
              <a:spcBef>
                <a:spcPts val="0"/>
              </a:spcBef>
              <a:spcAft>
                <a:spcPts val="0"/>
              </a:spcAft>
              <a:buNone/>
            </a:pPr>
            <a:r>
              <a:t/>
            </a:r>
            <a:endParaRPr/>
          </a:p>
        </p:txBody>
      </p:sp>
      <p:sp>
        <p:nvSpPr>
          <p:cNvPr id="374" name="Google Shape;374;dev_question: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aram_method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aram_methods: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https://github.com/CliMA/Oceananigans.jl/pull/5937 ; merged9Sep2026. Simone Silvestri describes Claude recomputing/checking coefficients of WENO smoothness operators in difference form. Reports33–50% fewer smoothness operations, asks whether that translates to runtime speedup. No measured runtime gain claimed here. Numerical-method development, not a learned parameterization.</a:t>
            </a:r>
            <a:endParaRPr/>
          </a:p>
        </p:txBody>
      </p:sp>
      <p:sp>
        <p:nvSpPr>
          <p:cNvPr id="391" name="Google Shape;391;param_methods: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aram_validation: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aram_validation: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Conceptual distinctions and proposed questions. Calibration adjusts parameters; learning may alter functional form. No empirical claim that a learned closure passed validation. Calibration example: https://github.com/CliMA/Oceananigans.jl/pull/5013 . Proposed online tests/physical constraints for community discussion.</a:t>
            </a:r>
            <a:endParaRPr/>
          </a:p>
        </p:txBody>
      </p:sp>
      <p:sp>
        <p:nvSpPr>
          <p:cNvPr id="401" name="Google Shape;401;param_validation: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nemo_question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nemo_questions: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Discussion prompts for NEMO, not adopted policies: contribution evidence, delegation of scientific decisions, and online validation of closures.</a:t>
            </a:r>
            <a:endParaRPr/>
          </a:p>
        </p:txBody>
      </p:sp>
      <p:sp>
        <p:nvSpPr>
          <p:cNvPr id="411" name="Google Shape;411;nemo_questions: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appendix_idea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appendix_ideas: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Brainstorming appendix. These slides are working material, not a settled argument.</a:t>
            </a:r>
            <a:endParaRPr/>
          </a:p>
          <a:p>
            <a:pPr indent="0" lvl="0" marL="0" rtl="0" algn="l">
              <a:spcBef>
                <a:spcPts val="0"/>
              </a:spcBef>
              <a:spcAft>
                <a:spcPts val="0"/>
              </a:spcAft>
              <a:buNone/>
            </a:pPr>
            <a:r>
              <a:t/>
            </a:r>
            <a:endParaRPr/>
          </a:p>
        </p:txBody>
      </p:sp>
      <p:sp>
        <p:nvSpPr>
          <p:cNvPr id="423" name="Google Shape;423;appendix_ideas: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appendix_data: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appendix_data: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 https://github.com/CliMA/Oceananigans.jl ; 3,731 PRs and13,845 commits reachable from main b9725744cd313ed368bb7906880a5d884c4c78bf, 30Sep2026 snapshot. Matched growth comparisons Jan–Aug, bots excluded. Attribution denominator includes bots/merges. September partial. Methodology/raw API records/CSV/Julia scripts: outputs/oceananigans-ai/README.md. Counts do not identify causal effects, scientific quality, hours saved, or all AI use.</a:t>
            </a:r>
            <a:endParaRPr/>
          </a:p>
        </p:txBody>
      </p:sp>
      <p:sp>
        <p:nvSpPr>
          <p:cNvPr id="432" name="Google Shape;432;appendix_data: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appendix_commit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appendix_commits: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Retained non-merge versus first-parent main commits Jan2019–Aug2026. Known bots excluded; UTC committer timestamps. Squash-style history around early2023 removes intermediate branch commits from retained main history; raw counts incomparable across workflows. Source https://github.com/CliMA/Oceananigans.jl at b9725744cd31; outputs/oceananigans-ai/data/monthly.csv.</a:t>
            </a:r>
            <a:endParaRPr/>
          </a:p>
        </p:txBody>
      </p:sp>
      <p:sp>
        <p:nvSpPr>
          <p:cNvPr id="442" name="Google Shape;442;appendix_commits: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appendix_history: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appendix_history: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Monthly human opened/merged PRs Jan2019–Aug2026. Source https://github.com/CliMA/Oceananigans.jl snapshot30Sep2026. Bots excluded; counts use creation/merge dates respectively. Need actual AI adoption dates, contributor mix, funding, scope, PR size and workflow controls for causal estimation.</a:t>
            </a:r>
            <a:endParaRPr/>
          </a:p>
        </p:txBody>
      </p:sp>
      <p:sp>
        <p:nvSpPr>
          <p:cNvPr id="649" name="Google Shape;649;appendix_history: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appendix_naur: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7" name="Google Shape;857;appendix_naur: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Naur, P. (1985). Programming as Theory Building. Microprocessing and Microprogramming 15, 253–261. DOI: 10.1016/0165-6074(85)90032-8. His theory-building view emphasizes programmers' knowledge beyond program text and documentation. The AI connection is our interpretation. This is a conceptual argument, not evidence measuring the effects of AI.</a:t>
            </a:r>
            <a:endParaRPr/>
          </a:p>
          <a:p>
            <a:pPr indent="0" lvl="0" marL="0" rtl="0" algn="l">
              <a:spcBef>
                <a:spcPts val="0"/>
              </a:spcBef>
              <a:spcAft>
                <a:spcPts val="0"/>
              </a:spcAft>
              <a:buNone/>
            </a:pPr>
            <a:r>
              <a:rPr lang="en-US"/>
              <a:t>Naur (1985), Programming as Theory Building</a:t>
            </a:r>
            <a:endParaRPr/>
          </a:p>
          <a:p>
            <a:pPr indent="0" lvl="0" marL="0" rtl="0" algn="l">
              <a:spcBef>
                <a:spcPts val="0"/>
              </a:spcBef>
              <a:spcAft>
                <a:spcPts val="0"/>
              </a:spcAft>
              <a:buNone/>
            </a:pPr>
            <a:r>
              <a:rPr lang="en-US"/>
              <a:t>https://pages.cs.wisc.edu/~remzi/Naur.pdf</a:t>
            </a:r>
            <a:endParaRPr/>
          </a:p>
        </p:txBody>
      </p:sp>
      <p:sp>
        <p:nvSpPr>
          <p:cNvPr id="858" name="Google Shape;858;appendix_naur: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appendix_parry: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7" name="Google Shape;867;appendix_parry: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Schneider et al. (2024) cite Parry (2021); the current Stanford Encyclopedia entry was substantively revised in December 2024. Parry describes changing relations between the concepts across ancient authors. These are not fixed equivalents of explanation versus prediction. Application to scientific software is a discussion prompt.</a:t>
            </a:r>
            <a:endParaRPr/>
          </a:p>
          <a:p>
            <a:pPr indent="0" lvl="0" marL="0" rtl="0" algn="l">
              <a:spcBef>
                <a:spcPts val="0"/>
              </a:spcBef>
              <a:spcAft>
                <a:spcPts val="0"/>
              </a:spcAft>
              <a:buNone/>
            </a:pPr>
            <a:r>
              <a:rPr lang="en-US"/>
              <a:t>Schneider et al.: https://acp.copernicus.org/articles/24/7041/2024/</a:t>
            </a:r>
            <a:endParaRPr/>
          </a:p>
          <a:p>
            <a:pPr indent="0" lvl="0" marL="0" rtl="0" algn="l">
              <a:spcBef>
                <a:spcPts val="0"/>
              </a:spcBef>
              <a:spcAft>
                <a:spcPts val="0"/>
              </a:spcAft>
              <a:buNone/>
            </a:pPr>
            <a:r>
              <a:rPr lang="en-US"/>
              <a:t>Parry, Episteme and Techne, Stanford Encyclopedia of Philosophy</a:t>
            </a:r>
            <a:endParaRPr/>
          </a:p>
          <a:p>
            <a:pPr indent="0" lvl="0" marL="0" rtl="0" algn="l">
              <a:spcBef>
                <a:spcPts val="0"/>
              </a:spcBef>
              <a:spcAft>
                <a:spcPts val="0"/>
              </a:spcAft>
              <a:buNone/>
            </a:pPr>
            <a:r>
              <a:rPr lang="en-US"/>
              <a:t>https://plato.stanford.edu/entries/episteme-techne/</a:t>
            </a:r>
            <a:endParaRPr/>
          </a:p>
        </p:txBody>
      </p:sp>
      <p:sp>
        <p:nvSpPr>
          <p:cNvPr id="868" name="Google Shape;868;appendix_parry: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appendix_russo: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appendix_russo: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Federica Russo (2022), Techno-Scientific Practices: An Informational Approach, Rowman &amp; Littlefield. Scope verified from publisher description; full book not reviewed. Do not attribute the AI question to Russo. Schneider et al. list this title and ISBN with year 2000, but publisher gives 12 October 2022 for ISBN 9781786612328. Use 2022.</a:t>
            </a:r>
            <a:endParaRPr/>
          </a:p>
          <a:p>
            <a:pPr indent="0" lvl="0" marL="0" rtl="0" algn="l">
              <a:spcBef>
                <a:spcPts val="0"/>
              </a:spcBef>
              <a:spcAft>
                <a:spcPts val="0"/>
              </a:spcAft>
              <a:buNone/>
            </a:pPr>
            <a:r>
              <a:rPr lang="en-US"/>
              <a:t>Russo (2022), Techno-Scientific Practices: An Informational Approach</a:t>
            </a:r>
            <a:endParaRPr/>
          </a:p>
          <a:p>
            <a:pPr indent="0" lvl="0" marL="0" rtl="0" algn="l">
              <a:spcBef>
                <a:spcPts val="0"/>
              </a:spcBef>
              <a:spcAft>
                <a:spcPts val="0"/>
              </a:spcAft>
              <a:buNone/>
            </a:pPr>
            <a:r>
              <a:rPr lang="en-US"/>
              <a:t>https://www.bloomsbury.com/us/technoscientific-practices-9781786612328/</a:t>
            </a:r>
            <a:endParaRPr/>
          </a:p>
        </p:txBody>
      </p:sp>
      <p:sp>
        <p:nvSpPr>
          <p:cNvPr id="878" name="Google Shape;878;appendix_russo: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appendix_hierarchy: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7" name="Google Shape;887;appendix_hierarchy: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Held, I. M. (2005), BAMS 86, 1609–1614. Jeevanjee, N., Hassanzadeh, P., Hill, S., and Sheshadri, A. (2017), JAMES 9, 1760–1771. These concern physical/model understanding, not line-by-line code comprehension. The proposed role for agents is brainstorming.</a:t>
            </a:r>
            <a:endParaRPr/>
          </a:p>
          <a:p>
            <a:pPr indent="0" lvl="0" marL="0" rtl="0" algn="l">
              <a:spcBef>
                <a:spcPts val="0"/>
              </a:spcBef>
              <a:spcAft>
                <a:spcPts val="0"/>
              </a:spcAft>
              <a:buNone/>
            </a:pPr>
            <a:r>
              <a:rPr lang="en-US"/>
              <a:t>Further reference cited by Schneider: Mansfield et al. (2023), Updates on Model Hierarchies for Understanding and Simulating the Climate System: A Focus on Data-Informed Methods and Climate Change Impacts. https://doi.org/10.1029/2023MS003715</a:t>
            </a:r>
            <a:endParaRPr/>
          </a:p>
          <a:p>
            <a:pPr indent="0" lvl="0" marL="0" rtl="0" algn="l">
              <a:spcBef>
                <a:spcPts val="0"/>
              </a:spcBef>
              <a:spcAft>
                <a:spcPts val="0"/>
              </a:spcAft>
              <a:buNone/>
            </a:pPr>
            <a:r>
              <a:rPr lang="en-US"/>
              <a:t>Held (2005), The Gap between Simulation and Understanding in Climate Modeling</a:t>
            </a:r>
            <a:endParaRPr/>
          </a:p>
          <a:p>
            <a:pPr indent="0" lvl="0" marL="0" rtl="0" algn="l">
              <a:spcBef>
                <a:spcPts val="0"/>
              </a:spcBef>
              <a:spcAft>
                <a:spcPts val="0"/>
              </a:spcAft>
              <a:buNone/>
            </a:pPr>
            <a:r>
              <a:rPr lang="en-US"/>
              <a:t>https://journals.ametsoc.org/doi/abs/10.1175/BAMS-86-11-1609</a:t>
            </a:r>
            <a:endParaRPr/>
          </a:p>
          <a:p>
            <a:pPr indent="0" lvl="0" marL="0" rtl="0" algn="l">
              <a:spcBef>
                <a:spcPts val="0"/>
              </a:spcBef>
              <a:spcAft>
                <a:spcPts val="0"/>
              </a:spcAft>
              <a:buNone/>
            </a:pPr>
            <a:r>
              <a:rPr lang="en-US"/>
              <a:t>Jeevanjee et al. (2017), A perspective on climate model hierarchies</a:t>
            </a:r>
            <a:endParaRPr/>
          </a:p>
          <a:p>
            <a:pPr indent="0" lvl="0" marL="0" rtl="0" algn="l">
              <a:spcBef>
                <a:spcPts val="0"/>
              </a:spcBef>
              <a:spcAft>
                <a:spcPts val="0"/>
              </a:spcAft>
              <a:buNone/>
            </a:pPr>
            <a:r>
              <a:rPr lang="en-US"/>
              <a:t>https://agupubs.onlinelibrary.wiley.com/doi/10.1002/2017MS001038</a:t>
            </a:r>
            <a:endParaRPr/>
          </a:p>
        </p:txBody>
      </p:sp>
      <p:sp>
        <p:nvSpPr>
          <p:cNvPr id="888" name="Google Shape;888;appendix_hierarchy: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appendix_collective: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appendix_collective: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Brainstorming prompts, not conclusions established by the cited paper. Naur motivates attention to knowledge held by programmers. The division of responsibility between contributors, maintainers, and the wider model community is our proposed extension.</a:t>
            </a:r>
            <a:endParaRPr/>
          </a:p>
          <a:p>
            <a:pPr indent="0" lvl="0" marL="0" rtl="0" algn="l">
              <a:spcBef>
                <a:spcPts val="0"/>
              </a:spcBef>
              <a:spcAft>
                <a:spcPts val="0"/>
              </a:spcAft>
              <a:buNone/>
            </a:pPr>
            <a:r>
              <a:rPr lang="en-US"/>
              <a:t>Conceptual starting point: Naur (1985), Programming as Theory Building</a:t>
            </a:r>
            <a:endParaRPr/>
          </a:p>
          <a:p>
            <a:pPr indent="0" lvl="0" marL="0" rtl="0" algn="l">
              <a:spcBef>
                <a:spcPts val="0"/>
              </a:spcBef>
              <a:spcAft>
                <a:spcPts val="0"/>
              </a:spcAft>
              <a:buNone/>
            </a:pPr>
            <a:r>
              <a:rPr lang="en-US"/>
              <a:t>https://pages.cs.wisc.edu/~remzi/Naur.pdf</a:t>
            </a:r>
            <a:endParaRPr/>
          </a:p>
        </p:txBody>
      </p:sp>
      <p:sp>
        <p:nvSpPr>
          <p:cNvPr id="899" name="Google Shape;899;appendix_collective: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appendix_ai_learning: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8" name="Google Shape;908;appendix_ai_learning: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GitHub documentation supports code exploration and explanation capabilities. It does not establish improvements in scientific understanding. Proposed experiment: compare contributors' explanations and validation evidence with and without AI support. Avoid treating generated explanations as validated scientific accounts.</a:t>
            </a:r>
            <a:endParaRPr/>
          </a:p>
          <a:p>
            <a:pPr indent="0" lvl="0" marL="0" rtl="0" algn="l">
              <a:spcBef>
                <a:spcPts val="0"/>
              </a:spcBef>
              <a:spcAft>
                <a:spcPts val="0"/>
              </a:spcAft>
              <a:buNone/>
            </a:pPr>
            <a:r>
              <a:rPr lang="en-US"/>
              <a:t>GitHub Docs, Using GitHub Copilot to explore a codebase</a:t>
            </a:r>
            <a:endParaRPr/>
          </a:p>
          <a:p>
            <a:pPr indent="0" lvl="0" marL="0" rtl="0" algn="l">
              <a:spcBef>
                <a:spcPts val="0"/>
              </a:spcBef>
              <a:spcAft>
                <a:spcPts val="0"/>
              </a:spcAft>
              <a:buNone/>
            </a:pPr>
            <a:r>
              <a:rPr lang="en-US"/>
              <a:t>https://docs.github.com/en/copilot/tutorials/explore-a-codebase</a:t>
            </a:r>
            <a:endParaRPr/>
          </a:p>
        </p:txBody>
      </p:sp>
      <p:sp>
        <p:nvSpPr>
          <p:cNvPr id="909" name="Google Shape;909;appendix_ai_learning: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glwagner.github.i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ibm.com/think/topics/ai-vs-machine-learning-vs-deep-learning-vs-neural-networks" TargetMode="External"/><Relationship Id="rId4" Type="http://schemas.openxmlformats.org/officeDocument/2006/relationships/hyperlink" Target="https://doi.org/10.1038/nature14539" TargetMode="External"/><Relationship Id="rId5" Type="http://schemas.openxmlformats.org/officeDocument/2006/relationships/hyperlink" Target="https://arxiv.org/abs/1706.03762" TargetMode="External"/><Relationship Id="rId6" Type="http://schemas.openxmlformats.org/officeDocument/2006/relationships/hyperlink" Target="https://arxiv.org/abs/2005.14165" TargetMode="External"/><Relationship Id="rId7" Type="http://schemas.openxmlformats.org/officeDocument/2006/relationships/hyperlink" Target="https://www.anthropic.com/engineering/building-effective-agents" TargetMode="External"/></Relationships>
</file>

<file path=ppt/slides/_rels/slide4.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hyperlink" Target="https://arxiv.org/abs/2610.03780" TargetMode="External"/><Relationship Id="rId13" Type="http://schemas.openxmlformats.org/officeDocument/2006/relationships/image" Target="../media/image2.png"/><Relationship Id="rId12" Type="http://schemas.openxmlformats.org/officeDocument/2006/relationships/hyperlink" Target="https://arxiv.org/abs/2609.35753" TargetMode="External"/><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leidendeclaration.ai/" TargetMode="External"/><Relationship Id="rId4" Type="http://schemas.openxmlformats.org/officeDocument/2006/relationships/hyperlink" Target="https://arxiv.org/abs/2608.01546" TargetMode="External"/><Relationship Id="rId9" Type="http://schemas.openxmlformats.org/officeDocument/2006/relationships/image" Target="../media/image5.png"/><Relationship Id="rId15" Type="http://schemas.openxmlformats.org/officeDocument/2006/relationships/image" Target="../media/image3.png"/><Relationship Id="rId14" Type="http://schemas.openxmlformats.org/officeDocument/2006/relationships/hyperlink" Target="https://www.nature.com/articles/d41586-026-02922-6" TargetMode="External"/><Relationship Id="rId17" Type="http://schemas.openxmlformats.org/officeDocument/2006/relationships/image" Target="../media/image4.png"/><Relationship Id="rId16" Type="http://schemas.openxmlformats.org/officeDocument/2006/relationships/hyperlink" Target="https://leidendeclaration.ai/" TargetMode="External"/><Relationship Id="rId5" Type="http://schemas.openxmlformats.org/officeDocument/2006/relationships/image" Target="../media/image7.png"/><Relationship Id="rId6" Type="http://schemas.openxmlformats.org/officeDocument/2006/relationships/hyperlink" Target="https://arxiv.org/abs/2412.03795" TargetMode="External"/><Relationship Id="rId18" Type="http://schemas.openxmlformats.org/officeDocument/2006/relationships/hyperlink" Target="https://www.nature.com/articles/d41586-026-02922-6" TargetMode="External"/><Relationship Id="rId7" Type="http://schemas.openxmlformats.org/officeDocument/2006/relationships/image" Target="../media/image1.png"/><Relationship Id="rId8" Type="http://schemas.openxmlformats.org/officeDocument/2006/relationships/hyperlink" Target="https://arxiv.org/abs/2310.0207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journals.ametsoc.org/doi/abs/10.1175/BAMS-86-11-1609"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github.com/CliMA/Oceananigans.jl/pull/5013"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github.blog/news-insights/product-news/introducing-github-copilot-ai-pair-programmer/" TargetMode="External"/><Relationship Id="rId4" Type="http://schemas.openxmlformats.org/officeDocument/2006/relationships/hyperlink" Target="https://openai.com/index/chatgpt/" TargetMode="External"/><Relationship Id="rId5" Type="http://schemas.openxmlformats.org/officeDocument/2006/relationships/hyperlink" Target="https://github.blog/news-insights/product-news/github-copilot-chat-now-generally-available-for-organizations-and-individuals/" TargetMode="External"/><Relationship Id="rId6" Type="http://schemas.openxmlformats.org/officeDocument/2006/relationships/hyperlink" Target="https://www.anthropic.com/news/claude-3-7-sonne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laude.com/blog/code-review/"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github.com/CliMA/Oceananigans.jl/pull/5704" TargetMode="External"/><Relationship Id="rId4" Type="http://schemas.openxmlformats.org/officeDocument/2006/relationships/hyperlink" Target="https://github.com/CliMA/Oceananigans.jl/pull/5704" TargetMode="External"/><Relationship Id="rId5" Type="http://schemas.openxmlformats.org/officeDocument/2006/relationships/hyperlink" Target="https://docs.github.com/en/copilot/tutorials/explore-a-codebas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github.com/CliMA/Oceananigans.j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github.com/CliMA/Oceananigans.j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loud.google.com/transform/when-ai-writes-the-code-who-reviews-it-cto-google-cloud" TargetMode="External"/><Relationship Id="rId4" Type="http://schemas.openxmlformats.org/officeDocument/2006/relationships/hyperlink" Target="https://claude.com/blog/code-revie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github.com/CliMA/Oceananigans.jl/pull/574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github.com/CliMA/Oceananigans.j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pages.cs.wisc.edu/~remzi/Naur.pdf"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www.ilo.org/publications/buffer-or-bottleneck-employment-exposure-generative-ai-and-digital-divide" TargetMode="External"/><Relationship Id="rId4" Type="http://schemas.openxmlformats.org/officeDocument/2006/relationships/hyperlink" Target="https://www.nber.org/papers/w31161"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google.github.io/eng-practices/review/reviewer/looking-for.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github.com/CliMA/Oceananigans.jl/pull/5937"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github.com/CliMA/Oceananigans.jl/pull/501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github.com/CliMA/Oceananigans.j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github.com/CliMA/Oceananigans.j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github.com/CliMA/Oceananigans.j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pages.cs.wisc.edu/~remzi/Naur.pdf"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plato.stanford.edu/entries/episteme-techne/"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hyperlink" Target="https://www.bloomsbury.com/us/technoscientific-practices-9781786612328/"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hyperlink" Target="https://journals.ametsoc.org/doi/abs/10.1175/BAMS-86-11-1609" TargetMode="External"/><Relationship Id="rId4" Type="http://schemas.openxmlformats.org/officeDocument/2006/relationships/hyperlink" Target="https://agupubs.onlinelibrary.wiley.com/doi/10.1002/2017MS001038"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pages.cs.wisc.edu/~remzi/Naur.pdf"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docs.github.com/en/copilot/tutorials/explore-a-codebas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15" name="Shape 15"/>
        <p:cNvGrpSpPr/>
        <p:nvPr/>
      </p:nvGrpSpPr>
      <p:grpSpPr>
        <a:xfrm>
          <a:off x="0" y="0"/>
          <a:ext cx="0" cy="0"/>
          <a:chOff x="0" y="0"/>
          <a:chExt cx="0" cy="0"/>
        </a:xfrm>
      </p:grpSpPr>
      <p:sp>
        <p:nvSpPr>
          <p:cNvPr id="16" name="Google Shape;16;p3"/>
          <p:cNvSpPr txBox="1"/>
          <p:nvPr/>
        </p:nvSpPr>
        <p:spPr>
          <a:xfrm>
            <a:off x="762000" y="1104900"/>
            <a:ext cx="10668000" cy="1905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33"/>
              </a:buClr>
              <a:buSzPts val="4000"/>
              <a:buFont typeface="Cambria"/>
              <a:buNone/>
            </a:pPr>
            <a:r>
              <a:rPr b="1" lang="en-US" sz="4800">
                <a:solidFill>
                  <a:srgbClr val="F6F5F0"/>
                </a:solidFill>
              </a:rPr>
              <a:t>Ocean modeling at</a:t>
            </a:r>
            <a:endParaRPr b="1" sz="4800">
              <a:solidFill>
                <a:srgbClr val="F6F5F0"/>
              </a:solidFill>
            </a:endParaRPr>
          </a:p>
          <a:p>
            <a:pPr indent="0" lvl="0" marL="0" marR="0" rtl="0" algn="l">
              <a:lnSpc>
                <a:spcPct val="110000"/>
              </a:lnSpc>
              <a:spcBef>
                <a:spcPts val="0"/>
              </a:spcBef>
              <a:spcAft>
                <a:spcPts val="0"/>
              </a:spcAft>
              <a:buClr>
                <a:srgbClr val="1B2A33"/>
              </a:buClr>
              <a:buSzPts val="4000"/>
              <a:buFont typeface="Cambria"/>
              <a:buNone/>
            </a:pPr>
            <a:r>
              <a:rPr b="1" lang="en-US" sz="4800">
                <a:solidFill>
                  <a:srgbClr val="F6F5F0"/>
                </a:solidFill>
              </a:rPr>
              <a:t>the dawn of AI</a:t>
            </a:r>
            <a:endParaRPr b="1" sz="4800">
              <a:solidFill>
                <a:srgbClr val="F6F5F0"/>
              </a:solidFill>
            </a:endParaRPr>
          </a:p>
        </p:txBody>
      </p:sp>
      <p:sp>
        <p:nvSpPr>
          <p:cNvPr id="17" name="Google Shape;17;p3"/>
          <p:cNvSpPr txBox="1"/>
          <p:nvPr/>
        </p:nvSpPr>
        <p:spPr>
          <a:xfrm>
            <a:off x="762000" y="5384800"/>
            <a:ext cx="10668000" cy="914400"/>
          </a:xfrm>
          <a:prstGeom prst="rect">
            <a:avLst/>
          </a:prstGeom>
          <a:noFill/>
          <a:ln>
            <a:noFill/>
          </a:ln>
        </p:spPr>
        <p:txBody>
          <a:bodyPr anchorCtr="0" anchor="b" bIns="0" lIns="0" spcFirstLastPara="1" rIns="0" wrap="square" tIns="0">
            <a:noAutofit/>
          </a:bodyPr>
          <a:lstStyle/>
          <a:p>
            <a:pPr indent="0" lvl="0" marL="0" marR="0" rtl="0" algn="l">
              <a:lnSpc>
                <a:spcPct val="110000"/>
              </a:lnSpc>
              <a:spcBef>
                <a:spcPts val="0"/>
              </a:spcBef>
              <a:spcAft>
                <a:spcPts val="0"/>
              </a:spcAft>
              <a:buClr>
                <a:srgbClr val="5B6B75"/>
              </a:buClr>
              <a:buSzPts val="2000"/>
              <a:buFont typeface="Calibri"/>
              <a:buNone/>
            </a:pPr>
            <a:r>
              <a:rPr i="0" lang="en-US" sz="1900" u="none" cap="none" strike="noStrike">
                <a:solidFill>
                  <a:srgbClr val="F6F5F0"/>
                </a:solidFill>
              </a:rPr>
              <a:t>Gregory Wagner</a:t>
            </a:r>
            <a:endParaRPr i="0" sz="1900" u="none" cap="none" strike="noStrike">
              <a:solidFill>
                <a:srgbClr val="F6F5F0"/>
              </a:solidFill>
            </a:endParaRPr>
          </a:p>
          <a:p>
            <a:pPr indent="0" lvl="0" marL="0" marR="0" rtl="0" algn="l">
              <a:lnSpc>
                <a:spcPct val="110000"/>
              </a:lnSpc>
              <a:spcBef>
                <a:spcPts val="0"/>
              </a:spcBef>
              <a:spcAft>
                <a:spcPts val="0"/>
              </a:spcAft>
              <a:buClr>
                <a:srgbClr val="5B6B75"/>
              </a:buClr>
              <a:buSzPts val="2000"/>
              <a:buFont typeface="Calibri"/>
              <a:buNone/>
            </a:pPr>
            <a:r>
              <a:rPr i="0" lang="en-US" sz="1900" u="none" cap="none" strike="noStrike">
                <a:solidFill>
                  <a:srgbClr val="F6F5F0"/>
                </a:solidFill>
              </a:rPr>
              <a:t>NEMO 2026 Developers' Workshop · 13 October 2026</a:t>
            </a:r>
            <a:endParaRPr i="0" sz="1900" u="none" cap="none" strike="noStrike">
              <a:solidFill>
                <a:srgbClr val="F6F5F0"/>
              </a:solidFill>
            </a:endParaRPr>
          </a:p>
        </p:txBody>
      </p:sp>
      <p:sp>
        <p:nvSpPr>
          <p:cNvPr id="18" name="Google Shape;18;p3"/>
          <p:cNvSpPr txBox="1"/>
          <p:nvPr/>
        </p:nvSpPr>
        <p:spPr>
          <a:xfrm>
            <a:off x="762000" y="32893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900">
                <a:solidFill>
                  <a:srgbClr val="8FD5CA"/>
                </a:solidFill>
              </a:rPr>
              <a:t>Risks and opportunities for usage,</a:t>
            </a:r>
            <a:endParaRPr sz="2900">
              <a:solidFill>
                <a:srgbClr val="8FD5CA"/>
              </a:solidFill>
            </a:endParaRPr>
          </a:p>
          <a:p>
            <a:pPr indent="0" lvl="0" marL="0" rtl="0" algn="l">
              <a:lnSpc>
                <a:spcPct val="110000"/>
              </a:lnSpc>
              <a:spcBef>
                <a:spcPts val="0"/>
              </a:spcBef>
              <a:spcAft>
                <a:spcPts val="0"/>
              </a:spcAft>
              <a:buNone/>
            </a:pPr>
            <a:r>
              <a:rPr lang="en-US" sz="2900">
                <a:solidFill>
                  <a:srgbClr val="8FD5CA"/>
                </a:solidFill>
              </a:rPr>
              <a:t>development, and parameterization</a:t>
            </a:r>
            <a:endParaRPr sz="2900">
              <a:solidFill>
                <a:srgbClr val="8FD5CA"/>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23" name="Shape 23"/>
        <p:cNvGrpSpPr/>
        <p:nvPr/>
      </p:nvGrpSpPr>
      <p:grpSpPr>
        <a:xfrm>
          <a:off x="0" y="0"/>
          <a:ext cx="0" cy="0"/>
          <a:chOff x="0" y="0"/>
          <a:chExt cx="0" cy="0"/>
        </a:xfrm>
      </p:grpSpPr>
      <p:sp>
        <p:nvSpPr>
          <p:cNvPr id="24" name="Google Shape;24;p4"/>
          <p:cNvSpPr txBox="1"/>
          <p:nvPr/>
        </p:nvSpPr>
        <p:spPr>
          <a:xfrm>
            <a:off x="762000" y="533400"/>
            <a:ext cx="10668000" cy="825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600">
                <a:solidFill>
                  <a:srgbClr val="173541"/>
                </a:solidFill>
              </a:rPr>
              <a:t>Gregory Wagner</a:t>
            </a:r>
            <a:endParaRPr b="1" i="0" sz="3600" u="none" cap="none" strike="noStrike">
              <a:solidFill>
                <a:srgbClr val="173541"/>
              </a:solidFill>
            </a:endParaRPr>
          </a:p>
        </p:txBody>
      </p:sp>
      <p:sp>
        <p:nvSpPr>
          <p:cNvPr id="25" name="Google Shape;25;p4"/>
          <p:cNvSpPr txBox="1"/>
          <p:nvPr/>
        </p:nvSpPr>
        <p:spPr>
          <a:xfrm>
            <a:off x="762000" y="1371600"/>
            <a:ext cx="10668000" cy="533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300">
                <a:solidFill>
                  <a:srgbClr val="167D8D"/>
                </a:solidFill>
              </a:rPr>
              <a:t>Head of Numerical Weather Prediction, Aeolus Labs</a:t>
            </a:r>
            <a:endParaRPr sz="2300">
              <a:solidFill>
                <a:srgbClr val="167D8D"/>
              </a:solidFill>
            </a:endParaRPr>
          </a:p>
        </p:txBody>
      </p:sp>
      <p:sp>
        <p:nvSpPr>
          <p:cNvPr id="26" name="Google Shape;26;p4"/>
          <p:cNvSpPr txBox="1"/>
          <p:nvPr/>
        </p:nvSpPr>
        <p:spPr>
          <a:xfrm>
            <a:off x="762000" y="2349500"/>
            <a:ext cx="10668000" cy="146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I develop Oceananigans, Breeze, and NumericalEarth.</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At Aeolus Labs, we’re building a differentiable,</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hardware-portable numerical weather</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prediction system based on Oceananigans.</a:t>
            </a:r>
            <a:endParaRPr sz="2400">
              <a:solidFill>
                <a:srgbClr val="173541"/>
              </a:solidFill>
            </a:endParaRPr>
          </a:p>
        </p:txBody>
      </p:sp>
      <p:sp>
        <p:nvSpPr>
          <p:cNvPr id="27" name="Google Shape;27;p4"/>
          <p:cNvSpPr txBox="1"/>
          <p:nvPr/>
        </p:nvSpPr>
        <p:spPr>
          <a:xfrm>
            <a:off x="762000" y="4191000"/>
            <a:ext cx="106680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500">
                <a:solidFill>
                  <a:srgbClr val="167D8D"/>
                </a:solidFill>
              </a:rPr>
              <a:t>Breeze is our atmosphere model.</a:t>
            </a:r>
            <a:endParaRPr b="1" sz="2500">
              <a:solidFill>
                <a:srgbClr val="167D8D"/>
              </a:solidFill>
            </a:endParaRPr>
          </a:p>
        </p:txBody>
      </p:sp>
      <p:sp>
        <p:nvSpPr>
          <p:cNvPr id="28" name="Google Shape;28;p4"/>
          <p:cNvSpPr txBox="1"/>
          <p:nvPr/>
        </p:nvSpPr>
        <p:spPr>
          <a:xfrm>
            <a:off x="762000" y="50165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NumericalEarth is our Earth system modeling framework.</a:t>
            </a:r>
            <a:endParaRPr sz="2400">
              <a:solidFill>
                <a:srgbClr val="173541"/>
              </a:solidFill>
            </a:endParaRPr>
          </a:p>
        </p:txBody>
      </p:sp>
      <p:sp>
        <p:nvSpPr>
          <p:cNvPr id="29" name="Google Shape;29;p4"/>
          <p:cNvSpPr txBox="1"/>
          <p:nvPr/>
        </p:nvSpPr>
        <p:spPr>
          <a:xfrm>
            <a:off x="762000" y="6337300"/>
            <a:ext cx="10668000" cy="29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300" u="sng">
                <a:solidFill>
                  <a:srgbClr val="58717A"/>
                </a:solidFill>
                <a:hlinkClick r:id="rId3">
                  <a:extLst>
                    <a:ext uri="{A12FA001-AC4F-418D-AE19-62706E023703}">
                      <ahyp:hlinkClr val="tx"/>
                    </a:ext>
                  </a:extLst>
                </a:hlinkClick>
              </a:rPr>
              <a:t>glwagner.github.io</a:t>
            </a:r>
            <a:endParaRPr sz="1300">
              <a:solidFill>
                <a:srgbClr val="58717A"/>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34" name="Shape 34"/>
        <p:cNvGrpSpPr/>
        <p:nvPr/>
      </p:nvGrpSpPr>
      <p:grpSpPr>
        <a:xfrm>
          <a:off x="0" y="0"/>
          <a:ext cx="0" cy="0"/>
          <a:chOff x="0" y="0"/>
          <a:chExt cx="0" cy="0"/>
        </a:xfrm>
      </p:grpSpPr>
      <p:sp>
        <p:nvSpPr>
          <p:cNvPr id="35" name="Google Shape;35;p5"/>
          <p:cNvSpPr txBox="1"/>
          <p:nvPr/>
        </p:nvSpPr>
        <p:spPr>
          <a:xfrm>
            <a:off x="508000" y="292100"/>
            <a:ext cx="11175900" cy="6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F6F5F0"/>
                </a:solidFill>
              </a:rPr>
              <a:t>AI, ML, LLMs—and the tools around them</a:t>
            </a:r>
            <a:endParaRPr b="1" sz="3200">
              <a:solidFill>
                <a:srgbClr val="F6F5F0"/>
              </a:solidFill>
            </a:endParaRPr>
          </a:p>
        </p:txBody>
      </p:sp>
      <p:sp>
        <p:nvSpPr>
          <p:cNvPr id="36" name="Google Shape;36;p5"/>
          <p:cNvSpPr txBox="1"/>
          <p:nvPr/>
        </p:nvSpPr>
        <p:spPr>
          <a:xfrm>
            <a:off x="508000" y="1117600"/>
            <a:ext cx="55245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8FD5CA"/>
                </a:solidFill>
              </a:rPr>
              <a:t>FROM BROAD FIELD TO SPECIFIC MODEL</a:t>
            </a:r>
            <a:endParaRPr b="1" sz="1200">
              <a:solidFill>
                <a:srgbClr val="8FD5CA"/>
              </a:solidFill>
            </a:endParaRPr>
          </a:p>
        </p:txBody>
      </p:sp>
      <p:sp>
        <p:nvSpPr>
          <p:cNvPr id="37" name="Google Shape;37;p5"/>
          <p:cNvSpPr/>
          <p:nvPr/>
        </p:nvSpPr>
        <p:spPr>
          <a:xfrm>
            <a:off x="508000" y="1498600"/>
            <a:ext cx="5435700" cy="787500"/>
          </a:xfrm>
          <a:prstGeom prst="rect">
            <a:avLst/>
          </a:prstGeom>
          <a:solidFill>
            <a:srgbClr val="1D3D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 name="Google Shape;38;p5"/>
          <p:cNvSpPr/>
          <p:nvPr/>
        </p:nvSpPr>
        <p:spPr>
          <a:xfrm>
            <a:off x="508000" y="1498600"/>
            <a:ext cx="50700" cy="787500"/>
          </a:xfrm>
          <a:prstGeom prst="rect">
            <a:avLst/>
          </a:prstGeom>
          <a:solidFill>
            <a:srgbClr val="8FD5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 name="Google Shape;39;p5"/>
          <p:cNvSpPr txBox="1"/>
          <p:nvPr/>
        </p:nvSpPr>
        <p:spPr>
          <a:xfrm>
            <a:off x="660400" y="1562100"/>
            <a:ext cx="5181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rgbClr val="8FD5CA"/>
                </a:solidFill>
              </a:rPr>
              <a:t>AI · artificial intelligence</a:t>
            </a:r>
            <a:endParaRPr b="1" sz="1900">
              <a:solidFill>
                <a:srgbClr val="8FD5CA"/>
              </a:solidFill>
            </a:endParaRPr>
          </a:p>
        </p:txBody>
      </p:sp>
      <p:sp>
        <p:nvSpPr>
          <p:cNvPr id="40" name="Google Shape;40;p5"/>
          <p:cNvSpPr txBox="1"/>
          <p:nvPr/>
        </p:nvSpPr>
        <p:spPr>
          <a:xfrm>
            <a:off x="660400" y="1905000"/>
            <a:ext cx="51816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F6F5F0"/>
                </a:solidFill>
              </a:rPr>
              <a:t>The broad field: learning, reasoning, planning.</a:t>
            </a:r>
            <a:endParaRPr sz="1500">
              <a:solidFill>
                <a:srgbClr val="F6F5F0"/>
              </a:solidFill>
            </a:endParaRPr>
          </a:p>
        </p:txBody>
      </p:sp>
      <p:sp>
        <p:nvSpPr>
          <p:cNvPr id="41" name="Google Shape;41;p5"/>
          <p:cNvSpPr txBox="1"/>
          <p:nvPr/>
        </p:nvSpPr>
        <p:spPr>
          <a:xfrm>
            <a:off x="558800" y="2273300"/>
            <a:ext cx="381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8FD5CA"/>
                </a:solidFill>
              </a:rPr>
              <a:t>↓</a:t>
            </a:r>
            <a:endParaRPr sz="1800">
              <a:solidFill>
                <a:srgbClr val="8FD5CA"/>
              </a:solidFill>
            </a:endParaRPr>
          </a:p>
        </p:txBody>
      </p:sp>
      <p:sp>
        <p:nvSpPr>
          <p:cNvPr id="42" name="Google Shape;42;p5"/>
          <p:cNvSpPr/>
          <p:nvPr/>
        </p:nvSpPr>
        <p:spPr>
          <a:xfrm>
            <a:off x="723900" y="2400300"/>
            <a:ext cx="5219700" cy="812700"/>
          </a:xfrm>
          <a:prstGeom prst="rect">
            <a:avLst/>
          </a:prstGeom>
          <a:solidFill>
            <a:srgbClr val="1D3D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 name="Google Shape;43;p5"/>
          <p:cNvSpPr/>
          <p:nvPr/>
        </p:nvSpPr>
        <p:spPr>
          <a:xfrm>
            <a:off x="723900" y="2400300"/>
            <a:ext cx="50700" cy="812700"/>
          </a:xfrm>
          <a:prstGeom prst="rect">
            <a:avLst/>
          </a:prstGeom>
          <a:solidFill>
            <a:srgbClr val="8FD5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 name="Google Shape;44;p5"/>
          <p:cNvSpPr txBox="1"/>
          <p:nvPr/>
        </p:nvSpPr>
        <p:spPr>
          <a:xfrm>
            <a:off x="876300" y="2463800"/>
            <a:ext cx="4965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rgbClr val="8FD5CA"/>
                </a:solidFill>
              </a:rPr>
              <a:t>ML · machine learning</a:t>
            </a:r>
            <a:endParaRPr b="1" sz="1900">
              <a:solidFill>
                <a:srgbClr val="8FD5CA"/>
              </a:solidFill>
            </a:endParaRPr>
          </a:p>
        </p:txBody>
      </p:sp>
      <p:sp>
        <p:nvSpPr>
          <p:cNvPr id="45" name="Google Shape;45;p5"/>
          <p:cNvSpPr txBox="1"/>
          <p:nvPr/>
        </p:nvSpPr>
        <p:spPr>
          <a:xfrm>
            <a:off x="876300" y="2806700"/>
            <a:ext cx="49656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F6F5F0"/>
                </a:solidFill>
              </a:rPr>
              <a:t>Models fitted from data: trees, kernels, networks…</a:t>
            </a:r>
            <a:endParaRPr sz="1500">
              <a:solidFill>
                <a:srgbClr val="F6F5F0"/>
              </a:solidFill>
            </a:endParaRPr>
          </a:p>
        </p:txBody>
      </p:sp>
      <p:sp>
        <p:nvSpPr>
          <p:cNvPr id="46" name="Google Shape;46;p5"/>
          <p:cNvSpPr txBox="1"/>
          <p:nvPr/>
        </p:nvSpPr>
        <p:spPr>
          <a:xfrm>
            <a:off x="774700" y="3200400"/>
            <a:ext cx="381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8FD5CA"/>
                </a:solidFill>
              </a:rPr>
              <a:t>↓</a:t>
            </a:r>
            <a:endParaRPr sz="1800">
              <a:solidFill>
                <a:srgbClr val="8FD5CA"/>
              </a:solidFill>
            </a:endParaRPr>
          </a:p>
        </p:txBody>
      </p:sp>
      <p:sp>
        <p:nvSpPr>
          <p:cNvPr id="47" name="Google Shape;47;p5"/>
          <p:cNvSpPr/>
          <p:nvPr/>
        </p:nvSpPr>
        <p:spPr>
          <a:xfrm>
            <a:off x="939800" y="3327400"/>
            <a:ext cx="5003700" cy="952500"/>
          </a:xfrm>
          <a:prstGeom prst="rect">
            <a:avLst/>
          </a:prstGeom>
          <a:solidFill>
            <a:srgbClr val="1D3D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 name="Google Shape;48;p5"/>
          <p:cNvSpPr/>
          <p:nvPr/>
        </p:nvSpPr>
        <p:spPr>
          <a:xfrm>
            <a:off x="939800" y="3327400"/>
            <a:ext cx="50700" cy="952500"/>
          </a:xfrm>
          <a:prstGeom prst="rect">
            <a:avLst/>
          </a:prstGeom>
          <a:solidFill>
            <a:srgbClr val="8FD5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 name="Google Shape;49;p5"/>
          <p:cNvSpPr txBox="1"/>
          <p:nvPr/>
        </p:nvSpPr>
        <p:spPr>
          <a:xfrm>
            <a:off x="1092200" y="3390900"/>
            <a:ext cx="47499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rgbClr val="8FD5CA"/>
                </a:solidFill>
              </a:rPr>
              <a:t>Deep learning</a:t>
            </a:r>
            <a:endParaRPr b="1" sz="1900">
              <a:solidFill>
                <a:srgbClr val="8FD5CA"/>
              </a:solidFill>
            </a:endParaRPr>
          </a:p>
        </p:txBody>
      </p:sp>
      <p:sp>
        <p:nvSpPr>
          <p:cNvPr id="50" name="Google Shape;50;p5"/>
          <p:cNvSpPr txBox="1"/>
          <p:nvPr/>
        </p:nvSpPr>
        <p:spPr>
          <a:xfrm>
            <a:off x="1092200" y="3733800"/>
            <a:ext cx="47499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F6F5F0"/>
                </a:solidFill>
              </a:rPr>
              <a:t>Multilayer neural networks, typically</a:t>
            </a:r>
            <a:endParaRPr sz="1500">
              <a:solidFill>
                <a:srgbClr val="F6F5F0"/>
              </a:solidFill>
            </a:endParaRPr>
          </a:p>
          <a:p>
            <a:pPr indent="0" lvl="0" marL="0" rtl="0" algn="l">
              <a:spcBef>
                <a:spcPts val="0"/>
              </a:spcBef>
              <a:spcAft>
                <a:spcPts val="0"/>
              </a:spcAft>
              <a:buNone/>
            </a:pPr>
            <a:r>
              <a:rPr lang="en-US" sz="1500">
                <a:solidFill>
                  <a:srgbClr val="F6F5F0"/>
                </a:solidFill>
              </a:rPr>
              <a:t>trained with gradient-based optimization.</a:t>
            </a:r>
            <a:endParaRPr sz="1500">
              <a:solidFill>
                <a:srgbClr val="F6F5F0"/>
              </a:solidFill>
            </a:endParaRPr>
          </a:p>
        </p:txBody>
      </p:sp>
      <p:sp>
        <p:nvSpPr>
          <p:cNvPr id="51" name="Google Shape;51;p5"/>
          <p:cNvSpPr txBox="1"/>
          <p:nvPr/>
        </p:nvSpPr>
        <p:spPr>
          <a:xfrm>
            <a:off x="990600" y="4267200"/>
            <a:ext cx="381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8FD5CA"/>
                </a:solidFill>
              </a:rPr>
              <a:t>↓</a:t>
            </a:r>
            <a:endParaRPr sz="1800">
              <a:solidFill>
                <a:srgbClr val="8FD5CA"/>
              </a:solidFill>
            </a:endParaRPr>
          </a:p>
        </p:txBody>
      </p:sp>
      <p:sp>
        <p:nvSpPr>
          <p:cNvPr id="52" name="Google Shape;52;p5"/>
          <p:cNvSpPr/>
          <p:nvPr/>
        </p:nvSpPr>
        <p:spPr>
          <a:xfrm>
            <a:off x="1155700" y="4394200"/>
            <a:ext cx="4788000" cy="952500"/>
          </a:xfrm>
          <a:prstGeom prst="rect">
            <a:avLst/>
          </a:prstGeom>
          <a:solidFill>
            <a:srgbClr val="1D3D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5"/>
          <p:cNvSpPr/>
          <p:nvPr/>
        </p:nvSpPr>
        <p:spPr>
          <a:xfrm>
            <a:off x="1155700" y="4394200"/>
            <a:ext cx="50700" cy="952500"/>
          </a:xfrm>
          <a:prstGeom prst="rect">
            <a:avLst/>
          </a:prstGeom>
          <a:solidFill>
            <a:srgbClr val="E6A0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 name="Google Shape;54;p5"/>
          <p:cNvSpPr txBox="1"/>
          <p:nvPr/>
        </p:nvSpPr>
        <p:spPr>
          <a:xfrm>
            <a:off x="1308100" y="4457700"/>
            <a:ext cx="45339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solidFill>
                  <a:srgbClr val="E6A06B"/>
                </a:solidFill>
              </a:rPr>
              <a:t>LLMs · large language models</a:t>
            </a:r>
            <a:endParaRPr b="1" sz="1900">
              <a:solidFill>
                <a:srgbClr val="E6A06B"/>
              </a:solidFill>
            </a:endParaRPr>
          </a:p>
        </p:txBody>
      </p:sp>
      <p:sp>
        <p:nvSpPr>
          <p:cNvPr id="55" name="Google Shape;55;p5"/>
          <p:cNvSpPr txBox="1"/>
          <p:nvPr/>
        </p:nvSpPr>
        <p:spPr>
          <a:xfrm>
            <a:off x="1308100" y="4800600"/>
            <a:ext cx="45339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F6F5F0"/>
                </a:solidFill>
              </a:rPr>
              <a:t>Usually transformers, pretrained at scale</a:t>
            </a:r>
            <a:endParaRPr sz="1500">
              <a:solidFill>
                <a:srgbClr val="F6F5F0"/>
              </a:solidFill>
            </a:endParaRPr>
          </a:p>
          <a:p>
            <a:pPr indent="0" lvl="0" marL="0" rtl="0" algn="l">
              <a:spcBef>
                <a:spcPts val="0"/>
              </a:spcBef>
              <a:spcAft>
                <a:spcPts val="0"/>
              </a:spcAft>
              <a:buNone/>
            </a:pPr>
            <a:r>
              <a:rPr lang="en-US" sz="1500">
                <a:solidFill>
                  <a:srgbClr val="F6F5F0"/>
                </a:solidFill>
              </a:rPr>
              <a:t>on vast collections of text and code.</a:t>
            </a:r>
            <a:endParaRPr sz="1500">
              <a:solidFill>
                <a:srgbClr val="F6F5F0"/>
              </a:solidFill>
            </a:endParaRPr>
          </a:p>
        </p:txBody>
      </p:sp>
      <p:sp>
        <p:nvSpPr>
          <p:cNvPr id="56" name="Google Shape;56;p5"/>
          <p:cNvSpPr txBox="1"/>
          <p:nvPr/>
        </p:nvSpPr>
        <p:spPr>
          <a:xfrm>
            <a:off x="6502400" y="1117600"/>
            <a:ext cx="5169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8FD5CA"/>
                </a:solidFill>
              </a:rPr>
              <a:t>WHAT WE ACTUALLY USE</a:t>
            </a:r>
            <a:endParaRPr b="1" sz="1200">
              <a:solidFill>
                <a:srgbClr val="8FD5CA"/>
              </a:solidFill>
            </a:endParaRPr>
          </a:p>
        </p:txBody>
      </p:sp>
      <p:sp>
        <p:nvSpPr>
          <p:cNvPr id="57" name="Google Shape;57;p5"/>
          <p:cNvSpPr txBox="1"/>
          <p:nvPr/>
        </p:nvSpPr>
        <p:spPr>
          <a:xfrm>
            <a:off x="6502400" y="1473200"/>
            <a:ext cx="5169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F6F5F0"/>
                </a:solidFill>
              </a:rPr>
              <a:t>An LLM inside a software system</a:t>
            </a:r>
            <a:endParaRPr b="1" sz="2200">
              <a:solidFill>
                <a:srgbClr val="F6F5F0"/>
              </a:solidFill>
            </a:endParaRPr>
          </a:p>
        </p:txBody>
      </p:sp>
      <p:sp>
        <p:nvSpPr>
          <p:cNvPr id="58" name="Google Shape;58;p5"/>
          <p:cNvSpPr/>
          <p:nvPr/>
        </p:nvSpPr>
        <p:spPr>
          <a:xfrm>
            <a:off x="6502400" y="2095500"/>
            <a:ext cx="5143500" cy="2578200"/>
          </a:xfrm>
          <a:prstGeom prst="rect">
            <a:avLst/>
          </a:prstGeom>
          <a:solidFill>
            <a:srgbClr val="1D3D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5"/>
          <p:cNvSpPr/>
          <p:nvPr/>
        </p:nvSpPr>
        <p:spPr>
          <a:xfrm>
            <a:off x="6731000" y="2324100"/>
            <a:ext cx="1384200" cy="9270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5"/>
          <p:cNvSpPr txBox="1"/>
          <p:nvPr/>
        </p:nvSpPr>
        <p:spPr>
          <a:xfrm>
            <a:off x="6845300" y="2451100"/>
            <a:ext cx="12066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00">
                <a:solidFill>
                  <a:srgbClr val="F6F5F0"/>
                </a:solidFill>
              </a:rPr>
              <a:t>LLM</a:t>
            </a:r>
            <a:endParaRPr b="1" sz="2300">
              <a:solidFill>
                <a:srgbClr val="F6F5F0"/>
              </a:solidFill>
            </a:endParaRPr>
          </a:p>
        </p:txBody>
      </p:sp>
      <p:sp>
        <p:nvSpPr>
          <p:cNvPr id="61" name="Google Shape;61;p5"/>
          <p:cNvSpPr txBox="1"/>
          <p:nvPr/>
        </p:nvSpPr>
        <p:spPr>
          <a:xfrm>
            <a:off x="6845300" y="2857500"/>
            <a:ext cx="12066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6F5F0"/>
                </a:solidFill>
              </a:rPr>
              <a:t>the model</a:t>
            </a:r>
            <a:endParaRPr>
              <a:solidFill>
                <a:srgbClr val="F6F5F0"/>
              </a:solidFill>
            </a:endParaRPr>
          </a:p>
        </p:txBody>
      </p:sp>
      <p:sp>
        <p:nvSpPr>
          <p:cNvPr id="62" name="Google Shape;62;p5"/>
          <p:cNvSpPr txBox="1"/>
          <p:nvPr/>
        </p:nvSpPr>
        <p:spPr>
          <a:xfrm>
            <a:off x="8242300" y="2590800"/>
            <a:ext cx="3936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solidFill>
                  <a:srgbClr val="8FD5CA"/>
                </a:solidFill>
              </a:rPr>
              <a:t>+</a:t>
            </a:r>
            <a:endParaRPr b="1" sz="2700">
              <a:solidFill>
                <a:srgbClr val="8FD5CA"/>
              </a:solidFill>
            </a:endParaRPr>
          </a:p>
        </p:txBody>
      </p:sp>
      <p:sp>
        <p:nvSpPr>
          <p:cNvPr id="63" name="Google Shape;63;p5"/>
          <p:cNvSpPr txBox="1"/>
          <p:nvPr/>
        </p:nvSpPr>
        <p:spPr>
          <a:xfrm>
            <a:off x="8686800" y="2298700"/>
            <a:ext cx="27177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8FD5CA"/>
                </a:solidFill>
              </a:rPr>
              <a:t>Harness</a:t>
            </a:r>
            <a:endParaRPr b="1" sz="2100">
              <a:solidFill>
                <a:srgbClr val="8FD5CA"/>
              </a:solidFill>
            </a:endParaRPr>
          </a:p>
        </p:txBody>
      </p:sp>
      <p:sp>
        <p:nvSpPr>
          <p:cNvPr id="64" name="Google Shape;64;p5"/>
          <p:cNvSpPr txBox="1"/>
          <p:nvPr/>
        </p:nvSpPr>
        <p:spPr>
          <a:xfrm>
            <a:off x="8686800" y="2743200"/>
            <a:ext cx="2717700" cy="10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F6F5F0"/>
                </a:solidFill>
              </a:rPr>
              <a:t>Context and instructions</a:t>
            </a:r>
            <a:endParaRPr sz="1600">
              <a:solidFill>
                <a:srgbClr val="F6F5F0"/>
              </a:solidFill>
            </a:endParaRPr>
          </a:p>
          <a:p>
            <a:pPr indent="0" lvl="0" marL="0" rtl="0" algn="l">
              <a:spcBef>
                <a:spcPts val="0"/>
              </a:spcBef>
              <a:spcAft>
                <a:spcPts val="0"/>
              </a:spcAft>
              <a:buNone/>
            </a:pPr>
            <a:r>
              <a:rPr lang="en-US" sz="1600">
                <a:solidFill>
                  <a:srgbClr val="F6F5F0"/>
                </a:solidFill>
              </a:rPr>
              <a:t>Tools: files, shell, search</a:t>
            </a:r>
            <a:endParaRPr sz="1600">
              <a:solidFill>
                <a:srgbClr val="F6F5F0"/>
              </a:solidFill>
            </a:endParaRPr>
          </a:p>
          <a:p>
            <a:pPr indent="0" lvl="0" marL="0" rtl="0" algn="l">
              <a:spcBef>
                <a:spcPts val="0"/>
              </a:spcBef>
              <a:spcAft>
                <a:spcPts val="0"/>
              </a:spcAft>
              <a:buNone/>
            </a:pPr>
            <a:r>
              <a:rPr lang="en-US" sz="1600">
                <a:solidFill>
                  <a:srgbClr val="F6F5F0"/>
                </a:solidFill>
              </a:rPr>
              <a:t>Permissions and state</a:t>
            </a:r>
            <a:endParaRPr sz="1600">
              <a:solidFill>
                <a:srgbClr val="F6F5F0"/>
              </a:solidFill>
            </a:endParaRPr>
          </a:p>
        </p:txBody>
      </p:sp>
      <p:sp>
        <p:nvSpPr>
          <p:cNvPr id="65" name="Google Shape;65;p5"/>
          <p:cNvSpPr txBox="1"/>
          <p:nvPr/>
        </p:nvSpPr>
        <p:spPr>
          <a:xfrm>
            <a:off x="6718300" y="3987800"/>
            <a:ext cx="47370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F6F5F0"/>
                </a:solidFill>
              </a:rPr>
              <a:t>Read → act → inspect → repeat</a:t>
            </a:r>
            <a:endParaRPr b="1" sz="2000">
              <a:solidFill>
                <a:srgbClr val="F6F5F0"/>
              </a:solidFill>
            </a:endParaRPr>
          </a:p>
        </p:txBody>
      </p:sp>
      <p:sp>
        <p:nvSpPr>
          <p:cNvPr id="66" name="Google Shape;66;p5"/>
          <p:cNvSpPr txBox="1"/>
          <p:nvPr/>
        </p:nvSpPr>
        <p:spPr>
          <a:xfrm>
            <a:off x="6680200" y="4775200"/>
            <a:ext cx="4953000" cy="6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F6F5F0"/>
                </a:solidFill>
              </a:rPr>
              <a:t>An agent lets the model choose</a:t>
            </a:r>
            <a:endParaRPr sz="1700">
              <a:solidFill>
                <a:srgbClr val="F6F5F0"/>
              </a:solidFill>
            </a:endParaRPr>
          </a:p>
          <a:p>
            <a:pPr indent="0" lvl="0" marL="0" rtl="0" algn="l">
              <a:spcBef>
                <a:spcPts val="0"/>
              </a:spcBef>
              <a:spcAft>
                <a:spcPts val="0"/>
              </a:spcAft>
              <a:buNone/>
            </a:pPr>
            <a:r>
              <a:rPr lang="en-US" sz="1700">
                <a:solidFill>
                  <a:srgbClr val="F6F5F0"/>
                </a:solidFill>
              </a:rPr>
              <a:t>which steps and tools to use.</a:t>
            </a:r>
            <a:endParaRPr sz="1700">
              <a:solidFill>
                <a:srgbClr val="F6F5F0"/>
              </a:solidFill>
            </a:endParaRPr>
          </a:p>
        </p:txBody>
      </p:sp>
      <p:sp>
        <p:nvSpPr>
          <p:cNvPr id="67" name="Google Shape;67;p5"/>
          <p:cNvSpPr/>
          <p:nvPr/>
        </p:nvSpPr>
        <p:spPr>
          <a:xfrm>
            <a:off x="508000" y="5626100"/>
            <a:ext cx="11137800" cy="698400"/>
          </a:xfrm>
          <a:prstGeom prst="rect">
            <a:avLst/>
          </a:prstGeom>
          <a:solidFill>
            <a:srgbClr val="2845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5"/>
          <p:cNvSpPr txBox="1"/>
          <p:nvPr/>
        </p:nvSpPr>
        <p:spPr>
          <a:xfrm>
            <a:off x="685800" y="5651500"/>
            <a:ext cx="10744200" cy="6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F6F5F0"/>
                </a:solidFill>
              </a:rPr>
              <a:t>Here, “AI” often means an LLM-powered assistant.</a:t>
            </a:r>
            <a:endParaRPr b="1" sz="1700">
              <a:solidFill>
                <a:srgbClr val="F6F5F0"/>
              </a:solidFill>
            </a:endParaRPr>
          </a:p>
          <a:p>
            <a:pPr indent="0" lvl="0" marL="0" rtl="0" algn="l">
              <a:spcBef>
                <a:spcPts val="0"/>
              </a:spcBef>
              <a:spcAft>
                <a:spcPts val="0"/>
              </a:spcAft>
              <a:buNone/>
            </a:pPr>
            <a:r>
              <a:rPr b="1" lang="en-US" sz="1700">
                <a:solidFill>
                  <a:srgbClr val="F6F5F0"/>
                </a:solidFill>
              </a:rPr>
              <a:t>ML also includes learned parameterizations and emulators.</a:t>
            </a:r>
            <a:endParaRPr b="1" sz="1700">
              <a:solidFill>
                <a:srgbClr val="F6F5F0"/>
              </a:solidFill>
            </a:endParaRPr>
          </a:p>
        </p:txBody>
      </p:sp>
      <p:sp>
        <p:nvSpPr>
          <p:cNvPr id="69" name="Google Shape;69;p5"/>
          <p:cNvSpPr txBox="1"/>
          <p:nvPr/>
        </p:nvSpPr>
        <p:spPr>
          <a:xfrm>
            <a:off x="508000" y="6438900"/>
            <a:ext cx="1943100" cy="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rgbClr val="8FD5CA"/>
                </a:solidFill>
                <a:hlinkClick r:id="rId3">
                  <a:extLst>
                    <a:ext uri="{A12FA001-AC4F-418D-AE19-62706E023703}">
                      <ahyp:hlinkClr val="tx"/>
                    </a:ext>
                  </a:extLst>
                </a:hlinkClick>
              </a:rPr>
              <a:t>IBM: terminology</a:t>
            </a:r>
            <a:endParaRPr sz="1000">
              <a:solidFill>
                <a:srgbClr val="8FD5CA"/>
              </a:solidFill>
            </a:endParaRPr>
          </a:p>
        </p:txBody>
      </p:sp>
      <p:sp>
        <p:nvSpPr>
          <p:cNvPr id="70" name="Google Shape;70;p5"/>
          <p:cNvSpPr txBox="1"/>
          <p:nvPr/>
        </p:nvSpPr>
        <p:spPr>
          <a:xfrm>
            <a:off x="2565400" y="6438900"/>
            <a:ext cx="1816200" cy="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rgbClr val="8FD5CA"/>
                </a:solidFill>
                <a:hlinkClick r:id="rId4">
                  <a:extLst>
                    <a:ext uri="{A12FA001-AC4F-418D-AE19-62706E023703}">
                      <ahyp:hlinkClr val="tx"/>
                    </a:ext>
                  </a:extLst>
                </a:hlinkClick>
              </a:rPr>
              <a:t>LeCun et al. (2015)</a:t>
            </a:r>
            <a:endParaRPr sz="1000">
              <a:solidFill>
                <a:srgbClr val="8FD5CA"/>
              </a:solidFill>
            </a:endParaRPr>
          </a:p>
        </p:txBody>
      </p:sp>
      <p:sp>
        <p:nvSpPr>
          <p:cNvPr id="71" name="Google Shape;71;p5"/>
          <p:cNvSpPr txBox="1"/>
          <p:nvPr/>
        </p:nvSpPr>
        <p:spPr>
          <a:xfrm>
            <a:off x="4470400" y="6438900"/>
            <a:ext cx="1917600" cy="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rgbClr val="8FD5CA"/>
                </a:solidFill>
                <a:hlinkClick r:id="rId5">
                  <a:extLst>
                    <a:ext uri="{A12FA001-AC4F-418D-AE19-62706E023703}">
                      <ahyp:hlinkClr val="tx"/>
                    </a:ext>
                  </a:extLst>
                </a:hlinkClick>
              </a:rPr>
              <a:t>Vaswani et al. (2017)</a:t>
            </a:r>
            <a:endParaRPr sz="1000">
              <a:solidFill>
                <a:srgbClr val="8FD5CA"/>
              </a:solidFill>
            </a:endParaRPr>
          </a:p>
        </p:txBody>
      </p:sp>
      <p:sp>
        <p:nvSpPr>
          <p:cNvPr id="72" name="Google Shape;72;p5"/>
          <p:cNvSpPr txBox="1"/>
          <p:nvPr/>
        </p:nvSpPr>
        <p:spPr>
          <a:xfrm>
            <a:off x="6502400" y="6438900"/>
            <a:ext cx="1866900" cy="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rgbClr val="8FD5CA"/>
                </a:solidFill>
                <a:hlinkClick r:id="rId6">
                  <a:extLst>
                    <a:ext uri="{A12FA001-AC4F-418D-AE19-62706E023703}">
                      <ahyp:hlinkClr val="tx"/>
                    </a:ext>
                  </a:extLst>
                </a:hlinkClick>
              </a:rPr>
              <a:t>Brown et al. (2020)</a:t>
            </a:r>
            <a:endParaRPr sz="1000">
              <a:solidFill>
                <a:srgbClr val="8FD5CA"/>
              </a:solidFill>
            </a:endParaRPr>
          </a:p>
        </p:txBody>
      </p:sp>
      <p:sp>
        <p:nvSpPr>
          <p:cNvPr id="73" name="Google Shape;73;p5"/>
          <p:cNvSpPr txBox="1"/>
          <p:nvPr/>
        </p:nvSpPr>
        <p:spPr>
          <a:xfrm>
            <a:off x="8470900" y="6438900"/>
            <a:ext cx="3302100" cy="2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rgbClr val="8FD5CA"/>
                </a:solidFill>
                <a:hlinkClick r:id="rId7">
                  <a:extLst>
                    <a:ext uri="{A12FA001-AC4F-418D-AE19-62706E023703}">
                      <ahyp:hlinkClr val="tx"/>
                    </a:ext>
                  </a:extLst>
                </a:hlinkClick>
              </a:rPr>
              <a:t>Anthropic: Building effective agents (2024)</a:t>
            </a:r>
            <a:endParaRPr sz="1000">
              <a:solidFill>
                <a:srgbClr val="8FD5CA"/>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78" name="Shape 78"/>
        <p:cNvGrpSpPr/>
        <p:nvPr/>
      </p:nvGrpSpPr>
      <p:grpSpPr>
        <a:xfrm>
          <a:off x="0" y="0"/>
          <a:ext cx="0" cy="0"/>
          <a:chOff x="0" y="0"/>
          <a:chExt cx="0" cy="0"/>
        </a:xfrm>
      </p:grpSpPr>
      <p:sp>
        <p:nvSpPr>
          <p:cNvPr id="79" name="Google Shape;79;p6"/>
          <p:cNvSpPr txBox="1"/>
          <p:nvPr/>
        </p:nvSpPr>
        <p:spPr>
          <a:xfrm>
            <a:off x="444500" y="228600"/>
            <a:ext cx="11303100" cy="990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F6F5F0"/>
                </a:solidFill>
              </a:rPr>
              <a:t>Large language models are extraordinary technology.</a:t>
            </a:r>
            <a:endParaRPr b="1" i="0" sz="3200" u="none" cap="none" strike="noStrike">
              <a:solidFill>
                <a:srgbClr val="F6F5F0"/>
              </a:solidFill>
            </a:endParaRPr>
          </a:p>
        </p:txBody>
      </p:sp>
      <p:sp>
        <p:nvSpPr>
          <p:cNvPr id="80" name="Google Shape;80;p6"/>
          <p:cNvSpPr/>
          <p:nvPr/>
        </p:nvSpPr>
        <p:spPr>
          <a:xfrm>
            <a:off x="444500" y="1371600"/>
            <a:ext cx="5359500" cy="4775100"/>
          </a:xfrm>
          <a:prstGeom prst="rect">
            <a:avLst/>
          </a:prstGeom>
          <a:solidFill>
            <a:srgbClr val="1D3D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6"/>
          <p:cNvSpPr/>
          <p:nvPr/>
        </p:nvSpPr>
        <p:spPr>
          <a:xfrm>
            <a:off x="444500" y="1371600"/>
            <a:ext cx="5359500" cy="50700"/>
          </a:xfrm>
          <a:prstGeom prst="rect">
            <a:avLst/>
          </a:prstGeom>
          <a:solidFill>
            <a:srgbClr val="8FD5C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6"/>
          <p:cNvSpPr txBox="1"/>
          <p:nvPr/>
        </p:nvSpPr>
        <p:spPr>
          <a:xfrm>
            <a:off x="622300" y="1511300"/>
            <a:ext cx="50037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rgbClr val="F6F5F0"/>
                </a:solidFill>
              </a:rPr>
              <a:t>Opportunities</a:t>
            </a:r>
            <a:endParaRPr b="1" sz="2600">
              <a:solidFill>
                <a:srgbClr val="F6F5F0"/>
              </a:solidFill>
            </a:endParaRPr>
          </a:p>
        </p:txBody>
      </p:sp>
      <p:sp>
        <p:nvSpPr>
          <p:cNvPr id="83" name="Google Shape;83;p6"/>
          <p:cNvSpPr txBox="1"/>
          <p:nvPr/>
        </p:nvSpPr>
        <p:spPr>
          <a:xfrm>
            <a:off x="622300" y="1955800"/>
            <a:ext cx="5003700" cy="1409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US" sz="1700">
                <a:solidFill>
                  <a:srgbClr val="8FD5CA"/>
                </a:solidFill>
              </a:rPr>
              <a:t>Faster implementation</a:t>
            </a:r>
            <a:endParaRPr b="1" sz="1700">
              <a:solidFill>
                <a:srgbClr val="8FD5CA"/>
              </a:solidFill>
            </a:endParaRPr>
          </a:p>
          <a:p>
            <a:pPr indent="0" lvl="0" marL="0" rtl="0" algn="l">
              <a:lnSpc>
                <a:spcPct val="105000"/>
              </a:lnSpc>
              <a:spcBef>
                <a:spcPts val="200"/>
              </a:spcBef>
              <a:spcAft>
                <a:spcPts val="0"/>
              </a:spcAft>
              <a:buNone/>
            </a:pPr>
            <a:r>
              <a:rPr lang="en-US" sz="1700">
                <a:solidFill>
                  <a:srgbClr val="F6F5F0"/>
                </a:solidFill>
              </a:rPr>
              <a:t>Turn ideas into working experiments.</a:t>
            </a:r>
            <a:endParaRPr sz="1700">
              <a:solidFill>
                <a:srgbClr val="F6F5F0"/>
              </a:solidFill>
            </a:endParaRPr>
          </a:p>
          <a:p>
            <a:pPr indent="0" lvl="0" marL="0" rtl="0" algn="l">
              <a:lnSpc>
                <a:spcPct val="105000"/>
              </a:lnSpc>
              <a:spcBef>
                <a:spcPts val="900"/>
              </a:spcBef>
              <a:spcAft>
                <a:spcPts val="0"/>
              </a:spcAft>
              <a:buNone/>
            </a:pPr>
            <a:r>
              <a:rPr b="1" lang="en-US" sz="1700">
                <a:solidFill>
                  <a:srgbClr val="8FD5CA"/>
                </a:solidFill>
              </a:rPr>
              <a:t>Wider participation</a:t>
            </a:r>
            <a:endParaRPr b="1" sz="1700">
              <a:solidFill>
                <a:srgbClr val="8FD5CA"/>
              </a:solidFill>
            </a:endParaRPr>
          </a:p>
          <a:p>
            <a:pPr indent="0" lvl="0" marL="0" rtl="0" algn="l">
              <a:lnSpc>
                <a:spcPct val="105000"/>
              </a:lnSpc>
              <a:spcBef>
                <a:spcPts val="200"/>
              </a:spcBef>
              <a:spcAft>
                <a:spcPts val="200"/>
              </a:spcAft>
              <a:buNone/>
            </a:pPr>
            <a:r>
              <a:rPr lang="en-US" sz="1700">
                <a:solidFill>
                  <a:srgbClr val="F6F5F0"/>
                </a:solidFill>
              </a:rPr>
              <a:t>Help newcomers navigate complex code.</a:t>
            </a:r>
            <a:endParaRPr sz="1700">
              <a:solidFill>
                <a:srgbClr val="F6F5F0"/>
              </a:solidFill>
            </a:endParaRPr>
          </a:p>
        </p:txBody>
      </p:sp>
      <p:sp>
        <p:nvSpPr>
          <p:cNvPr id="84" name="Google Shape;84;p6"/>
          <p:cNvSpPr/>
          <p:nvPr/>
        </p:nvSpPr>
        <p:spPr>
          <a:xfrm>
            <a:off x="444500" y="3365500"/>
            <a:ext cx="5359500" cy="50700"/>
          </a:xfrm>
          <a:prstGeom prst="rect">
            <a:avLst/>
          </a:prstGeom>
          <a:solidFill>
            <a:srgbClr val="E6A0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6"/>
          <p:cNvSpPr txBox="1"/>
          <p:nvPr/>
        </p:nvSpPr>
        <p:spPr>
          <a:xfrm>
            <a:off x="622300" y="4000500"/>
            <a:ext cx="5003700" cy="2171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b="1" lang="en-US" sz="1700">
                <a:solidFill>
                  <a:srgbClr val="E6A06B"/>
                </a:solidFill>
              </a:rPr>
              <a:t>Loss of attribution</a:t>
            </a:r>
            <a:endParaRPr b="1" sz="1700">
              <a:solidFill>
                <a:srgbClr val="E6A06B"/>
              </a:solidFill>
            </a:endParaRPr>
          </a:p>
          <a:p>
            <a:pPr indent="0" lvl="0" marL="0" rtl="0" algn="l">
              <a:lnSpc>
                <a:spcPct val="105000"/>
              </a:lnSpc>
              <a:spcBef>
                <a:spcPts val="200"/>
              </a:spcBef>
              <a:spcAft>
                <a:spcPts val="0"/>
              </a:spcAft>
              <a:buNone/>
            </a:pPr>
            <a:r>
              <a:rPr lang="en-US" sz="1700">
                <a:solidFill>
                  <a:srgbClr val="F6F5F0"/>
                </a:solidFill>
              </a:rPr>
              <a:t>Human contributions become obscured.</a:t>
            </a:r>
            <a:endParaRPr sz="1700">
              <a:solidFill>
                <a:srgbClr val="F6F5F0"/>
              </a:solidFill>
            </a:endParaRPr>
          </a:p>
          <a:p>
            <a:pPr indent="0" lvl="0" marL="0" rtl="0" algn="l">
              <a:lnSpc>
                <a:spcPct val="105000"/>
              </a:lnSpc>
              <a:spcBef>
                <a:spcPts val="800"/>
              </a:spcBef>
              <a:spcAft>
                <a:spcPts val="0"/>
              </a:spcAft>
              <a:buNone/>
            </a:pPr>
            <a:r>
              <a:rPr b="1" lang="en-US" sz="1700">
                <a:solidFill>
                  <a:srgbClr val="E6A06B"/>
                </a:solidFill>
              </a:rPr>
              <a:t>Loss of human understanding and control</a:t>
            </a:r>
            <a:endParaRPr b="1" sz="1700">
              <a:solidFill>
                <a:srgbClr val="E6A06B"/>
              </a:solidFill>
            </a:endParaRPr>
          </a:p>
          <a:p>
            <a:pPr indent="0" lvl="0" marL="0" rtl="0" algn="l">
              <a:lnSpc>
                <a:spcPct val="105000"/>
              </a:lnSpc>
              <a:spcBef>
                <a:spcPts val="200"/>
              </a:spcBef>
              <a:spcAft>
                <a:spcPts val="0"/>
              </a:spcAft>
              <a:buNone/>
            </a:pPr>
            <a:r>
              <a:rPr lang="en-US" sz="1700">
                <a:solidFill>
                  <a:srgbClr val="F6F5F0"/>
                </a:solidFill>
              </a:rPr>
              <a:t>Tools and vendors shape research priorities.</a:t>
            </a:r>
            <a:endParaRPr sz="1700">
              <a:solidFill>
                <a:srgbClr val="F6F5F0"/>
              </a:solidFill>
            </a:endParaRPr>
          </a:p>
          <a:p>
            <a:pPr indent="0" lvl="0" marL="0" rtl="0" algn="l">
              <a:lnSpc>
                <a:spcPct val="105000"/>
              </a:lnSpc>
              <a:spcBef>
                <a:spcPts val="800"/>
              </a:spcBef>
              <a:spcAft>
                <a:spcPts val="0"/>
              </a:spcAft>
              <a:buNone/>
            </a:pPr>
            <a:r>
              <a:rPr b="1" lang="en-US" sz="1700">
                <a:solidFill>
                  <a:srgbClr val="E6A06B"/>
                </a:solidFill>
              </a:rPr>
              <a:t>Porting ≠ progress</a:t>
            </a:r>
            <a:endParaRPr b="1" sz="1700">
              <a:solidFill>
                <a:srgbClr val="E6A06B"/>
              </a:solidFill>
            </a:endParaRPr>
          </a:p>
          <a:p>
            <a:pPr indent="0" lvl="0" marL="0" rtl="0" algn="l">
              <a:lnSpc>
                <a:spcPct val="105000"/>
              </a:lnSpc>
              <a:spcBef>
                <a:spcPts val="200"/>
              </a:spcBef>
              <a:spcAft>
                <a:spcPts val="200"/>
              </a:spcAft>
              <a:buNone/>
            </a:pPr>
            <a:r>
              <a:rPr lang="en-US" sz="1700">
                <a:solidFill>
                  <a:srgbClr val="F6F5F0"/>
                </a:solidFill>
              </a:rPr>
              <a:t>Are we rewriting or building new code?</a:t>
            </a:r>
            <a:endParaRPr sz="1700">
              <a:solidFill>
                <a:srgbClr val="F6F5F0"/>
              </a:solidFill>
            </a:endParaRPr>
          </a:p>
        </p:txBody>
      </p:sp>
      <p:sp>
        <p:nvSpPr>
          <p:cNvPr id="86" name="Google Shape;86;p6"/>
          <p:cNvSpPr txBox="1"/>
          <p:nvPr/>
        </p:nvSpPr>
        <p:spPr>
          <a:xfrm>
            <a:off x="444500" y="6210300"/>
            <a:ext cx="53976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rgbClr val="8FD5CA"/>
                </a:solidFill>
                <a:hlinkClick r:id="rId3">
                  <a:extLst>
                    <a:ext uri="{A12FA001-AC4F-418D-AE19-62706E023703}">
                      <ahyp:hlinkClr val="tx"/>
                    </a:ext>
                  </a:extLst>
                </a:hlinkClick>
              </a:rPr>
              <a:t>Leiden Declaration on Artificial Intelligence and Mathematics (2026)</a:t>
            </a:r>
            <a:endParaRPr sz="1000">
              <a:solidFill>
                <a:srgbClr val="8FD5CA"/>
              </a:solidFill>
            </a:endParaRPr>
          </a:p>
        </p:txBody>
      </p:sp>
      <p:pic>
        <p:nvPicPr>
          <p:cNvPr id="87" name="Google Shape;87;p6">
            <a:hlinkClick r:id="rId4"/>
          </p:cNvPr>
          <p:cNvPicPr preferRelativeResize="0"/>
          <p:nvPr/>
        </p:nvPicPr>
        <p:blipFill>
          <a:blip r:embed="rId5">
            <a:alphaModFix/>
          </a:blip>
          <a:stretch>
            <a:fillRect/>
          </a:stretch>
        </p:blipFill>
        <p:spPr>
          <a:xfrm>
            <a:off x="6159500" y="1270000"/>
            <a:ext cx="5638800" cy="558800"/>
          </a:xfrm>
          <a:prstGeom prst="rect">
            <a:avLst/>
          </a:prstGeom>
          <a:noFill/>
          <a:ln>
            <a:noFill/>
          </a:ln>
        </p:spPr>
      </p:pic>
      <p:pic>
        <p:nvPicPr>
          <p:cNvPr id="88" name="Google Shape;88;p6">
            <a:hlinkClick r:id="rId6"/>
          </p:cNvPr>
          <p:cNvPicPr preferRelativeResize="0"/>
          <p:nvPr/>
        </p:nvPicPr>
        <p:blipFill>
          <a:blip r:embed="rId7">
            <a:alphaModFix/>
          </a:blip>
          <a:stretch>
            <a:fillRect/>
          </a:stretch>
        </p:blipFill>
        <p:spPr>
          <a:xfrm rot="90000">
            <a:off x="6444399" y="1961034"/>
            <a:ext cx="5257800" cy="481348"/>
          </a:xfrm>
          <a:prstGeom prst="rect">
            <a:avLst/>
          </a:prstGeom>
          <a:noFill/>
          <a:ln>
            <a:noFill/>
          </a:ln>
        </p:spPr>
      </p:pic>
      <p:pic>
        <p:nvPicPr>
          <p:cNvPr id="89" name="Google Shape;89;p6">
            <a:hlinkClick r:id="rId8"/>
          </p:cNvPr>
          <p:cNvPicPr preferRelativeResize="0"/>
          <p:nvPr/>
        </p:nvPicPr>
        <p:blipFill>
          <a:blip r:embed="rId9">
            <a:alphaModFix/>
          </a:blip>
          <a:stretch>
            <a:fillRect/>
          </a:stretch>
        </p:blipFill>
        <p:spPr>
          <a:xfrm rot="-90000">
            <a:off x="6185224" y="2435229"/>
            <a:ext cx="5079999" cy="1061590"/>
          </a:xfrm>
          <a:prstGeom prst="rect">
            <a:avLst/>
          </a:prstGeom>
          <a:noFill/>
          <a:ln>
            <a:noFill/>
          </a:ln>
        </p:spPr>
      </p:pic>
      <p:pic>
        <p:nvPicPr>
          <p:cNvPr id="90" name="Google Shape;90;p6">
            <a:hlinkClick r:id="rId10"/>
          </p:cNvPr>
          <p:cNvPicPr preferRelativeResize="0"/>
          <p:nvPr/>
        </p:nvPicPr>
        <p:blipFill>
          <a:blip r:embed="rId11">
            <a:alphaModFix/>
          </a:blip>
          <a:stretch>
            <a:fillRect/>
          </a:stretch>
        </p:blipFill>
        <p:spPr>
          <a:xfrm rot="59999">
            <a:off x="6396824" y="3626806"/>
            <a:ext cx="5207001" cy="410249"/>
          </a:xfrm>
          <a:prstGeom prst="rect">
            <a:avLst/>
          </a:prstGeom>
          <a:noFill/>
          <a:ln>
            <a:noFill/>
          </a:ln>
        </p:spPr>
      </p:pic>
      <p:pic>
        <p:nvPicPr>
          <p:cNvPr id="91" name="Google Shape;91;p6">
            <a:hlinkClick r:id="rId12"/>
          </p:cNvPr>
          <p:cNvPicPr preferRelativeResize="0"/>
          <p:nvPr/>
        </p:nvPicPr>
        <p:blipFill>
          <a:blip r:embed="rId13">
            <a:alphaModFix/>
          </a:blip>
          <a:stretch>
            <a:fillRect/>
          </a:stretch>
        </p:blipFill>
        <p:spPr>
          <a:xfrm rot="-60001">
            <a:off x="6167282" y="3973786"/>
            <a:ext cx="4508500" cy="931103"/>
          </a:xfrm>
          <a:prstGeom prst="rect">
            <a:avLst/>
          </a:prstGeom>
          <a:noFill/>
          <a:ln>
            <a:noFill/>
          </a:ln>
        </p:spPr>
      </p:pic>
      <p:sp>
        <p:nvSpPr>
          <p:cNvPr id="92" name="Google Shape;92;p6"/>
          <p:cNvSpPr txBox="1"/>
          <p:nvPr/>
        </p:nvSpPr>
        <p:spPr>
          <a:xfrm>
            <a:off x="622300" y="3467100"/>
            <a:ext cx="5003700" cy="46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rgbClr val="F6F5F0"/>
                </a:solidFill>
              </a:rPr>
              <a:t>Risks</a:t>
            </a:r>
            <a:endParaRPr b="1" sz="2600">
              <a:solidFill>
                <a:srgbClr val="F6F5F0"/>
              </a:solidFill>
            </a:endParaRPr>
          </a:p>
        </p:txBody>
      </p:sp>
      <p:pic>
        <p:nvPicPr>
          <p:cNvPr id="93" name="Google Shape;93;p6">
            <a:hlinkClick r:id="rId14"/>
          </p:cNvPr>
          <p:cNvPicPr preferRelativeResize="0"/>
          <p:nvPr/>
        </p:nvPicPr>
        <p:blipFill>
          <a:blip r:embed="rId15">
            <a:alphaModFix/>
          </a:blip>
          <a:stretch>
            <a:fillRect/>
          </a:stretch>
        </p:blipFill>
        <p:spPr>
          <a:xfrm>
            <a:off x="6248400" y="4902200"/>
            <a:ext cx="5334000" cy="1458986"/>
          </a:xfrm>
          <a:prstGeom prst="rect">
            <a:avLst/>
          </a:prstGeom>
          <a:noFill/>
          <a:ln>
            <a:noFill/>
          </a:ln>
        </p:spPr>
      </p:pic>
      <p:pic>
        <p:nvPicPr>
          <p:cNvPr id="94" name="Google Shape;94;p6">
            <a:hlinkClick r:id="rId16"/>
          </p:cNvPr>
          <p:cNvPicPr preferRelativeResize="0"/>
          <p:nvPr/>
        </p:nvPicPr>
        <p:blipFill>
          <a:blip r:embed="rId17">
            <a:alphaModFix/>
          </a:blip>
          <a:stretch>
            <a:fillRect/>
          </a:stretch>
        </p:blipFill>
        <p:spPr>
          <a:xfrm rot="90000">
            <a:off x="9387330" y="5935784"/>
            <a:ext cx="2324100" cy="784761"/>
          </a:xfrm>
          <a:prstGeom prst="rect">
            <a:avLst/>
          </a:prstGeom>
          <a:noFill/>
          <a:ln>
            <a:noFill/>
          </a:ln>
        </p:spPr>
      </p:pic>
      <p:sp>
        <p:nvSpPr>
          <p:cNvPr id="95" name="Google Shape;95;p6"/>
          <p:cNvSpPr txBox="1"/>
          <p:nvPr/>
        </p:nvSpPr>
        <p:spPr>
          <a:xfrm>
            <a:off x="10680700" y="4597400"/>
            <a:ext cx="10542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8FD5CA"/>
                </a:solidFill>
                <a:hlinkClick r:id="rId18">
                  <a:extLst>
                    <a:ext uri="{A12FA001-AC4F-418D-AE19-62706E023703}">
                      <ahyp:hlinkClr val="tx"/>
                    </a:ext>
                  </a:extLst>
                </a:hlinkClick>
              </a:rPr>
              <a:t>Nature</a:t>
            </a:r>
            <a:endParaRPr sz="1100">
              <a:solidFill>
                <a:srgbClr val="8FD5CA"/>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100" name="Shape 100"/>
        <p:cNvGrpSpPr/>
        <p:nvPr/>
      </p:nvGrpSpPr>
      <p:grpSpPr>
        <a:xfrm>
          <a:off x="0" y="0"/>
          <a:ext cx="0" cy="0"/>
          <a:chOff x="0" y="0"/>
          <a:chExt cx="0" cy="0"/>
        </a:xfrm>
      </p:grpSpPr>
      <p:sp>
        <p:nvSpPr>
          <p:cNvPr id="101" name="Google Shape;101;p7"/>
          <p:cNvSpPr txBox="1"/>
          <p:nvPr/>
        </p:nvSpPr>
        <p:spPr>
          <a:xfrm>
            <a:off x="762000" y="508000"/>
            <a:ext cx="10668000" cy="825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i="0" lang="en-US" sz="3600" u="none" cap="none" strike="noStrike">
                <a:solidFill>
                  <a:srgbClr val="173541"/>
                </a:solidFill>
              </a:rPr>
              <a:t>Outline</a:t>
            </a:r>
            <a:endParaRPr b="1" i="0" sz="3600" u="none" cap="none" strike="noStrike">
              <a:solidFill>
                <a:srgbClr val="173541"/>
              </a:solidFill>
            </a:endParaRPr>
          </a:p>
        </p:txBody>
      </p:sp>
      <p:sp>
        <p:nvSpPr>
          <p:cNvPr id="102" name="Google Shape;102;p7"/>
          <p:cNvSpPr txBox="1"/>
          <p:nvPr/>
        </p:nvSpPr>
        <p:spPr>
          <a:xfrm>
            <a:off x="762000" y="2006600"/>
            <a:ext cx="3429000" cy="7365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FFFFF"/>
              </a:buClr>
              <a:buSzPts val="1800"/>
              <a:buFont typeface="Calibri"/>
              <a:buNone/>
            </a:pPr>
            <a:r>
              <a:rPr b="1" lang="en-US" sz="4000">
                <a:solidFill>
                  <a:srgbClr val="167D8D"/>
                </a:solidFill>
              </a:rPr>
              <a:t>01</a:t>
            </a:r>
            <a:endParaRPr b="1" i="0" sz="4000" u="none" cap="none" strike="noStrike">
              <a:solidFill>
                <a:srgbClr val="167D8D"/>
              </a:solidFill>
            </a:endParaRPr>
          </a:p>
        </p:txBody>
      </p:sp>
      <p:sp>
        <p:nvSpPr>
          <p:cNvPr id="103" name="Google Shape;103;p7"/>
          <p:cNvSpPr txBox="1"/>
          <p:nvPr/>
        </p:nvSpPr>
        <p:spPr>
          <a:xfrm>
            <a:off x="762000" y="3009900"/>
            <a:ext cx="3492600" cy="622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1900"/>
              <a:buFont typeface="Cambria"/>
              <a:buNone/>
            </a:pPr>
            <a:r>
              <a:rPr b="1" lang="en-US" sz="2700">
                <a:solidFill>
                  <a:srgbClr val="173541"/>
                </a:solidFill>
              </a:rPr>
              <a:t>Usage</a:t>
            </a:r>
            <a:endParaRPr b="1" i="0" sz="2700" u="none" cap="none" strike="noStrike">
              <a:solidFill>
                <a:srgbClr val="173541"/>
              </a:solidFill>
            </a:endParaRPr>
          </a:p>
        </p:txBody>
      </p:sp>
      <p:sp>
        <p:nvSpPr>
          <p:cNvPr id="104" name="Google Shape;104;p7"/>
          <p:cNvSpPr txBox="1"/>
          <p:nvPr/>
        </p:nvSpPr>
        <p:spPr>
          <a:xfrm>
            <a:off x="762000" y="3822700"/>
            <a:ext cx="3429000" cy="698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7F8E"/>
              </a:buClr>
              <a:buSzPts val="1500"/>
              <a:buFont typeface="Calibri"/>
              <a:buNone/>
            </a:pPr>
            <a:r>
              <a:rPr lang="en-US" sz="2100">
                <a:solidFill>
                  <a:srgbClr val="167D8D"/>
                </a:solidFill>
              </a:rPr>
              <a:t>AI running the model</a:t>
            </a:r>
            <a:endParaRPr i="0" sz="2100" u="none" cap="none" strike="noStrike">
              <a:solidFill>
                <a:srgbClr val="167D8D"/>
              </a:solidFill>
            </a:endParaRPr>
          </a:p>
        </p:txBody>
      </p:sp>
      <p:sp>
        <p:nvSpPr>
          <p:cNvPr id="105" name="Google Shape;105;p7"/>
          <p:cNvSpPr txBox="1"/>
          <p:nvPr/>
        </p:nvSpPr>
        <p:spPr>
          <a:xfrm>
            <a:off x="762000" y="4622800"/>
            <a:ext cx="3429000" cy="1206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33"/>
              </a:buClr>
              <a:buSzPts val="1500"/>
              <a:buFont typeface="Calibri"/>
              <a:buNone/>
            </a:pPr>
            <a:r>
              <a:rPr lang="en-US" sz="2000">
                <a:solidFill>
                  <a:srgbClr val="173541"/>
                </a:solidFill>
              </a:rPr>
              <a:t>Experiments, diagnostics,</a:t>
            </a:r>
            <a:endParaRPr sz="2000">
              <a:solidFill>
                <a:srgbClr val="173541"/>
              </a:solidFill>
            </a:endParaRPr>
          </a:p>
          <a:p>
            <a:pPr indent="0" lvl="0" marL="0" marR="0" rtl="0" algn="l">
              <a:lnSpc>
                <a:spcPct val="110000"/>
              </a:lnSpc>
              <a:spcBef>
                <a:spcPts val="0"/>
              </a:spcBef>
              <a:spcAft>
                <a:spcPts val="0"/>
              </a:spcAft>
              <a:buClr>
                <a:srgbClr val="1B2A33"/>
              </a:buClr>
              <a:buSzPts val="1500"/>
              <a:buFont typeface="Calibri"/>
              <a:buNone/>
            </a:pPr>
            <a:r>
              <a:rPr lang="en-US" sz="2000">
                <a:solidFill>
                  <a:srgbClr val="173541"/>
                </a:solidFill>
              </a:rPr>
              <a:t>and differentiable simulations.</a:t>
            </a:r>
            <a:endParaRPr sz="2000">
              <a:solidFill>
                <a:srgbClr val="173541"/>
              </a:solidFill>
            </a:endParaRPr>
          </a:p>
        </p:txBody>
      </p:sp>
      <p:sp>
        <p:nvSpPr>
          <p:cNvPr id="106" name="Google Shape;106;p7"/>
          <p:cNvSpPr txBox="1"/>
          <p:nvPr/>
        </p:nvSpPr>
        <p:spPr>
          <a:xfrm>
            <a:off x="4445000" y="2006600"/>
            <a:ext cx="3429000" cy="7365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FFFFF"/>
              </a:buClr>
              <a:buSzPts val="1800"/>
              <a:buFont typeface="Calibri"/>
              <a:buNone/>
            </a:pPr>
            <a:r>
              <a:rPr b="1" lang="en-US" sz="4000">
                <a:solidFill>
                  <a:srgbClr val="167D8D"/>
                </a:solidFill>
              </a:rPr>
              <a:t>02</a:t>
            </a:r>
            <a:endParaRPr b="1" i="0" sz="4000" u="none" cap="none" strike="noStrike">
              <a:solidFill>
                <a:srgbClr val="167D8D"/>
              </a:solidFill>
            </a:endParaRPr>
          </a:p>
        </p:txBody>
      </p:sp>
      <p:sp>
        <p:nvSpPr>
          <p:cNvPr id="107" name="Google Shape;107;p7"/>
          <p:cNvSpPr txBox="1"/>
          <p:nvPr/>
        </p:nvSpPr>
        <p:spPr>
          <a:xfrm>
            <a:off x="4445000" y="3009900"/>
            <a:ext cx="3492600" cy="622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1900"/>
              <a:buFont typeface="Cambria"/>
              <a:buNone/>
            </a:pPr>
            <a:r>
              <a:rPr b="1" lang="en-US" sz="2700">
                <a:solidFill>
                  <a:srgbClr val="173541"/>
                </a:solidFill>
              </a:rPr>
              <a:t>Development</a:t>
            </a:r>
            <a:endParaRPr b="1" i="0" sz="2700" u="none" cap="none" strike="noStrike">
              <a:solidFill>
                <a:srgbClr val="173541"/>
              </a:solidFill>
            </a:endParaRPr>
          </a:p>
        </p:txBody>
      </p:sp>
      <p:sp>
        <p:nvSpPr>
          <p:cNvPr id="108" name="Google Shape;108;p7"/>
          <p:cNvSpPr txBox="1"/>
          <p:nvPr/>
        </p:nvSpPr>
        <p:spPr>
          <a:xfrm>
            <a:off x="4445000" y="3822700"/>
            <a:ext cx="3429000" cy="698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7F8E"/>
              </a:buClr>
              <a:buSzPts val="1500"/>
              <a:buFont typeface="Calibri"/>
              <a:buNone/>
            </a:pPr>
            <a:r>
              <a:rPr lang="en-US" sz="2100">
                <a:solidFill>
                  <a:srgbClr val="167D8D"/>
                </a:solidFill>
              </a:rPr>
              <a:t>AI writing the model</a:t>
            </a:r>
            <a:endParaRPr i="0" sz="2100" u="none" cap="none" strike="noStrike">
              <a:solidFill>
                <a:srgbClr val="167D8D"/>
              </a:solidFill>
            </a:endParaRPr>
          </a:p>
        </p:txBody>
      </p:sp>
      <p:sp>
        <p:nvSpPr>
          <p:cNvPr id="109" name="Google Shape;109;p7"/>
          <p:cNvSpPr txBox="1"/>
          <p:nvPr/>
        </p:nvSpPr>
        <p:spPr>
          <a:xfrm>
            <a:off x="4445000" y="4622800"/>
            <a:ext cx="3429000" cy="1206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33"/>
              </a:buClr>
              <a:buSzPts val="1500"/>
              <a:buFont typeface="Calibri"/>
              <a:buNone/>
            </a:pPr>
            <a:r>
              <a:rPr lang="en-US" sz="2000">
                <a:solidFill>
                  <a:srgbClr val="173541"/>
                </a:solidFill>
              </a:rPr>
              <a:t>Implementation, review,</a:t>
            </a:r>
            <a:endParaRPr sz="2000">
              <a:solidFill>
                <a:srgbClr val="173541"/>
              </a:solidFill>
            </a:endParaRPr>
          </a:p>
          <a:p>
            <a:pPr indent="0" lvl="0" marL="0" marR="0" rtl="0" algn="l">
              <a:lnSpc>
                <a:spcPct val="110000"/>
              </a:lnSpc>
              <a:spcBef>
                <a:spcPts val="0"/>
              </a:spcBef>
              <a:spcAft>
                <a:spcPts val="0"/>
              </a:spcAft>
              <a:buClr>
                <a:srgbClr val="1B2A33"/>
              </a:buClr>
              <a:buSzPts val="1500"/>
              <a:buFont typeface="Calibri"/>
              <a:buNone/>
            </a:pPr>
            <a:r>
              <a:rPr lang="en-US" sz="2000">
                <a:solidFill>
                  <a:srgbClr val="173541"/>
                </a:solidFill>
              </a:rPr>
              <a:t>and shared understanding.</a:t>
            </a:r>
            <a:endParaRPr sz="2000">
              <a:solidFill>
                <a:srgbClr val="173541"/>
              </a:solidFill>
            </a:endParaRPr>
          </a:p>
        </p:txBody>
      </p:sp>
      <p:sp>
        <p:nvSpPr>
          <p:cNvPr id="110" name="Google Shape;110;p7"/>
          <p:cNvSpPr txBox="1"/>
          <p:nvPr/>
        </p:nvSpPr>
        <p:spPr>
          <a:xfrm>
            <a:off x="8128000" y="2006600"/>
            <a:ext cx="3429000" cy="7365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FFFFFF"/>
              </a:buClr>
              <a:buSzPts val="1800"/>
              <a:buFont typeface="Calibri"/>
              <a:buNone/>
            </a:pPr>
            <a:r>
              <a:rPr b="1" lang="en-US" sz="4000">
                <a:solidFill>
                  <a:srgbClr val="167D8D"/>
                </a:solidFill>
              </a:rPr>
              <a:t>03</a:t>
            </a:r>
            <a:endParaRPr b="1" i="0" sz="4000" u="none" cap="none" strike="noStrike">
              <a:solidFill>
                <a:srgbClr val="167D8D"/>
              </a:solidFill>
            </a:endParaRPr>
          </a:p>
        </p:txBody>
      </p:sp>
      <p:sp>
        <p:nvSpPr>
          <p:cNvPr id="111" name="Google Shape;111;p7"/>
          <p:cNvSpPr txBox="1"/>
          <p:nvPr/>
        </p:nvSpPr>
        <p:spPr>
          <a:xfrm>
            <a:off x="8128000" y="3009900"/>
            <a:ext cx="3492600" cy="622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1900"/>
              <a:buFont typeface="Cambria"/>
              <a:buNone/>
            </a:pPr>
            <a:r>
              <a:rPr b="1" lang="en-US" sz="2700">
                <a:solidFill>
                  <a:srgbClr val="173541"/>
                </a:solidFill>
              </a:rPr>
              <a:t>Parameterization</a:t>
            </a:r>
            <a:endParaRPr b="1" i="0" sz="2700" u="none" cap="none" strike="noStrike">
              <a:solidFill>
                <a:srgbClr val="173541"/>
              </a:solidFill>
            </a:endParaRPr>
          </a:p>
        </p:txBody>
      </p:sp>
      <p:sp>
        <p:nvSpPr>
          <p:cNvPr id="112" name="Google Shape;112;p7"/>
          <p:cNvSpPr txBox="1"/>
          <p:nvPr/>
        </p:nvSpPr>
        <p:spPr>
          <a:xfrm>
            <a:off x="8128000" y="3822700"/>
            <a:ext cx="3429000" cy="698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A7F8E"/>
              </a:buClr>
              <a:buSzPts val="1500"/>
              <a:buFont typeface="Calibri"/>
              <a:buNone/>
            </a:pPr>
            <a:r>
              <a:rPr lang="en-US" sz="2100">
                <a:solidFill>
                  <a:srgbClr val="167D8D"/>
                </a:solidFill>
              </a:rPr>
              <a:t>AI inside the model</a:t>
            </a:r>
            <a:endParaRPr i="0" sz="2100" u="none" cap="none" strike="noStrike">
              <a:solidFill>
                <a:srgbClr val="167D8D"/>
              </a:solidFill>
            </a:endParaRPr>
          </a:p>
        </p:txBody>
      </p:sp>
      <p:sp>
        <p:nvSpPr>
          <p:cNvPr id="113" name="Google Shape;113;p7"/>
          <p:cNvSpPr txBox="1"/>
          <p:nvPr/>
        </p:nvSpPr>
        <p:spPr>
          <a:xfrm>
            <a:off x="8128000" y="4622800"/>
            <a:ext cx="3429000" cy="1206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33"/>
              </a:buClr>
              <a:buSzPts val="1500"/>
              <a:buFont typeface="Calibri"/>
              <a:buNone/>
            </a:pPr>
            <a:r>
              <a:rPr lang="en-US" sz="2000">
                <a:solidFill>
                  <a:srgbClr val="173541"/>
                </a:solidFill>
              </a:rPr>
              <a:t>Calibration, learned closures,</a:t>
            </a:r>
            <a:endParaRPr sz="2000">
              <a:solidFill>
                <a:srgbClr val="173541"/>
              </a:solidFill>
            </a:endParaRPr>
          </a:p>
          <a:p>
            <a:pPr indent="0" lvl="0" marL="0" marR="0" rtl="0" algn="l">
              <a:lnSpc>
                <a:spcPct val="110000"/>
              </a:lnSpc>
              <a:spcBef>
                <a:spcPts val="0"/>
              </a:spcBef>
              <a:spcAft>
                <a:spcPts val="0"/>
              </a:spcAft>
              <a:buClr>
                <a:srgbClr val="1B2A33"/>
              </a:buClr>
              <a:buSzPts val="1500"/>
              <a:buFont typeface="Calibri"/>
              <a:buNone/>
            </a:pPr>
            <a:r>
              <a:rPr lang="en-US" sz="2000">
                <a:solidFill>
                  <a:srgbClr val="173541"/>
                </a:solidFill>
              </a:rPr>
              <a:t>and online validation.</a:t>
            </a:r>
            <a:endParaRPr sz="2000">
              <a:solidFill>
                <a:srgbClr val="17354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118" name="Shape 118"/>
        <p:cNvGrpSpPr/>
        <p:nvPr/>
      </p:nvGrpSpPr>
      <p:grpSpPr>
        <a:xfrm>
          <a:off x="0" y="0"/>
          <a:ext cx="0" cy="0"/>
          <a:chOff x="0" y="0"/>
          <a:chExt cx="0" cy="0"/>
        </a:xfrm>
      </p:grpSpPr>
      <p:sp>
        <p:nvSpPr>
          <p:cNvPr id="119" name="Google Shape;119;p8"/>
          <p:cNvSpPr txBox="1"/>
          <p:nvPr/>
        </p:nvSpPr>
        <p:spPr>
          <a:xfrm>
            <a:off x="762000" y="2413000"/>
            <a:ext cx="10668000" cy="114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5600">
                <a:solidFill>
                  <a:srgbClr val="F6F5F0"/>
                </a:solidFill>
              </a:rPr>
              <a:t>Usage</a:t>
            </a:r>
            <a:endParaRPr b="1" i="0" sz="5600" u="none" cap="none" strike="noStrike">
              <a:solidFill>
                <a:srgbClr val="F6F5F0"/>
              </a:solidFill>
            </a:endParaRPr>
          </a:p>
        </p:txBody>
      </p:sp>
      <p:sp>
        <p:nvSpPr>
          <p:cNvPr id="120" name="Google Shape;120;p8"/>
          <p:cNvSpPr txBox="1"/>
          <p:nvPr/>
        </p:nvSpPr>
        <p:spPr>
          <a:xfrm>
            <a:off x="762000" y="3898900"/>
            <a:ext cx="10032900" cy="120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800">
                <a:solidFill>
                  <a:srgbClr val="8FD5CA"/>
                </a:solidFill>
              </a:rPr>
              <a:t>Designing experiments and interpreting model behavior</a:t>
            </a:r>
            <a:endParaRPr sz="2800">
              <a:solidFill>
                <a:srgbClr val="8FD5CA"/>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125" name="Shape 125"/>
        <p:cNvGrpSpPr/>
        <p:nvPr/>
      </p:nvGrpSpPr>
      <p:grpSpPr>
        <a:xfrm>
          <a:off x="0" y="0"/>
          <a:ext cx="0" cy="0"/>
          <a:chOff x="0" y="0"/>
          <a:chExt cx="0" cy="0"/>
        </a:xfrm>
      </p:grpSpPr>
      <p:sp>
        <p:nvSpPr>
          <p:cNvPr id="126" name="Google Shape;126;p9"/>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AI-assisted experiments</a:t>
            </a:r>
            <a:endParaRPr b="1" i="0" sz="3200" u="none" cap="none" strike="noStrike">
              <a:solidFill>
                <a:srgbClr val="173541"/>
              </a:solidFill>
            </a:endParaRPr>
          </a:p>
        </p:txBody>
      </p:sp>
      <p:sp>
        <p:nvSpPr>
          <p:cNvPr id="127" name="Google Shape;127;p9"/>
          <p:cNvSpPr txBox="1"/>
          <p:nvPr/>
        </p:nvSpPr>
        <p:spPr>
          <a:xfrm>
            <a:off x="762000" y="17780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A useful agent workflow should produce</a:t>
            </a:r>
            <a:endParaRPr b="1" sz="2900">
              <a:solidFill>
                <a:srgbClr val="167D8D"/>
              </a:solidFill>
            </a:endParaRPr>
          </a:p>
          <a:p>
            <a:pPr indent="0" lvl="0" marL="0" rtl="0" algn="l">
              <a:lnSpc>
                <a:spcPct val="110000"/>
              </a:lnSpc>
              <a:spcBef>
                <a:spcPts val="0"/>
              </a:spcBef>
              <a:spcAft>
                <a:spcPts val="0"/>
              </a:spcAft>
              <a:buNone/>
            </a:pPr>
            <a:r>
              <a:rPr b="1" lang="en-US" sz="2900">
                <a:solidFill>
                  <a:srgbClr val="167D8D"/>
                </a:solidFill>
              </a:rPr>
              <a:t>evidence we can inspect.</a:t>
            </a:r>
            <a:endParaRPr b="1" sz="2900">
              <a:solidFill>
                <a:srgbClr val="167D8D"/>
              </a:solidFill>
            </a:endParaRPr>
          </a:p>
        </p:txBody>
      </p:sp>
      <p:sp>
        <p:nvSpPr>
          <p:cNvPr id="128" name="Google Shape;128;p9"/>
          <p:cNvSpPr txBox="1"/>
          <p:nvPr/>
        </p:nvSpPr>
        <p:spPr>
          <a:xfrm>
            <a:off x="762000" y="3302000"/>
            <a:ext cx="10668000" cy="158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Specify the scientific question and baseline.</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Run controlled comparisons and record the configuration.</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Inspect diagnostics and explain unexpected behavior.</a:t>
            </a:r>
            <a:endParaRPr sz="2400">
              <a:solidFill>
                <a:srgbClr val="173541"/>
              </a:solidFill>
            </a:endParaRPr>
          </a:p>
        </p:txBody>
      </p:sp>
      <p:sp>
        <p:nvSpPr>
          <p:cNvPr id="129" name="Google Shape;129;p9"/>
          <p:cNvSpPr txBox="1"/>
          <p:nvPr/>
        </p:nvSpPr>
        <p:spPr>
          <a:xfrm>
            <a:off x="762000" y="5194300"/>
            <a:ext cx="106680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300">
                <a:solidFill>
                  <a:srgbClr val="173541"/>
                </a:solidFill>
              </a:rPr>
              <a:t>Which decisions can an agent make—and which need us?</a:t>
            </a:r>
            <a:endParaRPr b="1" sz="2300">
              <a:solidFill>
                <a:srgbClr val="173541"/>
              </a:solidFill>
            </a:endParaRPr>
          </a:p>
        </p:txBody>
      </p:sp>
      <p:sp>
        <p:nvSpPr>
          <p:cNvPr id="130" name="Google Shape;130;p9"/>
          <p:cNvSpPr txBox="1"/>
          <p:nvPr/>
        </p:nvSpPr>
        <p:spPr>
          <a:xfrm>
            <a:off x="762000" y="6350000"/>
            <a:ext cx="10668000" cy="304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chemeClr val="hlink"/>
                </a:solidFill>
                <a:hlinkClick r:id="rId3"/>
              </a:rPr>
              <a:t>Related perspective: Held (2005), The Gap between Simulation and Understanding</a:t>
            </a:r>
            <a:endParaRPr sz="1100">
              <a:solidFill>
                <a:srgbClr val="58717A"/>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135" name="Shape 135"/>
        <p:cNvGrpSpPr/>
        <p:nvPr/>
      </p:nvGrpSpPr>
      <p:grpSpPr>
        <a:xfrm>
          <a:off x="0" y="0"/>
          <a:ext cx="0" cy="0"/>
          <a:chOff x="0" y="0"/>
          <a:chExt cx="0" cy="0"/>
        </a:xfrm>
      </p:grpSpPr>
      <p:sp>
        <p:nvSpPr>
          <p:cNvPr id="136" name="Google Shape;136;p10"/>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Differentiating through a simulation</a:t>
            </a:r>
            <a:endParaRPr b="1" i="0" sz="3200" u="none" cap="none" strike="noStrike">
              <a:solidFill>
                <a:srgbClr val="173541"/>
              </a:solidFill>
            </a:endParaRPr>
          </a:p>
        </p:txBody>
      </p:sp>
      <p:sp>
        <p:nvSpPr>
          <p:cNvPr id="137" name="Google Shape;137;p10"/>
          <p:cNvSpPr txBox="1"/>
          <p:nvPr/>
        </p:nvSpPr>
        <p:spPr>
          <a:xfrm>
            <a:off x="762000" y="17780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A single-column twin experiment</a:t>
            </a:r>
            <a:endParaRPr b="1" sz="2900">
              <a:solidFill>
                <a:srgbClr val="167D8D"/>
              </a:solidFill>
            </a:endParaRPr>
          </a:p>
          <a:p>
            <a:pPr indent="0" lvl="0" marL="0" rtl="0" algn="l">
              <a:lnSpc>
                <a:spcPct val="110000"/>
              </a:lnSpc>
              <a:spcBef>
                <a:spcPts val="0"/>
              </a:spcBef>
              <a:spcAft>
                <a:spcPts val="0"/>
              </a:spcAft>
              <a:buNone/>
            </a:pPr>
            <a:r>
              <a:rPr b="1" lang="en-US" sz="2900">
                <a:solidFill>
                  <a:srgbClr val="167D8D"/>
                </a:solidFill>
              </a:rPr>
              <a:t>recovers parameters from synthetic observations.</a:t>
            </a:r>
            <a:endParaRPr b="1" sz="2900">
              <a:solidFill>
                <a:srgbClr val="167D8D"/>
              </a:solidFill>
            </a:endParaRPr>
          </a:p>
        </p:txBody>
      </p:sp>
      <p:sp>
        <p:nvSpPr>
          <p:cNvPr id="138" name="Google Shape;138;p10"/>
          <p:cNvSpPr txBox="1"/>
          <p:nvPr/>
        </p:nvSpPr>
        <p:spPr>
          <a:xfrm>
            <a:off x="762000" y="3302000"/>
            <a:ext cx="10668000" cy="158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Oceananigans PR #5013 differentiates a simulation</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with Reactant + Enzyme and uses BFGS to estimate</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closure constants and surface fluxes.</a:t>
            </a:r>
            <a:endParaRPr sz="2400">
              <a:solidFill>
                <a:srgbClr val="173541"/>
              </a:solidFill>
            </a:endParaRPr>
          </a:p>
        </p:txBody>
      </p:sp>
      <p:sp>
        <p:nvSpPr>
          <p:cNvPr id="139" name="Google Shape;139;p10"/>
          <p:cNvSpPr txBox="1"/>
          <p:nvPr/>
        </p:nvSpPr>
        <p:spPr>
          <a:xfrm>
            <a:off x="762000" y="5194300"/>
            <a:ext cx="106680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300">
                <a:solidFill>
                  <a:srgbClr val="173541"/>
                </a:solidFill>
              </a:rPr>
              <a:t>Recovery in a twin experiment is a demonstration,</a:t>
            </a:r>
            <a:endParaRPr b="1" sz="2300">
              <a:solidFill>
                <a:srgbClr val="173541"/>
              </a:solidFill>
            </a:endParaRPr>
          </a:p>
          <a:p>
            <a:pPr indent="0" lvl="0" marL="0" rtl="0" algn="l">
              <a:lnSpc>
                <a:spcPct val="110000"/>
              </a:lnSpc>
              <a:spcBef>
                <a:spcPts val="0"/>
              </a:spcBef>
              <a:spcAft>
                <a:spcPts val="0"/>
              </a:spcAft>
              <a:buNone/>
            </a:pPr>
            <a:r>
              <a:rPr b="1" lang="en-US" sz="2300">
                <a:solidFill>
                  <a:srgbClr val="173541"/>
                </a:solidFill>
              </a:rPr>
              <a:t>not validation against the real ocean.</a:t>
            </a:r>
            <a:endParaRPr b="1" sz="2300">
              <a:solidFill>
                <a:srgbClr val="173541"/>
              </a:solidFill>
            </a:endParaRPr>
          </a:p>
        </p:txBody>
      </p:sp>
      <p:sp>
        <p:nvSpPr>
          <p:cNvPr id="140" name="Google Shape;140;p10"/>
          <p:cNvSpPr txBox="1"/>
          <p:nvPr/>
        </p:nvSpPr>
        <p:spPr>
          <a:xfrm>
            <a:off x="762000" y="6350000"/>
            <a:ext cx="10668000" cy="304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chemeClr val="hlink"/>
                </a:solidFill>
                <a:hlinkClick r:id="rId3"/>
              </a:rPr>
              <a:t>Oceananigans PR #5013 · merged 25 September 2026</a:t>
            </a:r>
            <a:endParaRPr sz="1100">
              <a:solidFill>
                <a:srgbClr val="58717A"/>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145" name="Shape 145"/>
        <p:cNvGrpSpPr/>
        <p:nvPr/>
      </p:nvGrpSpPr>
      <p:grpSpPr>
        <a:xfrm>
          <a:off x="0" y="0"/>
          <a:ext cx="0" cy="0"/>
          <a:chOff x="0" y="0"/>
          <a:chExt cx="0" cy="0"/>
        </a:xfrm>
      </p:grpSpPr>
      <p:sp>
        <p:nvSpPr>
          <p:cNvPr id="146" name="Google Shape;146;p11"/>
          <p:cNvSpPr txBox="1"/>
          <p:nvPr/>
        </p:nvSpPr>
        <p:spPr>
          <a:xfrm>
            <a:off x="762000" y="2413000"/>
            <a:ext cx="10668000" cy="114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i="0" lang="en-US" sz="5600" u="none" cap="none" strike="noStrike">
                <a:solidFill>
                  <a:srgbClr val="F6F5F0"/>
                </a:solidFill>
              </a:rPr>
              <a:t>Development</a:t>
            </a:r>
            <a:endParaRPr b="1" i="0" sz="5600" u="none" cap="none" strike="noStrike">
              <a:solidFill>
                <a:srgbClr val="F6F5F0"/>
              </a:solidFill>
            </a:endParaRPr>
          </a:p>
        </p:txBody>
      </p:sp>
      <p:sp>
        <p:nvSpPr>
          <p:cNvPr id="147" name="Google Shape;147;p11"/>
          <p:cNvSpPr txBox="1"/>
          <p:nvPr/>
        </p:nvSpPr>
        <p:spPr>
          <a:xfrm>
            <a:off x="762000" y="3898900"/>
            <a:ext cx="10032900" cy="120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800">
                <a:solidFill>
                  <a:srgbClr val="8FD5CA"/>
                </a:solidFill>
              </a:rPr>
              <a:t>Writing code, reviewing changes, and retaining understanding</a:t>
            </a:r>
            <a:endParaRPr sz="2800">
              <a:solidFill>
                <a:srgbClr val="8FD5CA"/>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152" name="Shape 152"/>
        <p:cNvGrpSpPr/>
        <p:nvPr/>
      </p:nvGrpSpPr>
      <p:grpSpPr>
        <a:xfrm>
          <a:off x="0" y="0"/>
          <a:ext cx="0" cy="0"/>
          <a:chOff x="0" y="0"/>
          <a:chExt cx="0" cy="0"/>
        </a:xfrm>
      </p:grpSpPr>
      <p:sp>
        <p:nvSpPr>
          <p:cNvPr id="153" name="Google Shape;153;p12"/>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A short history of LLMs for coding</a:t>
            </a:r>
            <a:endParaRPr b="1" i="0" sz="3200" u="none" cap="none" strike="noStrike">
              <a:solidFill>
                <a:srgbClr val="173541"/>
              </a:solidFill>
            </a:endParaRPr>
          </a:p>
        </p:txBody>
      </p:sp>
      <p:sp>
        <p:nvSpPr>
          <p:cNvPr id="154" name="Google Shape;154;p12"/>
          <p:cNvSpPr txBox="1"/>
          <p:nvPr/>
        </p:nvSpPr>
        <p:spPr>
          <a:xfrm>
            <a:off x="762000" y="1587500"/>
            <a:ext cx="106680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rgbClr val="167D8D"/>
                </a:solidFill>
              </a:rPr>
              <a:t>From code completion to coding agents</a:t>
            </a:r>
            <a:endParaRPr b="1" sz="2600">
              <a:solidFill>
                <a:srgbClr val="167D8D"/>
              </a:solidFill>
            </a:endParaRPr>
          </a:p>
        </p:txBody>
      </p:sp>
      <p:cxnSp>
        <p:nvCxnSpPr>
          <p:cNvPr id="155" name="Google Shape;155;p12"/>
          <p:cNvCxnSpPr/>
          <p:nvPr/>
        </p:nvCxnSpPr>
        <p:spPr>
          <a:xfrm>
            <a:off x="952500" y="2705100"/>
            <a:ext cx="10223400" cy="0"/>
          </a:xfrm>
          <a:prstGeom prst="straightConnector1">
            <a:avLst/>
          </a:prstGeom>
          <a:noFill/>
          <a:ln cap="flat" cmpd="sng" w="38100">
            <a:solidFill>
              <a:srgbClr val="167D8D"/>
            </a:solidFill>
            <a:prstDash val="solid"/>
            <a:round/>
            <a:headEnd len="med" w="med" type="none"/>
            <a:tailEnd len="med" w="med" type="none"/>
          </a:ln>
        </p:spPr>
      </p:cxnSp>
      <p:sp>
        <p:nvSpPr>
          <p:cNvPr id="156" name="Google Shape;156;p12"/>
          <p:cNvSpPr txBox="1"/>
          <p:nvPr/>
        </p:nvSpPr>
        <p:spPr>
          <a:xfrm>
            <a:off x="762000" y="2184400"/>
            <a:ext cx="24765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solidFill>
                  <a:srgbClr val="173541"/>
                </a:solidFill>
              </a:rPr>
              <a:t>2021</a:t>
            </a:r>
            <a:endParaRPr b="1" sz="2700">
              <a:solidFill>
                <a:srgbClr val="173541"/>
              </a:solidFill>
            </a:endParaRPr>
          </a:p>
        </p:txBody>
      </p:sp>
      <p:sp>
        <p:nvSpPr>
          <p:cNvPr id="157" name="Google Shape;157;p12"/>
          <p:cNvSpPr/>
          <p:nvPr/>
        </p:nvSpPr>
        <p:spPr>
          <a:xfrm>
            <a:off x="914400" y="2628900"/>
            <a:ext cx="152400" cy="1524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2"/>
          <p:cNvSpPr txBox="1"/>
          <p:nvPr/>
        </p:nvSpPr>
        <p:spPr>
          <a:xfrm>
            <a:off x="762000" y="3009900"/>
            <a:ext cx="26034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73541"/>
                </a:solidFill>
              </a:rPr>
              <a:t>Completion</a:t>
            </a:r>
            <a:endParaRPr b="1" sz="2400">
              <a:solidFill>
                <a:srgbClr val="173541"/>
              </a:solidFill>
            </a:endParaRPr>
          </a:p>
        </p:txBody>
      </p:sp>
      <p:sp>
        <p:nvSpPr>
          <p:cNvPr id="159" name="Google Shape;159;p12"/>
          <p:cNvSpPr txBox="1"/>
          <p:nvPr/>
        </p:nvSpPr>
        <p:spPr>
          <a:xfrm>
            <a:off x="762000" y="3657600"/>
            <a:ext cx="2692500" cy="13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173541"/>
                </a:solidFill>
              </a:rPr>
              <a:t>GitHub Copilot</a:t>
            </a:r>
            <a:endParaRPr sz="2000">
              <a:solidFill>
                <a:srgbClr val="173541"/>
              </a:solidFill>
            </a:endParaRPr>
          </a:p>
          <a:p>
            <a:pPr indent="0" lvl="0" marL="0" rtl="0" algn="l">
              <a:spcBef>
                <a:spcPts val="0"/>
              </a:spcBef>
              <a:spcAft>
                <a:spcPts val="0"/>
              </a:spcAft>
              <a:buNone/>
            </a:pPr>
            <a:r>
              <a:rPr lang="en-US" sz="2000">
                <a:solidFill>
                  <a:srgbClr val="173541"/>
                </a:solidFill>
              </a:rPr>
              <a:t>preview: suggest</a:t>
            </a:r>
            <a:endParaRPr sz="2000">
              <a:solidFill>
                <a:srgbClr val="173541"/>
              </a:solidFill>
            </a:endParaRPr>
          </a:p>
          <a:p>
            <a:pPr indent="0" lvl="0" marL="0" rtl="0" algn="l">
              <a:spcBef>
                <a:spcPts val="0"/>
              </a:spcBef>
              <a:spcAft>
                <a:spcPts val="0"/>
              </a:spcAft>
              <a:buNone/>
            </a:pPr>
            <a:r>
              <a:rPr lang="en-US" sz="2000">
                <a:solidFill>
                  <a:srgbClr val="173541"/>
                </a:solidFill>
              </a:rPr>
              <a:t>code in the editor.</a:t>
            </a:r>
            <a:endParaRPr sz="2000">
              <a:solidFill>
                <a:srgbClr val="173541"/>
              </a:solidFill>
            </a:endParaRPr>
          </a:p>
        </p:txBody>
      </p:sp>
      <p:sp>
        <p:nvSpPr>
          <p:cNvPr id="160" name="Google Shape;160;p12"/>
          <p:cNvSpPr txBox="1"/>
          <p:nvPr/>
        </p:nvSpPr>
        <p:spPr>
          <a:xfrm>
            <a:off x="762000" y="5257800"/>
            <a:ext cx="26796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58717A"/>
                </a:solidFill>
                <a:hlinkClick r:id="rId3">
                  <a:extLst>
                    <a:ext uri="{A12FA001-AC4F-418D-AE19-62706E023703}">
                      <ahyp:hlinkClr val="tx"/>
                    </a:ext>
                  </a:extLst>
                </a:hlinkClick>
              </a:rPr>
              <a:t>GitHub · Jun 2021</a:t>
            </a:r>
            <a:endParaRPr sz="1100">
              <a:solidFill>
                <a:srgbClr val="58717A"/>
              </a:solidFill>
            </a:endParaRPr>
          </a:p>
        </p:txBody>
      </p:sp>
      <p:sp>
        <p:nvSpPr>
          <p:cNvPr id="161" name="Google Shape;161;p12"/>
          <p:cNvSpPr txBox="1"/>
          <p:nvPr/>
        </p:nvSpPr>
        <p:spPr>
          <a:xfrm>
            <a:off x="3492500" y="2184400"/>
            <a:ext cx="24765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solidFill>
                  <a:srgbClr val="173541"/>
                </a:solidFill>
              </a:rPr>
              <a:t>2022</a:t>
            </a:r>
            <a:endParaRPr b="1" sz="2700">
              <a:solidFill>
                <a:srgbClr val="173541"/>
              </a:solidFill>
            </a:endParaRPr>
          </a:p>
        </p:txBody>
      </p:sp>
      <p:sp>
        <p:nvSpPr>
          <p:cNvPr id="162" name="Google Shape;162;p12"/>
          <p:cNvSpPr/>
          <p:nvPr/>
        </p:nvSpPr>
        <p:spPr>
          <a:xfrm>
            <a:off x="3644900" y="2628900"/>
            <a:ext cx="152400" cy="1524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12"/>
          <p:cNvSpPr txBox="1"/>
          <p:nvPr/>
        </p:nvSpPr>
        <p:spPr>
          <a:xfrm>
            <a:off x="3492500" y="3009900"/>
            <a:ext cx="26034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73541"/>
                </a:solidFill>
              </a:rPr>
              <a:t>Conversation</a:t>
            </a:r>
            <a:endParaRPr b="1" sz="2400">
              <a:solidFill>
                <a:srgbClr val="173541"/>
              </a:solidFill>
            </a:endParaRPr>
          </a:p>
        </p:txBody>
      </p:sp>
      <p:sp>
        <p:nvSpPr>
          <p:cNvPr id="164" name="Google Shape;164;p12"/>
          <p:cNvSpPr txBox="1"/>
          <p:nvPr/>
        </p:nvSpPr>
        <p:spPr>
          <a:xfrm>
            <a:off x="3492500" y="3657600"/>
            <a:ext cx="2692500" cy="13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173541"/>
                </a:solidFill>
              </a:rPr>
              <a:t>ChatGPT: explain,</a:t>
            </a:r>
            <a:endParaRPr sz="2000">
              <a:solidFill>
                <a:srgbClr val="173541"/>
              </a:solidFill>
            </a:endParaRPr>
          </a:p>
          <a:p>
            <a:pPr indent="0" lvl="0" marL="0" rtl="0" algn="l">
              <a:spcBef>
                <a:spcPts val="0"/>
              </a:spcBef>
              <a:spcAft>
                <a:spcPts val="0"/>
              </a:spcAft>
              <a:buNone/>
            </a:pPr>
            <a:r>
              <a:rPr lang="en-US" sz="2000">
                <a:solidFill>
                  <a:srgbClr val="173541"/>
                </a:solidFill>
              </a:rPr>
              <a:t>generate and debug</a:t>
            </a:r>
            <a:endParaRPr sz="2000">
              <a:solidFill>
                <a:srgbClr val="173541"/>
              </a:solidFill>
            </a:endParaRPr>
          </a:p>
          <a:p>
            <a:pPr indent="0" lvl="0" marL="0" rtl="0" algn="l">
              <a:spcBef>
                <a:spcPts val="0"/>
              </a:spcBef>
              <a:spcAft>
                <a:spcPts val="0"/>
              </a:spcAft>
              <a:buNone/>
            </a:pPr>
            <a:r>
              <a:rPr lang="en-US" sz="2000">
                <a:solidFill>
                  <a:srgbClr val="173541"/>
                </a:solidFill>
              </a:rPr>
              <a:t>code through chat.</a:t>
            </a:r>
            <a:endParaRPr sz="2000">
              <a:solidFill>
                <a:srgbClr val="173541"/>
              </a:solidFill>
            </a:endParaRPr>
          </a:p>
        </p:txBody>
      </p:sp>
      <p:sp>
        <p:nvSpPr>
          <p:cNvPr id="165" name="Google Shape;165;p12"/>
          <p:cNvSpPr txBox="1"/>
          <p:nvPr/>
        </p:nvSpPr>
        <p:spPr>
          <a:xfrm>
            <a:off x="3492500" y="5257800"/>
            <a:ext cx="26796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58717A"/>
                </a:solidFill>
                <a:hlinkClick r:id="rId4">
                  <a:extLst>
                    <a:ext uri="{A12FA001-AC4F-418D-AE19-62706E023703}">
                      <ahyp:hlinkClr val="tx"/>
                    </a:ext>
                  </a:extLst>
                </a:hlinkClick>
              </a:rPr>
              <a:t>OpenAI · Nov 2022</a:t>
            </a:r>
            <a:endParaRPr sz="1100">
              <a:solidFill>
                <a:srgbClr val="58717A"/>
              </a:solidFill>
            </a:endParaRPr>
          </a:p>
        </p:txBody>
      </p:sp>
      <p:sp>
        <p:nvSpPr>
          <p:cNvPr id="166" name="Google Shape;166;p12"/>
          <p:cNvSpPr txBox="1"/>
          <p:nvPr/>
        </p:nvSpPr>
        <p:spPr>
          <a:xfrm>
            <a:off x="6223000" y="2184400"/>
            <a:ext cx="24765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solidFill>
                  <a:srgbClr val="173541"/>
                </a:solidFill>
              </a:rPr>
              <a:t>2023</a:t>
            </a:r>
            <a:endParaRPr b="1" sz="2700">
              <a:solidFill>
                <a:srgbClr val="173541"/>
              </a:solidFill>
            </a:endParaRPr>
          </a:p>
        </p:txBody>
      </p:sp>
      <p:sp>
        <p:nvSpPr>
          <p:cNvPr id="167" name="Google Shape;167;p12"/>
          <p:cNvSpPr/>
          <p:nvPr/>
        </p:nvSpPr>
        <p:spPr>
          <a:xfrm>
            <a:off x="6375400" y="2628900"/>
            <a:ext cx="152400" cy="1524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12"/>
          <p:cNvSpPr txBox="1"/>
          <p:nvPr/>
        </p:nvSpPr>
        <p:spPr>
          <a:xfrm>
            <a:off x="6223000" y="3009900"/>
            <a:ext cx="26034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73541"/>
                </a:solidFill>
              </a:rPr>
              <a:t>In the editor</a:t>
            </a:r>
            <a:endParaRPr b="1" sz="2400">
              <a:solidFill>
                <a:srgbClr val="173541"/>
              </a:solidFill>
            </a:endParaRPr>
          </a:p>
        </p:txBody>
      </p:sp>
      <p:sp>
        <p:nvSpPr>
          <p:cNvPr id="169" name="Google Shape;169;p12"/>
          <p:cNvSpPr txBox="1"/>
          <p:nvPr/>
        </p:nvSpPr>
        <p:spPr>
          <a:xfrm>
            <a:off x="6223000" y="3657600"/>
            <a:ext cx="2692500" cy="13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173541"/>
                </a:solidFill>
              </a:rPr>
              <a:t>Copilot Chat reaches</a:t>
            </a:r>
            <a:endParaRPr sz="2000">
              <a:solidFill>
                <a:srgbClr val="173541"/>
              </a:solidFill>
            </a:endParaRPr>
          </a:p>
          <a:p>
            <a:pPr indent="0" lvl="0" marL="0" rtl="0" algn="l">
              <a:spcBef>
                <a:spcPts val="0"/>
              </a:spcBef>
              <a:spcAft>
                <a:spcPts val="0"/>
              </a:spcAft>
              <a:buNone/>
            </a:pPr>
            <a:r>
              <a:rPr lang="en-US" sz="2000">
                <a:solidFill>
                  <a:srgbClr val="173541"/>
                </a:solidFill>
              </a:rPr>
              <a:t>general availability</a:t>
            </a:r>
            <a:endParaRPr sz="2000">
              <a:solidFill>
                <a:srgbClr val="173541"/>
              </a:solidFill>
            </a:endParaRPr>
          </a:p>
          <a:p>
            <a:pPr indent="0" lvl="0" marL="0" rtl="0" algn="l">
              <a:spcBef>
                <a:spcPts val="0"/>
              </a:spcBef>
              <a:spcAft>
                <a:spcPts val="0"/>
              </a:spcAft>
              <a:buNone/>
            </a:pPr>
            <a:r>
              <a:rPr lang="en-US" sz="2000">
                <a:solidFill>
                  <a:srgbClr val="173541"/>
                </a:solidFill>
              </a:rPr>
              <a:t>in VS Code / VS.</a:t>
            </a:r>
            <a:endParaRPr sz="2000">
              <a:solidFill>
                <a:srgbClr val="173541"/>
              </a:solidFill>
            </a:endParaRPr>
          </a:p>
        </p:txBody>
      </p:sp>
      <p:sp>
        <p:nvSpPr>
          <p:cNvPr id="170" name="Google Shape;170;p12"/>
          <p:cNvSpPr txBox="1"/>
          <p:nvPr/>
        </p:nvSpPr>
        <p:spPr>
          <a:xfrm>
            <a:off x="6223000" y="5257800"/>
            <a:ext cx="26796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58717A"/>
                </a:solidFill>
                <a:hlinkClick r:id="rId5">
                  <a:extLst>
                    <a:ext uri="{A12FA001-AC4F-418D-AE19-62706E023703}">
                      <ahyp:hlinkClr val="tx"/>
                    </a:ext>
                  </a:extLst>
                </a:hlinkClick>
              </a:rPr>
              <a:t>GitHub · Dec 2023</a:t>
            </a:r>
            <a:endParaRPr sz="1100">
              <a:solidFill>
                <a:srgbClr val="58717A"/>
              </a:solidFill>
            </a:endParaRPr>
          </a:p>
        </p:txBody>
      </p:sp>
      <p:sp>
        <p:nvSpPr>
          <p:cNvPr id="171" name="Google Shape;171;p12"/>
          <p:cNvSpPr txBox="1"/>
          <p:nvPr/>
        </p:nvSpPr>
        <p:spPr>
          <a:xfrm>
            <a:off x="8953500" y="2184400"/>
            <a:ext cx="24765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solidFill>
                  <a:srgbClr val="173541"/>
                </a:solidFill>
              </a:rPr>
              <a:t>2025</a:t>
            </a:r>
            <a:endParaRPr b="1" sz="2700">
              <a:solidFill>
                <a:srgbClr val="173541"/>
              </a:solidFill>
            </a:endParaRPr>
          </a:p>
        </p:txBody>
      </p:sp>
      <p:sp>
        <p:nvSpPr>
          <p:cNvPr id="172" name="Google Shape;172;p12"/>
          <p:cNvSpPr/>
          <p:nvPr/>
        </p:nvSpPr>
        <p:spPr>
          <a:xfrm>
            <a:off x="9105900" y="2628900"/>
            <a:ext cx="152400" cy="1524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12"/>
          <p:cNvSpPr txBox="1"/>
          <p:nvPr/>
        </p:nvSpPr>
        <p:spPr>
          <a:xfrm>
            <a:off x="8953500" y="3009900"/>
            <a:ext cx="26034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73541"/>
                </a:solidFill>
              </a:rPr>
              <a:t>Agents</a:t>
            </a:r>
            <a:endParaRPr b="1" sz="2400">
              <a:solidFill>
                <a:srgbClr val="173541"/>
              </a:solidFill>
            </a:endParaRPr>
          </a:p>
        </p:txBody>
      </p:sp>
      <p:sp>
        <p:nvSpPr>
          <p:cNvPr id="174" name="Google Shape;174;p12"/>
          <p:cNvSpPr txBox="1"/>
          <p:nvPr/>
        </p:nvSpPr>
        <p:spPr>
          <a:xfrm>
            <a:off x="8953500" y="3657600"/>
            <a:ext cx="2692500" cy="13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173541"/>
                </a:solidFill>
              </a:rPr>
              <a:t>Claude Code + Codex:</a:t>
            </a:r>
            <a:endParaRPr sz="2000">
              <a:solidFill>
                <a:srgbClr val="173541"/>
              </a:solidFill>
            </a:endParaRPr>
          </a:p>
          <a:p>
            <a:pPr indent="0" lvl="0" marL="0" rtl="0" algn="l">
              <a:spcBef>
                <a:spcPts val="0"/>
              </a:spcBef>
              <a:spcAft>
                <a:spcPts val="0"/>
              </a:spcAft>
              <a:buNone/>
            </a:pPr>
            <a:r>
              <a:rPr lang="en-US" sz="2000">
                <a:solidFill>
                  <a:srgbClr val="173541"/>
                </a:solidFill>
              </a:rPr>
              <a:t>inspect repositories,</a:t>
            </a:r>
            <a:endParaRPr sz="2000">
              <a:solidFill>
                <a:srgbClr val="173541"/>
              </a:solidFill>
            </a:endParaRPr>
          </a:p>
          <a:p>
            <a:pPr indent="0" lvl="0" marL="0" rtl="0" algn="l">
              <a:spcBef>
                <a:spcPts val="0"/>
              </a:spcBef>
              <a:spcAft>
                <a:spcPts val="0"/>
              </a:spcAft>
              <a:buNone/>
            </a:pPr>
            <a:r>
              <a:rPr lang="en-US" sz="2000">
                <a:solidFill>
                  <a:srgbClr val="173541"/>
                </a:solidFill>
              </a:rPr>
              <a:t>edit files, run tests.</a:t>
            </a:r>
            <a:endParaRPr sz="2000">
              <a:solidFill>
                <a:srgbClr val="173541"/>
              </a:solidFill>
            </a:endParaRPr>
          </a:p>
        </p:txBody>
      </p:sp>
      <p:sp>
        <p:nvSpPr>
          <p:cNvPr id="175" name="Google Shape;175;p12"/>
          <p:cNvSpPr txBox="1"/>
          <p:nvPr/>
        </p:nvSpPr>
        <p:spPr>
          <a:xfrm>
            <a:off x="8953500" y="5257800"/>
            <a:ext cx="26796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58717A"/>
                </a:solidFill>
                <a:hlinkClick r:id="rId6">
                  <a:extLst>
                    <a:ext uri="{A12FA001-AC4F-418D-AE19-62706E023703}">
                      <ahyp:hlinkClr val="tx"/>
                    </a:ext>
                  </a:extLst>
                </a:hlinkClick>
              </a:rPr>
              <a:t>Anthropic · Feb; OpenAI · May</a:t>
            </a:r>
            <a:endParaRPr sz="1100">
              <a:solidFill>
                <a:srgbClr val="58717A"/>
              </a:solidFill>
            </a:endParaRPr>
          </a:p>
        </p:txBody>
      </p:sp>
      <p:sp>
        <p:nvSpPr>
          <p:cNvPr id="176" name="Google Shape;176;p12"/>
          <p:cNvSpPr txBox="1"/>
          <p:nvPr/>
        </p:nvSpPr>
        <p:spPr>
          <a:xfrm>
            <a:off x="762000" y="6070600"/>
            <a:ext cx="106680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Selected milestones • assistants and agents coexist</a:t>
            </a:r>
            <a:endParaRPr sz="1700">
              <a:solidFill>
                <a:srgbClr val="58717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181" name="Shape 181"/>
        <p:cNvGrpSpPr/>
        <p:nvPr/>
      </p:nvGrpSpPr>
      <p:grpSpPr>
        <a:xfrm>
          <a:off x="0" y="0"/>
          <a:ext cx="0" cy="0"/>
          <a:chOff x="0" y="0"/>
          <a:chExt cx="0" cy="0"/>
        </a:xfrm>
      </p:grpSpPr>
      <p:sp>
        <p:nvSpPr>
          <p:cNvPr id="182" name="Google Shape;182;p13"/>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The cost of implementation is falling</a:t>
            </a:r>
            <a:endParaRPr b="1" i="0" sz="3200" u="none" cap="none" strike="noStrike">
              <a:solidFill>
                <a:srgbClr val="173541"/>
              </a:solidFill>
            </a:endParaRPr>
          </a:p>
        </p:txBody>
      </p:sp>
      <p:sp>
        <p:nvSpPr>
          <p:cNvPr id="183" name="Google Shape;183;p13"/>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AI is pushing the cost of writing code toward zero.</a:t>
            </a:r>
            <a:endParaRPr b="1" sz="2900">
              <a:solidFill>
                <a:srgbClr val="167D8D"/>
              </a:solidFill>
            </a:endParaRPr>
          </a:p>
        </p:txBody>
      </p:sp>
      <p:sp>
        <p:nvSpPr>
          <p:cNvPr id="184" name="Google Shape;184;p13"/>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For a well-specified feature, producing a candidate</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implementation can take very little developer time.</a:t>
            </a:r>
            <a:endParaRPr sz="2400">
              <a:solidFill>
                <a:srgbClr val="173541"/>
              </a:solidFill>
            </a:endParaRPr>
          </a:p>
        </p:txBody>
      </p:sp>
      <p:sp>
        <p:nvSpPr>
          <p:cNvPr id="185" name="Google Shape;185;p13"/>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173541"/>
                </a:solidFill>
              </a:rPr>
              <a:t>What happens when a community can write more code</a:t>
            </a:r>
            <a:endParaRPr b="1" sz="2400">
              <a:solidFill>
                <a:srgbClr val="173541"/>
              </a:solidFill>
            </a:endParaRPr>
          </a:p>
          <a:p>
            <a:pPr indent="0" lvl="0" marL="0" rtl="0" algn="l">
              <a:lnSpc>
                <a:spcPct val="110000"/>
              </a:lnSpc>
              <a:spcBef>
                <a:spcPts val="0"/>
              </a:spcBef>
              <a:spcAft>
                <a:spcPts val="0"/>
              </a:spcAft>
              <a:buNone/>
            </a:pPr>
            <a:r>
              <a:rPr b="1" lang="en-US" sz="2400">
                <a:solidFill>
                  <a:srgbClr val="173541"/>
                </a:solidFill>
              </a:rPr>
              <a:t>than it can evaluate?</a:t>
            </a:r>
            <a:endParaRPr b="1" sz="2400">
              <a:solidFill>
                <a:srgbClr val="173541"/>
              </a:solidFill>
            </a:endParaRPr>
          </a:p>
        </p:txBody>
      </p:sp>
      <p:sp>
        <p:nvSpPr>
          <p:cNvPr id="186" name="Google Shape;186;p13"/>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3">
                  <a:extLst>
                    <a:ext uri="{A12FA001-AC4F-418D-AE19-62706E023703}">
                      <ahyp:hlinkClr val="tx"/>
                    </a:ext>
                  </a:extLst>
                </a:hlinkClick>
              </a:rPr>
              <a:t>Context: Anthropic (2026), “Bringing Code Review to Claude Code”</a:t>
            </a:r>
            <a:endParaRPr sz="1100">
              <a:solidFill>
                <a:srgbClr val="58717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191" name="Shape 191"/>
        <p:cNvGrpSpPr/>
        <p:nvPr/>
      </p:nvGrpSpPr>
      <p:grpSpPr>
        <a:xfrm>
          <a:off x="0" y="0"/>
          <a:ext cx="0" cy="0"/>
          <a:chOff x="0" y="0"/>
          <a:chExt cx="0" cy="0"/>
        </a:xfrm>
      </p:grpSpPr>
      <p:sp>
        <p:nvSpPr>
          <p:cNvPr id="192" name="Google Shape;192;p14"/>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New contributors can enter complex codebases</a:t>
            </a:r>
            <a:endParaRPr b="1" i="0" sz="3200" u="none" cap="none" strike="noStrike">
              <a:solidFill>
                <a:srgbClr val="173541"/>
              </a:solidFill>
            </a:endParaRPr>
          </a:p>
        </p:txBody>
      </p:sp>
      <p:sp>
        <p:nvSpPr>
          <p:cNvPr id="193" name="Google Shape;193;p14"/>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Contributors can tackle changes before they have</a:t>
            </a:r>
            <a:endParaRPr b="1" sz="2900">
              <a:solidFill>
                <a:srgbClr val="167D8D"/>
              </a:solidFill>
            </a:endParaRPr>
          </a:p>
          <a:p>
            <a:pPr indent="0" lvl="0" marL="0" rtl="0" algn="l">
              <a:lnSpc>
                <a:spcPct val="110000"/>
              </a:lnSpc>
              <a:spcBef>
                <a:spcPts val="0"/>
              </a:spcBef>
              <a:spcAft>
                <a:spcPts val="0"/>
              </a:spcAft>
              <a:buNone/>
            </a:pPr>
            <a:r>
              <a:rPr b="1" lang="en-US" sz="2900">
                <a:solidFill>
                  <a:srgbClr val="167D8D"/>
                </a:solidFill>
              </a:rPr>
              <a:t>deep familiarity with the codebase.</a:t>
            </a:r>
            <a:endParaRPr b="1" sz="2900">
              <a:solidFill>
                <a:srgbClr val="167D8D"/>
              </a:solidFill>
            </a:endParaRPr>
          </a:p>
        </p:txBody>
      </p:sp>
      <p:sp>
        <p:nvSpPr>
          <p:cNvPr id="194" name="Google Shape;194;p14"/>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AI helps them navigate existing code and assemble</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an implementation that follows local patterns.</a:t>
            </a:r>
            <a:endParaRPr sz="2400">
              <a:solidFill>
                <a:srgbClr val="173541"/>
              </a:solidFill>
            </a:endParaRPr>
          </a:p>
        </p:txBody>
      </p:sp>
      <p:sp>
        <p:nvSpPr>
          <p:cNvPr id="195" name="Google Shape;195;p14"/>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u="sng">
                <a:solidFill>
                  <a:schemeClr val="hlink"/>
                </a:solidFill>
                <a:hlinkClick r:id="rId3"/>
              </a:rPr>
              <a:t>One first contribution with disclosed assistance: PR #5704.</a:t>
            </a:r>
            <a:endParaRPr b="1" sz="2400">
              <a:solidFill>
                <a:srgbClr val="173541"/>
              </a:solidFill>
            </a:endParaRPr>
          </a:p>
          <a:p>
            <a:pPr indent="0" lvl="0" marL="0" rtl="0" algn="l">
              <a:lnSpc>
                <a:spcPct val="110000"/>
              </a:lnSpc>
              <a:spcBef>
                <a:spcPts val="0"/>
              </a:spcBef>
              <a:spcAft>
                <a:spcPts val="0"/>
              </a:spcAft>
              <a:buNone/>
            </a:pPr>
            <a:r>
              <a:rPr b="1" lang="en-US" sz="2400" u="sng">
                <a:solidFill>
                  <a:schemeClr val="hlink"/>
                </a:solidFill>
                <a:hlinkClick r:id="rId4"/>
              </a:rPr>
              <a:t>First-time contributor does not mean novice programmer.</a:t>
            </a:r>
            <a:endParaRPr b="1" sz="2400">
              <a:solidFill>
                <a:srgbClr val="173541"/>
              </a:solidFill>
            </a:endParaRPr>
          </a:p>
        </p:txBody>
      </p:sp>
      <p:sp>
        <p:nvSpPr>
          <p:cNvPr id="196" name="Google Shape;196;p14"/>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5">
                  <a:extLst>
                    <a:ext uri="{A12FA001-AC4F-418D-AE19-62706E023703}">
                      <ahyp:hlinkClr val="tx"/>
                    </a:ext>
                  </a:extLst>
                </a:hlinkClick>
              </a:rPr>
              <a:t>Tool capability: GitHub Docs, “Using GitHub Copilot to explore a codebase”</a:t>
            </a:r>
            <a:endParaRPr sz="1100">
              <a:solidFill>
                <a:srgbClr val="58717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201" name="Shape 201"/>
        <p:cNvGrpSpPr/>
        <p:nvPr/>
      </p:nvGrpSpPr>
      <p:grpSpPr>
        <a:xfrm>
          <a:off x="0" y="0"/>
          <a:ext cx="0" cy="0"/>
          <a:chOff x="0" y="0"/>
          <a:chExt cx="0" cy="0"/>
        </a:xfrm>
      </p:grpSpPr>
      <p:sp>
        <p:nvSpPr>
          <p:cNvPr id="202" name="Google Shape;202;p15"/>
          <p:cNvSpPr txBox="1"/>
          <p:nvPr/>
        </p:nvSpPr>
        <p:spPr>
          <a:xfrm>
            <a:off x="762000" y="469900"/>
            <a:ext cx="10668000" cy="10161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1B2A33"/>
              </a:buClr>
              <a:buSzPts val="3400"/>
              <a:buFont typeface="Cambria"/>
              <a:buNone/>
            </a:pPr>
            <a:r>
              <a:rPr b="1" lang="en-US" sz="3200">
                <a:solidFill>
                  <a:schemeClr val="dk1"/>
                </a:solidFill>
              </a:rPr>
              <a:t>New contributors can enter complex codebases more easily</a:t>
            </a:r>
            <a:endParaRPr b="1" sz="3200">
              <a:solidFill>
                <a:schemeClr val="dk1"/>
              </a:solidFill>
            </a:endParaRPr>
          </a:p>
          <a:p>
            <a:pPr indent="0" lvl="0" marL="0" marR="0" rtl="0" algn="l">
              <a:lnSpc>
                <a:spcPct val="110000"/>
              </a:lnSpc>
              <a:spcBef>
                <a:spcPts val="0"/>
              </a:spcBef>
              <a:spcAft>
                <a:spcPts val="0"/>
              </a:spcAft>
              <a:buClr>
                <a:srgbClr val="1B2A33"/>
              </a:buClr>
              <a:buSzPts val="3400"/>
              <a:buFont typeface="Cambria"/>
              <a:buNone/>
            </a:pPr>
            <a:r>
              <a:t/>
            </a:r>
            <a:endParaRPr b="1" sz="3200">
              <a:solidFill>
                <a:srgbClr val="173541"/>
              </a:solidFill>
            </a:endParaRPr>
          </a:p>
        </p:txBody>
      </p:sp>
      <p:sp>
        <p:nvSpPr>
          <p:cNvPr id="203" name="Google Shape;203;p15"/>
          <p:cNvSpPr txBox="1"/>
          <p:nvPr/>
        </p:nvSpPr>
        <p:spPr>
          <a:xfrm>
            <a:off x="762000" y="1511300"/>
            <a:ext cx="10668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58717A"/>
                </a:solidFill>
              </a:rPr>
              <a:t>January–August comparisons; human-opened PRs</a:t>
            </a:r>
            <a:endParaRPr sz="1900">
              <a:solidFill>
                <a:srgbClr val="58717A"/>
              </a:solidFill>
            </a:endParaRPr>
          </a:p>
        </p:txBody>
      </p:sp>
      <p:sp>
        <p:nvSpPr>
          <p:cNvPr id="204" name="Google Shape;204;p15"/>
          <p:cNvSpPr txBox="1"/>
          <p:nvPr/>
        </p:nvSpPr>
        <p:spPr>
          <a:xfrm>
            <a:off x="825500" y="2146300"/>
            <a:ext cx="48894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00">
                <a:solidFill>
                  <a:srgbClr val="173541"/>
                </a:solidFill>
              </a:rPr>
              <a:t>Oceananigans PRs opened</a:t>
            </a:r>
            <a:endParaRPr b="1" sz="2300">
              <a:solidFill>
                <a:srgbClr val="173541"/>
              </a:solidFill>
            </a:endParaRPr>
          </a:p>
        </p:txBody>
      </p:sp>
      <p:sp>
        <p:nvSpPr>
          <p:cNvPr id="205" name="Google Shape;205;p15"/>
          <p:cNvSpPr/>
          <p:nvPr/>
        </p:nvSpPr>
        <p:spPr>
          <a:xfrm>
            <a:off x="1244600" y="4489157"/>
            <a:ext cx="838200" cy="654300"/>
          </a:xfrm>
          <a:prstGeom prst="rect">
            <a:avLst/>
          </a:prstGeom>
          <a:solidFill>
            <a:srgbClr val="BAC9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15"/>
          <p:cNvSpPr txBox="1"/>
          <p:nvPr/>
        </p:nvSpPr>
        <p:spPr>
          <a:xfrm>
            <a:off x="1219200" y="4006557"/>
            <a:ext cx="11430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rgbClr val="173541"/>
                </a:solidFill>
              </a:rPr>
              <a:t>197</a:t>
            </a:r>
            <a:endParaRPr b="1" sz="2500">
              <a:solidFill>
                <a:srgbClr val="173541"/>
              </a:solidFill>
            </a:endParaRPr>
          </a:p>
        </p:txBody>
      </p:sp>
      <p:sp>
        <p:nvSpPr>
          <p:cNvPr id="207" name="Google Shape;207;p15"/>
          <p:cNvSpPr txBox="1"/>
          <p:nvPr/>
        </p:nvSpPr>
        <p:spPr>
          <a:xfrm>
            <a:off x="1231900" y="5232400"/>
            <a:ext cx="1143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58717A"/>
                </a:solidFill>
              </a:rPr>
              <a:t>2024</a:t>
            </a:r>
            <a:endParaRPr sz="1800">
              <a:solidFill>
                <a:srgbClr val="58717A"/>
              </a:solidFill>
            </a:endParaRPr>
          </a:p>
        </p:txBody>
      </p:sp>
      <p:sp>
        <p:nvSpPr>
          <p:cNvPr id="208" name="Google Shape;208;p15"/>
          <p:cNvSpPr/>
          <p:nvPr/>
        </p:nvSpPr>
        <p:spPr>
          <a:xfrm>
            <a:off x="2667000" y="3512625"/>
            <a:ext cx="838200" cy="16308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15"/>
          <p:cNvSpPr txBox="1"/>
          <p:nvPr/>
        </p:nvSpPr>
        <p:spPr>
          <a:xfrm>
            <a:off x="2641600" y="3030025"/>
            <a:ext cx="11430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rgbClr val="173541"/>
                </a:solidFill>
              </a:rPr>
              <a:t>491</a:t>
            </a:r>
            <a:endParaRPr b="1" sz="2500">
              <a:solidFill>
                <a:srgbClr val="173541"/>
              </a:solidFill>
            </a:endParaRPr>
          </a:p>
        </p:txBody>
      </p:sp>
      <p:sp>
        <p:nvSpPr>
          <p:cNvPr id="210" name="Google Shape;210;p15"/>
          <p:cNvSpPr txBox="1"/>
          <p:nvPr/>
        </p:nvSpPr>
        <p:spPr>
          <a:xfrm>
            <a:off x="2654300" y="5232400"/>
            <a:ext cx="1143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58717A"/>
                </a:solidFill>
              </a:rPr>
              <a:t>2025</a:t>
            </a:r>
            <a:endParaRPr sz="1800">
              <a:solidFill>
                <a:srgbClr val="58717A"/>
              </a:solidFill>
            </a:endParaRPr>
          </a:p>
        </p:txBody>
      </p:sp>
      <p:sp>
        <p:nvSpPr>
          <p:cNvPr id="211" name="Google Shape;211;p15"/>
          <p:cNvSpPr/>
          <p:nvPr/>
        </p:nvSpPr>
        <p:spPr>
          <a:xfrm>
            <a:off x="4089400" y="3223651"/>
            <a:ext cx="838200" cy="1919700"/>
          </a:xfrm>
          <a:prstGeom prst="rect">
            <a:avLst/>
          </a:prstGeom>
          <a:solidFill>
            <a:srgbClr val="1735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15"/>
          <p:cNvSpPr txBox="1"/>
          <p:nvPr/>
        </p:nvSpPr>
        <p:spPr>
          <a:xfrm>
            <a:off x="4064000" y="2741051"/>
            <a:ext cx="11430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rgbClr val="173541"/>
                </a:solidFill>
              </a:rPr>
              <a:t>578</a:t>
            </a:r>
            <a:endParaRPr b="1" sz="2500">
              <a:solidFill>
                <a:srgbClr val="173541"/>
              </a:solidFill>
            </a:endParaRPr>
          </a:p>
        </p:txBody>
      </p:sp>
      <p:sp>
        <p:nvSpPr>
          <p:cNvPr id="213" name="Google Shape;213;p15"/>
          <p:cNvSpPr txBox="1"/>
          <p:nvPr/>
        </p:nvSpPr>
        <p:spPr>
          <a:xfrm>
            <a:off x="4076700" y="5232400"/>
            <a:ext cx="1143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58717A"/>
                </a:solidFill>
              </a:rPr>
              <a:t>2026</a:t>
            </a:r>
            <a:endParaRPr sz="1800">
              <a:solidFill>
                <a:srgbClr val="58717A"/>
              </a:solidFill>
            </a:endParaRPr>
          </a:p>
        </p:txBody>
      </p:sp>
      <p:sp>
        <p:nvSpPr>
          <p:cNvPr id="214" name="Google Shape;214;p15"/>
          <p:cNvSpPr txBox="1"/>
          <p:nvPr/>
        </p:nvSpPr>
        <p:spPr>
          <a:xfrm>
            <a:off x="6413500" y="2146300"/>
            <a:ext cx="50166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00">
                <a:solidFill>
                  <a:srgbClr val="173541"/>
                </a:solidFill>
              </a:rPr>
              <a:t>Distinct Oceananigans PR authors</a:t>
            </a:r>
            <a:endParaRPr b="1" sz="2300">
              <a:solidFill>
                <a:srgbClr val="173541"/>
              </a:solidFill>
            </a:endParaRPr>
          </a:p>
        </p:txBody>
      </p:sp>
      <p:sp>
        <p:nvSpPr>
          <p:cNvPr id="215" name="Google Shape;215;p15"/>
          <p:cNvSpPr/>
          <p:nvPr/>
        </p:nvSpPr>
        <p:spPr>
          <a:xfrm>
            <a:off x="6832600" y="4150360"/>
            <a:ext cx="838200" cy="993000"/>
          </a:xfrm>
          <a:prstGeom prst="rect">
            <a:avLst/>
          </a:prstGeom>
          <a:solidFill>
            <a:srgbClr val="BAC9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15"/>
          <p:cNvSpPr txBox="1"/>
          <p:nvPr/>
        </p:nvSpPr>
        <p:spPr>
          <a:xfrm>
            <a:off x="6807200" y="3667760"/>
            <a:ext cx="11430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rgbClr val="173541"/>
                </a:solidFill>
              </a:rPr>
              <a:t>23</a:t>
            </a:r>
            <a:endParaRPr b="1" sz="2500">
              <a:solidFill>
                <a:srgbClr val="173541"/>
              </a:solidFill>
            </a:endParaRPr>
          </a:p>
        </p:txBody>
      </p:sp>
      <p:sp>
        <p:nvSpPr>
          <p:cNvPr id="217" name="Google Shape;217;p15"/>
          <p:cNvSpPr txBox="1"/>
          <p:nvPr/>
        </p:nvSpPr>
        <p:spPr>
          <a:xfrm>
            <a:off x="6819900" y="5232400"/>
            <a:ext cx="1143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58717A"/>
                </a:solidFill>
              </a:rPr>
              <a:t>2024</a:t>
            </a:r>
            <a:endParaRPr sz="1800">
              <a:solidFill>
                <a:srgbClr val="58717A"/>
              </a:solidFill>
            </a:endParaRPr>
          </a:p>
        </p:txBody>
      </p:sp>
      <p:sp>
        <p:nvSpPr>
          <p:cNvPr id="218" name="Google Shape;218;p15"/>
          <p:cNvSpPr/>
          <p:nvPr/>
        </p:nvSpPr>
        <p:spPr>
          <a:xfrm>
            <a:off x="8255000" y="3891280"/>
            <a:ext cx="838200" cy="12522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15"/>
          <p:cNvSpPr txBox="1"/>
          <p:nvPr/>
        </p:nvSpPr>
        <p:spPr>
          <a:xfrm>
            <a:off x="8229600" y="3408680"/>
            <a:ext cx="11430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rgbClr val="173541"/>
                </a:solidFill>
              </a:rPr>
              <a:t>29</a:t>
            </a:r>
            <a:endParaRPr b="1" sz="2500">
              <a:solidFill>
                <a:srgbClr val="173541"/>
              </a:solidFill>
            </a:endParaRPr>
          </a:p>
        </p:txBody>
      </p:sp>
      <p:sp>
        <p:nvSpPr>
          <p:cNvPr id="220" name="Google Shape;220;p15"/>
          <p:cNvSpPr txBox="1"/>
          <p:nvPr/>
        </p:nvSpPr>
        <p:spPr>
          <a:xfrm>
            <a:off x="8242300" y="5232400"/>
            <a:ext cx="1143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58717A"/>
                </a:solidFill>
              </a:rPr>
              <a:t>2025</a:t>
            </a:r>
            <a:endParaRPr sz="1800">
              <a:solidFill>
                <a:srgbClr val="58717A"/>
              </a:solidFill>
            </a:endParaRPr>
          </a:p>
        </p:txBody>
      </p:sp>
      <p:sp>
        <p:nvSpPr>
          <p:cNvPr id="221" name="Google Shape;221;p15"/>
          <p:cNvSpPr/>
          <p:nvPr/>
        </p:nvSpPr>
        <p:spPr>
          <a:xfrm>
            <a:off x="9677400" y="3243580"/>
            <a:ext cx="838200" cy="1899900"/>
          </a:xfrm>
          <a:prstGeom prst="rect">
            <a:avLst/>
          </a:prstGeom>
          <a:solidFill>
            <a:srgbClr val="1735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15"/>
          <p:cNvSpPr txBox="1"/>
          <p:nvPr/>
        </p:nvSpPr>
        <p:spPr>
          <a:xfrm>
            <a:off x="9652000" y="2760980"/>
            <a:ext cx="11430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rgbClr val="173541"/>
                </a:solidFill>
              </a:rPr>
              <a:t>44</a:t>
            </a:r>
            <a:endParaRPr b="1" sz="2500">
              <a:solidFill>
                <a:srgbClr val="173541"/>
              </a:solidFill>
            </a:endParaRPr>
          </a:p>
        </p:txBody>
      </p:sp>
      <p:sp>
        <p:nvSpPr>
          <p:cNvPr id="223" name="Google Shape;223;p15"/>
          <p:cNvSpPr txBox="1"/>
          <p:nvPr/>
        </p:nvSpPr>
        <p:spPr>
          <a:xfrm>
            <a:off x="9664700" y="5232400"/>
            <a:ext cx="1143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58717A"/>
                </a:solidFill>
              </a:rPr>
              <a:t>2026</a:t>
            </a:r>
            <a:endParaRPr sz="1800">
              <a:solidFill>
                <a:srgbClr val="58717A"/>
              </a:solidFill>
            </a:endParaRPr>
          </a:p>
        </p:txBody>
      </p:sp>
      <p:sp>
        <p:nvSpPr>
          <p:cNvPr id="224" name="Google Shape;224;p15"/>
          <p:cNvSpPr txBox="1"/>
          <p:nvPr/>
        </p:nvSpPr>
        <p:spPr>
          <a:xfrm>
            <a:off x="762000" y="5740400"/>
            <a:ext cx="10668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167D8D"/>
                </a:solidFill>
              </a:rPr>
              <a:t>2025 → 2026: +18% PRs opened; +52% distinct authors</a:t>
            </a:r>
            <a:endParaRPr b="1" sz="2200">
              <a:solidFill>
                <a:srgbClr val="167D8D"/>
              </a:solidFill>
            </a:endParaRPr>
          </a:p>
        </p:txBody>
      </p:sp>
      <p:sp>
        <p:nvSpPr>
          <p:cNvPr id="225" name="Google Shape;225;p15"/>
          <p:cNvSpPr txBox="1"/>
          <p:nvPr/>
        </p:nvSpPr>
        <p:spPr>
          <a:xfrm>
            <a:off x="762000" y="6273800"/>
            <a:ext cx="106680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58717A"/>
                </a:solidFill>
                <a:hlinkClick r:id="rId3">
                  <a:extLst>
                    <a:ext uri="{A12FA001-AC4F-418D-AE19-62706E023703}">
                      <ahyp:hlinkClr val="tx"/>
                    </a:ext>
                  </a:extLst>
                </a:hlinkClick>
              </a:rPr>
              <a:t>GitHub PR snapshot, 30 Sep 2026. Accounts ≠ people; growth does not establish an AI productivity effect.</a:t>
            </a:r>
            <a:endParaRPr sz="1100">
              <a:solidFill>
                <a:srgbClr val="58717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230" name="Shape 230"/>
        <p:cNvGrpSpPr/>
        <p:nvPr/>
      </p:nvGrpSpPr>
      <p:grpSpPr>
        <a:xfrm>
          <a:off x="0" y="0"/>
          <a:ext cx="0" cy="0"/>
          <a:chOff x="0" y="0"/>
          <a:chExt cx="0" cy="0"/>
        </a:xfrm>
      </p:grpSpPr>
      <p:sp>
        <p:nvSpPr>
          <p:cNvPr id="231" name="Google Shape;231;p16"/>
          <p:cNvSpPr txBox="1"/>
          <p:nvPr/>
        </p:nvSpPr>
        <p:spPr>
          <a:xfrm>
            <a:off x="762000" y="469900"/>
            <a:ext cx="10668000" cy="1016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Disclosed AI assistance is now common</a:t>
            </a:r>
            <a:endParaRPr b="1" i="0" sz="3200" u="none" cap="none" strike="noStrike">
              <a:solidFill>
                <a:srgbClr val="173541"/>
              </a:solidFill>
            </a:endParaRPr>
          </a:p>
        </p:txBody>
      </p:sp>
      <p:sp>
        <p:nvSpPr>
          <p:cNvPr id="232" name="Google Shape;232;p16"/>
          <p:cNvSpPr txBox="1"/>
          <p:nvPr/>
        </p:nvSpPr>
        <p:spPr>
          <a:xfrm>
            <a:off x="762000" y="1511300"/>
            <a:ext cx="10668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00">
                <a:solidFill>
                  <a:srgbClr val="167D8D"/>
                </a:solidFill>
              </a:rPr>
              <a:t>2026 through snapshot: 204 / 597 commits (34.2%)</a:t>
            </a:r>
            <a:endParaRPr b="1" sz="2300">
              <a:solidFill>
                <a:srgbClr val="167D8D"/>
              </a:solidFill>
            </a:endParaRPr>
          </a:p>
        </p:txBody>
      </p:sp>
      <p:cxnSp>
        <p:nvCxnSpPr>
          <p:cNvPr id="233" name="Google Shape;233;p16"/>
          <p:cNvCxnSpPr/>
          <p:nvPr/>
        </p:nvCxnSpPr>
        <p:spPr>
          <a:xfrm>
            <a:off x="1257300" y="5080000"/>
            <a:ext cx="10172700" cy="0"/>
          </a:xfrm>
          <a:prstGeom prst="straightConnector1">
            <a:avLst/>
          </a:prstGeom>
          <a:noFill/>
          <a:ln cap="flat" cmpd="sng" w="7625">
            <a:solidFill>
              <a:srgbClr val="BAC9CC"/>
            </a:solidFill>
            <a:prstDash val="solid"/>
            <a:round/>
            <a:headEnd len="med" w="med" type="none"/>
            <a:tailEnd len="med" w="med" type="none"/>
          </a:ln>
        </p:spPr>
      </p:cxnSp>
      <p:sp>
        <p:nvSpPr>
          <p:cNvPr id="234" name="Google Shape;234;p16"/>
          <p:cNvSpPr txBox="1"/>
          <p:nvPr/>
        </p:nvSpPr>
        <p:spPr>
          <a:xfrm>
            <a:off x="723900" y="4927600"/>
            <a:ext cx="6984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8717A"/>
                </a:solidFill>
              </a:rPr>
              <a:t>0%</a:t>
            </a:r>
            <a:endParaRPr>
              <a:solidFill>
                <a:srgbClr val="58717A"/>
              </a:solidFill>
            </a:endParaRPr>
          </a:p>
        </p:txBody>
      </p:sp>
      <p:cxnSp>
        <p:nvCxnSpPr>
          <p:cNvPr id="235" name="Google Shape;235;p16"/>
          <p:cNvCxnSpPr/>
          <p:nvPr/>
        </p:nvCxnSpPr>
        <p:spPr>
          <a:xfrm>
            <a:off x="1257300" y="3810000"/>
            <a:ext cx="10172700" cy="0"/>
          </a:xfrm>
          <a:prstGeom prst="straightConnector1">
            <a:avLst/>
          </a:prstGeom>
          <a:noFill/>
          <a:ln cap="flat" cmpd="sng" w="7625">
            <a:solidFill>
              <a:srgbClr val="BAC9CC"/>
            </a:solidFill>
            <a:prstDash val="solid"/>
            <a:round/>
            <a:headEnd len="med" w="med" type="none"/>
            <a:tailEnd len="med" w="med" type="none"/>
          </a:ln>
        </p:spPr>
      </p:cxnSp>
      <p:sp>
        <p:nvSpPr>
          <p:cNvPr id="236" name="Google Shape;236;p16"/>
          <p:cNvSpPr txBox="1"/>
          <p:nvPr/>
        </p:nvSpPr>
        <p:spPr>
          <a:xfrm>
            <a:off x="723900" y="3657600"/>
            <a:ext cx="6984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8717A"/>
                </a:solidFill>
              </a:rPr>
              <a:t>50%</a:t>
            </a:r>
            <a:endParaRPr>
              <a:solidFill>
                <a:srgbClr val="58717A"/>
              </a:solidFill>
            </a:endParaRPr>
          </a:p>
        </p:txBody>
      </p:sp>
      <p:cxnSp>
        <p:nvCxnSpPr>
          <p:cNvPr id="237" name="Google Shape;237;p16"/>
          <p:cNvCxnSpPr/>
          <p:nvPr/>
        </p:nvCxnSpPr>
        <p:spPr>
          <a:xfrm>
            <a:off x="1257300" y="2540000"/>
            <a:ext cx="10172700" cy="0"/>
          </a:xfrm>
          <a:prstGeom prst="straightConnector1">
            <a:avLst/>
          </a:prstGeom>
          <a:noFill/>
          <a:ln cap="flat" cmpd="sng" w="7625">
            <a:solidFill>
              <a:srgbClr val="BAC9CC"/>
            </a:solidFill>
            <a:prstDash val="solid"/>
            <a:round/>
            <a:headEnd len="med" w="med" type="none"/>
            <a:tailEnd len="med" w="med" type="none"/>
          </a:ln>
        </p:spPr>
      </p:cxnSp>
      <p:sp>
        <p:nvSpPr>
          <p:cNvPr id="238" name="Google Shape;238;p16"/>
          <p:cNvSpPr txBox="1"/>
          <p:nvPr/>
        </p:nvSpPr>
        <p:spPr>
          <a:xfrm>
            <a:off x="723900" y="2387600"/>
            <a:ext cx="6984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58717A"/>
                </a:solidFill>
              </a:rPr>
              <a:t>100%</a:t>
            </a:r>
            <a:endParaRPr>
              <a:solidFill>
                <a:srgbClr val="58717A"/>
              </a:solidFill>
            </a:endParaRPr>
          </a:p>
        </p:txBody>
      </p:sp>
      <p:sp>
        <p:nvSpPr>
          <p:cNvPr id="239" name="Google Shape;239;p16"/>
          <p:cNvSpPr txBox="1"/>
          <p:nvPr/>
        </p:nvSpPr>
        <p:spPr>
          <a:xfrm>
            <a:off x="1384300" y="4673600"/>
            <a:ext cx="10161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73541"/>
                </a:solidFill>
              </a:rPr>
              <a:t>0.0%</a:t>
            </a:r>
            <a:endParaRPr b="1" sz="1600">
              <a:solidFill>
                <a:srgbClr val="173541"/>
              </a:solidFill>
            </a:endParaRPr>
          </a:p>
        </p:txBody>
      </p:sp>
      <p:sp>
        <p:nvSpPr>
          <p:cNvPr id="240" name="Google Shape;240;p16"/>
          <p:cNvSpPr txBox="1"/>
          <p:nvPr/>
        </p:nvSpPr>
        <p:spPr>
          <a:xfrm>
            <a:off x="1435100" y="5168900"/>
            <a:ext cx="9525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Jan</a:t>
            </a:r>
            <a:endParaRPr sz="1700">
              <a:solidFill>
                <a:srgbClr val="58717A"/>
              </a:solidFill>
            </a:endParaRPr>
          </a:p>
        </p:txBody>
      </p:sp>
      <p:sp>
        <p:nvSpPr>
          <p:cNvPr id="241" name="Google Shape;241;p16"/>
          <p:cNvSpPr/>
          <p:nvPr/>
        </p:nvSpPr>
        <p:spPr>
          <a:xfrm>
            <a:off x="2603500" y="4676825"/>
            <a:ext cx="622200" cy="4032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16"/>
          <p:cNvSpPr txBox="1"/>
          <p:nvPr/>
        </p:nvSpPr>
        <p:spPr>
          <a:xfrm>
            <a:off x="2476500" y="4270425"/>
            <a:ext cx="10161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73541"/>
                </a:solidFill>
              </a:rPr>
              <a:t>15.9%</a:t>
            </a:r>
            <a:endParaRPr b="1" sz="1600">
              <a:solidFill>
                <a:srgbClr val="173541"/>
              </a:solidFill>
            </a:endParaRPr>
          </a:p>
        </p:txBody>
      </p:sp>
      <p:sp>
        <p:nvSpPr>
          <p:cNvPr id="243" name="Google Shape;243;p16"/>
          <p:cNvSpPr txBox="1"/>
          <p:nvPr/>
        </p:nvSpPr>
        <p:spPr>
          <a:xfrm>
            <a:off x="2527300" y="5168900"/>
            <a:ext cx="9525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Feb</a:t>
            </a:r>
            <a:endParaRPr sz="1700">
              <a:solidFill>
                <a:srgbClr val="58717A"/>
              </a:solidFill>
            </a:endParaRPr>
          </a:p>
        </p:txBody>
      </p:sp>
      <p:sp>
        <p:nvSpPr>
          <p:cNvPr id="244" name="Google Shape;244;p16"/>
          <p:cNvSpPr/>
          <p:nvPr/>
        </p:nvSpPr>
        <p:spPr>
          <a:xfrm>
            <a:off x="3695700" y="4325938"/>
            <a:ext cx="622200" cy="7542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16"/>
          <p:cNvSpPr txBox="1"/>
          <p:nvPr/>
        </p:nvSpPr>
        <p:spPr>
          <a:xfrm>
            <a:off x="3568700" y="3919538"/>
            <a:ext cx="10161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73541"/>
                </a:solidFill>
              </a:rPr>
              <a:t>29.7%</a:t>
            </a:r>
            <a:endParaRPr b="1" sz="1600">
              <a:solidFill>
                <a:srgbClr val="173541"/>
              </a:solidFill>
            </a:endParaRPr>
          </a:p>
        </p:txBody>
      </p:sp>
      <p:sp>
        <p:nvSpPr>
          <p:cNvPr id="246" name="Google Shape;246;p16"/>
          <p:cNvSpPr txBox="1"/>
          <p:nvPr/>
        </p:nvSpPr>
        <p:spPr>
          <a:xfrm>
            <a:off x="3619500" y="5168900"/>
            <a:ext cx="9525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Mar</a:t>
            </a:r>
            <a:endParaRPr sz="1700">
              <a:solidFill>
                <a:srgbClr val="58717A"/>
              </a:solidFill>
            </a:endParaRPr>
          </a:p>
        </p:txBody>
      </p:sp>
      <p:sp>
        <p:nvSpPr>
          <p:cNvPr id="247" name="Google Shape;247;p16"/>
          <p:cNvSpPr/>
          <p:nvPr/>
        </p:nvSpPr>
        <p:spPr>
          <a:xfrm>
            <a:off x="4787900" y="4283137"/>
            <a:ext cx="622200" cy="7968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16"/>
          <p:cNvSpPr/>
          <p:nvPr/>
        </p:nvSpPr>
        <p:spPr>
          <a:xfrm>
            <a:off x="4787900" y="4233333"/>
            <a:ext cx="622200" cy="49800"/>
          </a:xfrm>
          <a:prstGeom prst="rect">
            <a:avLst/>
          </a:prstGeom>
          <a:solidFill>
            <a:srgbClr val="C57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16"/>
          <p:cNvSpPr txBox="1"/>
          <p:nvPr/>
        </p:nvSpPr>
        <p:spPr>
          <a:xfrm>
            <a:off x="4660900" y="3826933"/>
            <a:ext cx="10161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73541"/>
                </a:solidFill>
              </a:rPr>
              <a:t>33.3%</a:t>
            </a:r>
            <a:endParaRPr b="1" sz="1600">
              <a:solidFill>
                <a:srgbClr val="173541"/>
              </a:solidFill>
            </a:endParaRPr>
          </a:p>
        </p:txBody>
      </p:sp>
      <p:sp>
        <p:nvSpPr>
          <p:cNvPr id="250" name="Google Shape;250;p16"/>
          <p:cNvSpPr txBox="1"/>
          <p:nvPr/>
        </p:nvSpPr>
        <p:spPr>
          <a:xfrm>
            <a:off x="4711700" y="5168900"/>
            <a:ext cx="9525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Apr</a:t>
            </a:r>
            <a:endParaRPr sz="1700">
              <a:solidFill>
                <a:srgbClr val="58717A"/>
              </a:solidFill>
            </a:endParaRPr>
          </a:p>
        </p:txBody>
      </p:sp>
      <p:sp>
        <p:nvSpPr>
          <p:cNvPr id="251" name="Google Shape;251;p16"/>
          <p:cNvSpPr/>
          <p:nvPr/>
        </p:nvSpPr>
        <p:spPr>
          <a:xfrm>
            <a:off x="5880100" y="4323404"/>
            <a:ext cx="622200" cy="7566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16"/>
          <p:cNvSpPr txBox="1"/>
          <p:nvPr/>
        </p:nvSpPr>
        <p:spPr>
          <a:xfrm>
            <a:off x="5753100" y="3917004"/>
            <a:ext cx="10161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73541"/>
                </a:solidFill>
              </a:rPr>
              <a:t>29.8%</a:t>
            </a:r>
            <a:endParaRPr b="1" sz="1600">
              <a:solidFill>
                <a:srgbClr val="173541"/>
              </a:solidFill>
            </a:endParaRPr>
          </a:p>
        </p:txBody>
      </p:sp>
      <p:sp>
        <p:nvSpPr>
          <p:cNvPr id="253" name="Google Shape;253;p16"/>
          <p:cNvSpPr txBox="1"/>
          <p:nvPr/>
        </p:nvSpPr>
        <p:spPr>
          <a:xfrm>
            <a:off x="5803900" y="5168900"/>
            <a:ext cx="9525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May</a:t>
            </a:r>
            <a:endParaRPr sz="1700">
              <a:solidFill>
                <a:srgbClr val="58717A"/>
              </a:solidFill>
            </a:endParaRPr>
          </a:p>
        </p:txBody>
      </p:sp>
      <p:sp>
        <p:nvSpPr>
          <p:cNvPr id="254" name="Google Shape;254;p16"/>
          <p:cNvSpPr/>
          <p:nvPr/>
        </p:nvSpPr>
        <p:spPr>
          <a:xfrm>
            <a:off x="6972300" y="4039016"/>
            <a:ext cx="622200" cy="10410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16"/>
          <p:cNvSpPr txBox="1"/>
          <p:nvPr/>
        </p:nvSpPr>
        <p:spPr>
          <a:xfrm>
            <a:off x="6845300" y="3632616"/>
            <a:ext cx="10161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73541"/>
                </a:solidFill>
              </a:rPr>
              <a:t>41.0%</a:t>
            </a:r>
            <a:endParaRPr b="1" sz="1600">
              <a:solidFill>
                <a:srgbClr val="173541"/>
              </a:solidFill>
            </a:endParaRPr>
          </a:p>
        </p:txBody>
      </p:sp>
      <p:sp>
        <p:nvSpPr>
          <p:cNvPr id="256" name="Google Shape;256;p16"/>
          <p:cNvSpPr txBox="1"/>
          <p:nvPr/>
        </p:nvSpPr>
        <p:spPr>
          <a:xfrm>
            <a:off x="6896100" y="5168900"/>
            <a:ext cx="9525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Jun</a:t>
            </a:r>
            <a:endParaRPr sz="1700">
              <a:solidFill>
                <a:srgbClr val="58717A"/>
              </a:solidFill>
            </a:endParaRPr>
          </a:p>
        </p:txBody>
      </p:sp>
      <p:sp>
        <p:nvSpPr>
          <p:cNvPr id="257" name="Google Shape;257;p16"/>
          <p:cNvSpPr/>
          <p:nvPr/>
        </p:nvSpPr>
        <p:spPr>
          <a:xfrm>
            <a:off x="8064500" y="4064000"/>
            <a:ext cx="622200" cy="10161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16"/>
          <p:cNvSpPr txBox="1"/>
          <p:nvPr/>
        </p:nvSpPr>
        <p:spPr>
          <a:xfrm>
            <a:off x="7937500" y="3657600"/>
            <a:ext cx="10161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73541"/>
                </a:solidFill>
              </a:rPr>
              <a:t>40.0%</a:t>
            </a:r>
            <a:endParaRPr b="1" sz="1600">
              <a:solidFill>
                <a:srgbClr val="173541"/>
              </a:solidFill>
            </a:endParaRPr>
          </a:p>
        </p:txBody>
      </p:sp>
      <p:sp>
        <p:nvSpPr>
          <p:cNvPr id="259" name="Google Shape;259;p16"/>
          <p:cNvSpPr txBox="1"/>
          <p:nvPr/>
        </p:nvSpPr>
        <p:spPr>
          <a:xfrm>
            <a:off x="7988300" y="5168900"/>
            <a:ext cx="9525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Jul</a:t>
            </a:r>
            <a:endParaRPr sz="1700">
              <a:solidFill>
                <a:srgbClr val="58717A"/>
              </a:solidFill>
            </a:endParaRPr>
          </a:p>
        </p:txBody>
      </p:sp>
      <p:sp>
        <p:nvSpPr>
          <p:cNvPr id="260" name="Google Shape;260;p16"/>
          <p:cNvSpPr/>
          <p:nvPr/>
        </p:nvSpPr>
        <p:spPr>
          <a:xfrm>
            <a:off x="9156700" y="4141304"/>
            <a:ext cx="622200" cy="9387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16"/>
          <p:cNvSpPr txBox="1"/>
          <p:nvPr/>
        </p:nvSpPr>
        <p:spPr>
          <a:xfrm>
            <a:off x="9029700" y="3734904"/>
            <a:ext cx="10161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73541"/>
                </a:solidFill>
              </a:rPr>
              <a:t>37.0%</a:t>
            </a:r>
            <a:endParaRPr b="1" sz="1600">
              <a:solidFill>
                <a:srgbClr val="173541"/>
              </a:solidFill>
            </a:endParaRPr>
          </a:p>
        </p:txBody>
      </p:sp>
      <p:sp>
        <p:nvSpPr>
          <p:cNvPr id="262" name="Google Shape;262;p16"/>
          <p:cNvSpPr txBox="1"/>
          <p:nvPr/>
        </p:nvSpPr>
        <p:spPr>
          <a:xfrm>
            <a:off x="9080500" y="5168900"/>
            <a:ext cx="9525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Aug</a:t>
            </a:r>
            <a:endParaRPr sz="1700">
              <a:solidFill>
                <a:srgbClr val="58717A"/>
              </a:solidFill>
            </a:endParaRPr>
          </a:p>
        </p:txBody>
      </p:sp>
      <p:sp>
        <p:nvSpPr>
          <p:cNvPr id="263" name="Google Shape;263;p16"/>
          <p:cNvSpPr/>
          <p:nvPr/>
        </p:nvSpPr>
        <p:spPr>
          <a:xfrm>
            <a:off x="10248900" y="3442645"/>
            <a:ext cx="622200" cy="1637400"/>
          </a:xfrm>
          <a:prstGeom prst="rect">
            <a:avLst/>
          </a:prstGeom>
          <a:solidFill>
            <a:srgbClr val="167D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16"/>
          <p:cNvSpPr/>
          <p:nvPr/>
        </p:nvSpPr>
        <p:spPr>
          <a:xfrm>
            <a:off x="10248900" y="3400661"/>
            <a:ext cx="622200" cy="42000"/>
          </a:xfrm>
          <a:prstGeom prst="rect">
            <a:avLst/>
          </a:prstGeom>
          <a:solidFill>
            <a:srgbClr val="C573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16"/>
          <p:cNvSpPr txBox="1"/>
          <p:nvPr/>
        </p:nvSpPr>
        <p:spPr>
          <a:xfrm>
            <a:off x="10121900" y="2994261"/>
            <a:ext cx="10161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73541"/>
                </a:solidFill>
              </a:rPr>
              <a:t>66.1%</a:t>
            </a:r>
            <a:endParaRPr b="1" sz="1600">
              <a:solidFill>
                <a:srgbClr val="173541"/>
              </a:solidFill>
            </a:endParaRPr>
          </a:p>
        </p:txBody>
      </p:sp>
      <p:sp>
        <p:nvSpPr>
          <p:cNvPr id="266" name="Google Shape;266;p16"/>
          <p:cNvSpPr txBox="1"/>
          <p:nvPr/>
        </p:nvSpPr>
        <p:spPr>
          <a:xfrm>
            <a:off x="10172700" y="5168900"/>
            <a:ext cx="9525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58717A"/>
                </a:solidFill>
              </a:rPr>
              <a:t>Sep*</a:t>
            </a:r>
            <a:endParaRPr sz="1700">
              <a:solidFill>
                <a:srgbClr val="58717A"/>
              </a:solidFill>
            </a:endParaRPr>
          </a:p>
        </p:txBody>
      </p:sp>
      <p:sp>
        <p:nvSpPr>
          <p:cNvPr id="267" name="Google Shape;267;p16"/>
          <p:cNvSpPr txBox="1"/>
          <p:nvPr/>
        </p:nvSpPr>
        <p:spPr>
          <a:xfrm>
            <a:off x="1397000" y="2108200"/>
            <a:ext cx="12699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67D8D"/>
                </a:solidFill>
              </a:rPr>
              <a:t>Claude</a:t>
            </a:r>
            <a:endParaRPr b="1" sz="1600">
              <a:solidFill>
                <a:srgbClr val="167D8D"/>
              </a:solidFill>
            </a:endParaRPr>
          </a:p>
        </p:txBody>
      </p:sp>
      <p:sp>
        <p:nvSpPr>
          <p:cNvPr id="268" name="Google Shape;268;p16"/>
          <p:cNvSpPr txBox="1"/>
          <p:nvPr/>
        </p:nvSpPr>
        <p:spPr>
          <a:xfrm>
            <a:off x="2705100" y="2108200"/>
            <a:ext cx="12699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C57335"/>
                </a:solidFill>
              </a:rPr>
              <a:t>Codex</a:t>
            </a:r>
            <a:endParaRPr b="1" sz="1600">
              <a:solidFill>
                <a:srgbClr val="C57335"/>
              </a:solidFill>
            </a:endParaRPr>
          </a:p>
        </p:txBody>
      </p:sp>
      <p:sp>
        <p:nvSpPr>
          <p:cNvPr id="269" name="Google Shape;269;p16"/>
          <p:cNvSpPr txBox="1"/>
          <p:nvPr/>
        </p:nvSpPr>
        <p:spPr>
          <a:xfrm>
            <a:off x="762000" y="5778500"/>
            <a:ext cx="10668000" cy="36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173541"/>
                </a:solidFill>
              </a:rPr>
              <a:t>Co-author trailer OR linked PR disclosure; each commit counted once</a:t>
            </a:r>
            <a:endParaRPr sz="1700">
              <a:solidFill>
                <a:srgbClr val="173541"/>
              </a:solidFill>
            </a:endParaRPr>
          </a:p>
        </p:txBody>
      </p:sp>
      <p:sp>
        <p:nvSpPr>
          <p:cNvPr id="270" name="Google Shape;270;p16"/>
          <p:cNvSpPr txBox="1"/>
          <p:nvPr/>
        </p:nvSpPr>
        <p:spPr>
          <a:xfrm>
            <a:off x="762000" y="6273800"/>
            <a:ext cx="106680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58717A"/>
                </a:solidFill>
                <a:hlinkClick r:id="rId3">
                  <a:extLst>
                    <a:ext uri="{A12FA001-AC4F-418D-AE19-62706E023703}">
                      <ahyp:hlinkClr val="tx"/>
                    </a:ext>
                  </a:extLst>
                </a:hlinkClick>
              </a:rPr>
              <a:t>Main history + PR descriptions, 30 Sep 2026. *September partial. Optional disclosure; not the fraction of AI-written code.</a:t>
            </a:r>
            <a:endParaRPr sz="1100">
              <a:solidFill>
                <a:srgbClr val="58717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275" name="Shape 275"/>
        <p:cNvGrpSpPr/>
        <p:nvPr/>
      </p:nvGrpSpPr>
      <p:grpSpPr>
        <a:xfrm>
          <a:off x="0" y="0"/>
          <a:ext cx="0" cy="0"/>
          <a:chOff x="0" y="0"/>
          <a:chExt cx="0" cy="0"/>
        </a:xfrm>
      </p:grpSpPr>
      <p:sp>
        <p:nvSpPr>
          <p:cNvPr id="276" name="Google Shape;276;p17"/>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F6F5F0"/>
                </a:solidFill>
              </a:rPr>
              <a:t>Review can become the bottleneck</a:t>
            </a:r>
            <a:endParaRPr b="1" i="0" sz="3200" u="none" cap="none" strike="noStrike">
              <a:solidFill>
                <a:srgbClr val="F6F5F0"/>
              </a:solidFill>
            </a:endParaRPr>
          </a:p>
        </p:txBody>
      </p:sp>
      <p:sp>
        <p:nvSpPr>
          <p:cNvPr id="277" name="Google Shape;277;p17"/>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8FD5CA"/>
                </a:solidFill>
              </a:rPr>
              <a:t>More implementations arrive.</a:t>
            </a:r>
            <a:endParaRPr b="1" sz="2900">
              <a:solidFill>
                <a:srgbClr val="8FD5CA"/>
              </a:solidFill>
            </a:endParaRPr>
          </a:p>
          <a:p>
            <a:pPr indent="0" lvl="0" marL="0" rtl="0" algn="l">
              <a:lnSpc>
                <a:spcPct val="110000"/>
              </a:lnSpc>
              <a:spcBef>
                <a:spcPts val="0"/>
              </a:spcBef>
              <a:spcAft>
                <a:spcPts val="0"/>
              </a:spcAft>
              <a:buNone/>
            </a:pPr>
            <a:r>
              <a:rPr b="1" lang="en-US" sz="2900">
                <a:solidFill>
                  <a:srgbClr val="8FD5CA"/>
                </a:solidFill>
              </a:rPr>
              <a:t>Maintainer time remains limited.</a:t>
            </a:r>
            <a:endParaRPr b="1" sz="2900">
              <a:solidFill>
                <a:srgbClr val="8FD5CA"/>
              </a:solidFill>
            </a:endParaRPr>
          </a:p>
        </p:txBody>
      </p:sp>
      <p:sp>
        <p:nvSpPr>
          <p:cNvPr id="278" name="Google Shape;278;p17"/>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F6F5F0"/>
                </a:solidFill>
              </a:rPr>
              <a:t>If we thoroughly vet every PR, our ability to review</a:t>
            </a:r>
            <a:endParaRPr sz="2400">
              <a:solidFill>
                <a:srgbClr val="F6F5F0"/>
              </a:solidFill>
            </a:endParaRPr>
          </a:p>
          <a:p>
            <a:pPr indent="0" lvl="0" marL="0" rtl="0" algn="l">
              <a:lnSpc>
                <a:spcPct val="110000"/>
              </a:lnSpc>
              <a:spcBef>
                <a:spcPts val="0"/>
              </a:spcBef>
              <a:spcAft>
                <a:spcPts val="0"/>
              </a:spcAft>
              <a:buNone/>
            </a:pPr>
            <a:r>
              <a:rPr lang="en-US" sz="2400">
                <a:solidFill>
                  <a:srgbClr val="F6F5F0"/>
                </a:solidFill>
              </a:rPr>
              <a:t>limits how quickly the model can develop.</a:t>
            </a:r>
            <a:endParaRPr sz="2400">
              <a:solidFill>
                <a:srgbClr val="F6F5F0"/>
              </a:solidFill>
            </a:endParaRPr>
          </a:p>
        </p:txBody>
      </p:sp>
      <p:sp>
        <p:nvSpPr>
          <p:cNvPr id="279" name="Google Shape;279;p17"/>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F6F5F0"/>
                </a:solidFill>
              </a:rPr>
              <a:t>Cheaper implementation can mean a longer review queue.</a:t>
            </a:r>
            <a:endParaRPr b="1" sz="2400">
              <a:solidFill>
                <a:srgbClr val="F6F5F0"/>
              </a:solidFill>
            </a:endParaRPr>
          </a:p>
        </p:txBody>
      </p:sp>
      <p:sp>
        <p:nvSpPr>
          <p:cNvPr id="280" name="Google Shape;280;p17"/>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A5C2C9"/>
                </a:solidFill>
                <a:hlinkClick r:id="rId3">
                  <a:extLst>
                    <a:ext uri="{A12FA001-AC4F-418D-AE19-62706E023703}">
                      <ahyp:hlinkClr val="tx"/>
                    </a:ext>
                  </a:extLst>
                </a:hlinkClick>
              </a:rPr>
              <a:t>Related discussion: Google Cloud, “When AI writes the code, who reviews it?”</a:t>
            </a:r>
            <a:endParaRPr sz="1100">
              <a:solidFill>
                <a:srgbClr val="A5C2C9"/>
              </a:solidFill>
            </a:endParaRPr>
          </a:p>
        </p:txBody>
      </p:sp>
      <p:sp>
        <p:nvSpPr>
          <p:cNvPr id="281" name="Google Shape;281;p17"/>
          <p:cNvSpPr txBox="1"/>
          <p:nvPr/>
        </p:nvSpPr>
        <p:spPr>
          <a:xfrm>
            <a:off x="762000" y="65278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A5C2C9"/>
                </a:solidFill>
                <a:hlinkClick r:id="rId4">
                  <a:extLst>
                    <a:ext uri="{A12FA001-AC4F-418D-AE19-62706E023703}">
                      <ahyp:hlinkClr val="tx"/>
                    </a:ext>
                  </a:extLst>
                </a:hlinkClick>
              </a:rPr>
              <a:t>Also: Anthropic (2026), “Bringing Code Review to Claude Code”</a:t>
            </a:r>
            <a:endParaRPr sz="1100">
              <a:solidFill>
                <a:srgbClr val="A5C2C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286" name="Shape 286"/>
        <p:cNvGrpSpPr/>
        <p:nvPr/>
      </p:nvGrpSpPr>
      <p:grpSpPr>
        <a:xfrm>
          <a:off x="0" y="0"/>
          <a:ext cx="0" cy="0"/>
          <a:chOff x="0" y="0"/>
          <a:chExt cx="0" cy="0"/>
        </a:xfrm>
      </p:grpSpPr>
      <p:sp>
        <p:nvSpPr>
          <p:cNvPr id="287" name="Google Shape;287;p18"/>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AI-generated code still needs review</a:t>
            </a:r>
            <a:endParaRPr b="1" i="0" sz="3200" u="none" cap="none" strike="noStrike">
              <a:solidFill>
                <a:srgbClr val="173541"/>
              </a:solidFill>
            </a:endParaRPr>
          </a:p>
        </p:txBody>
      </p:sp>
      <p:sp>
        <p:nvSpPr>
          <p:cNvPr id="288" name="Google Shape;288;p18"/>
          <p:cNvSpPr txBox="1"/>
          <p:nvPr/>
        </p:nvSpPr>
        <p:spPr>
          <a:xfrm>
            <a:off x="762000" y="17780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An Oceananigans contributor makes</a:t>
            </a:r>
            <a:endParaRPr b="1" sz="2900">
              <a:solidFill>
                <a:srgbClr val="167D8D"/>
              </a:solidFill>
            </a:endParaRPr>
          </a:p>
          <a:p>
            <a:pPr indent="0" lvl="0" marL="0" rtl="0" algn="l">
              <a:lnSpc>
                <a:spcPct val="110000"/>
              </a:lnSpc>
              <a:spcBef>
                <a:spcPts val="0"/>
              </a:spcBef>
              <a:spcAft>
                <a:spcPts val="0"/>
              </a:spcAft>
              <a:buNone/>
            </a:pPr>
            <a:r>
              <a:rPr b="1" lang="en-US" sz="2900">
                <a:solidFill>
                  <a:srgbClr val="167D8D"/>
                </a:solidFill>
              </a:rPr>
              <a:t>the division of labor explicit.</a:t>
            </a:r>
            <a:endParaRPr b="1" sz="2900">
              <a:solidFill>
                <a:srgbClr val="167D8D"/>
              </a:solidFill>
            </a:endParaRPr>
          </a:p>
        </p:txBody>
      </p:sp>
      <p:sp>
        <p:nvSpPr>
          <p:cNvPr id="289" name="Google Shape;289;p18"/>
          <p:cNvSpPr txBox="1"/>
          <p:nvPr/>
        </p:nvSpPr>
        <p:spPr>
          <a:xfrm>
            <a:off x="762000" y="3302000"/>
            <a:ext cx="10668000" cy="158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“Code and most of this PR description were</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generated with Claude Code.”</a:t>
            </a:r>
            <a:endParaRPr sz="2400">
              <a:solidFill>
                <a:srgbClr val="173541"/>
              </a:solidFill>
            </a:endParaRPr>
          </a:p>
        </p:txBody>
      </p:sp>
      <p:sp>
        <p:nvSpPr>
          <p:cNvPr id="290" name="Google Shape;290;p18"/>
          <p:cNvSpPr txBox="1"/>
          <p:nvPr/>
        </p:nvSpPr>
        <p:spPr>
          <a:xfrm>
            <a:off x="762000" y="5194300"/>
            <a:ext cx="106680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300">
                <a:solidFill>
                  <a:srgbClr val="173541"/>
                </a:solidFill>
              </a:rPr>
              <a:t>The author reviewed it, then requested another review.</a:t>
            </a:r>
            <a:endParaRPr b="1" sz="2300">
              <a:solidFill>
                <a:srgbClr val="173541"/>
              </a:solidFill>
            </a:endParaRPr>
          </a:p>
        </p:txBody>
      </p:sp>
      <p:sp>
        <p:nvSpPr>
          <p:cNvPr id="291" name="Google Shape;291;p18"/>
          <p:cNvSpPr txBox="1"/>
          <p:nvPr/>
        </p:nvSpPr>
        <p:spPr>
          <a:xfrm>
            <a:off x="762000" y="6350000"/>
            <a:ext cx="10668000" cy="304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chemeClr val="hlink"/>
                </a:solidFill>
                <a:hlinkClick r:id="rId3"/>
              </a:rPr>
              <a:t>Oceananigans PR #5742 · merged 26 August 2026</a:t>
            </a:r>
            <a:endParaRPr sz="1100">
              <a:solidFill>
                <a:srgbClr val="58717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296" name="Shape 296"/>
        <p:cNvGrpSpPr/>
        <p:nvPr/>
      </p:nvGrpSpPr>
      <p:grpSpPr>
        <a:xfrm>
          <a:off x="0" y="0"/>
          <a:ext cx="0" cy="0"/>
          <a:chOff x="0" y="0"/>
          <a:chExt cx="0" cy="0"/>
        </a:xfrm>
      </p:grpSpPr>
      <p:sp>
        <p:nvSpPr>
          <p:cNvPr id="297" name="Google Shape;297;p19"/>
          <p:cNvSpPr txBox="1"/>
          <p:nvPr/>
        </p:nvSpPr>
        <p:spPr>
          <a:xfrm>
            <a:off x="762000" y="469900"/>
            <a:ext cx="10668000" cy="1016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The open PR inventory has grown</a:t>
            </a:r>
            <a:endParaRPr b="1" i="0" sz="3200" u="none" cap="none" strike="noStrike">
              <a:solidFill>
                <a:srgbClr val="173541"/>
              </a:solidFill>
            </a:endParaRPr>
          </a:p>
        </p:txBody>
      </p:sp>
      <p:sp>
        <p:nvSpPr>
          <p:cNvPr id="298" name="Google Shape;298;p19"/>
          <p:cNvSpPr txBox="1"/>
          <p:nvPr/>
        </p:nvSpPr>
        <p:spPr>
          <a:xfrm>
            <a:off x="762000" y="1524000"/>
            <a:ext cx="106680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900">
                <a:solidFill>
                  <a:srgbClr val="167D8D"/>
                </a:solidFill>
              </a:rPr>
              <a:t>51 at end-2025 → 115 at end-August 2026</a:t>
            </a:r>
            <a:endParaRPr b="1" sz="2900">
              <a:solidFill>
                <a:srgbClr val="167D8D"/>
              </a:solidFill>
            </a:endParaRPr>
          </a:p>
        </p:txBody>
      </p:sp>
      <p:cxnSp>
        <p:nvCxnSpPr>
          <p:cNvPr id="299" name="Google Shape;299;p19"/>
          <p:cNvCxnSpPr/>
          <p:nvPr/>
        </p:nvCxnSpPr>
        <p:spPr>
          <a:xfrm>
            <a:off x="1397000" y="5334000"/>
            <a:ext cx="9842400" cy="0"/>
          </a:xfrm>
          <a:prstGeom prst="straightConnector1">
            <a:avLst/>
          </a:prstGeom>
          <a:noFill/>
          <a:ln cap="flat" cmpd="sng" w="7625">
            <a:solidFill>
              <a:srgbClr val="BAC9CC"/>
            </a:solidFill>
            <a:prstDash val="solid"/>
            <a:round/>
            <a:headEnd len="med" w="med" type="none"/>
            <a:tailEnd len="med" w="med" type="none"/>
          </a:ln>
        </p:spPr>
      </p:cxnSp>
      <p:sp>
        <p:nvSpPr>
          <p:cNvPr id="300" name="Google Shape;300;p19"/>
          <p:cNvSpPr txBox="1"/>
          <p:nvPr/>
        </p:nvSpPr>
        <p:spPr>
          <a:xfrm>
            <a:off x="736600" y="5181600"/>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0</a:t>
            </a:r>
            <a:endParaRPr sz="1500">
              <a:solidFill>
                <a:srgbClr val="58717A"/>
              </a:solidFill>
            </a:endParaRPr>
          </a:p>
        </p:txBody>
      </p:sp>
      <p:cxnSp>
        <p:nvCxnSpPr>
          <p:cNvPr id="301" name="Google Shape;301;p19"/>
          <p:cNvCxnSpPr/>
          <p:nvPr/>
        </p:nvCxnSpPr>
        <p:spPr>
          <a:xfrm>
            <a:off x="1397000" y="4762500"/>
            <a:ext cx="9842400" cy="0"/>
          </a:xfrm>
          <a:prstGeom prst="straightConnector1">
            <a:avLst/>
          </a:prstGeom>
          <a:noFill/>
          <a:ln cap="flat" cmpd="sng" w="7625">
            <a:solidFill>
              <a:srgbClr val="BAC9CC"/>
            </a:solidFill>
            <a:prstDash val="solid"/>
            <a:round/>
            <a:headEnd len="med" w="med" type="none"/>
            <a:tailEnd len="med" w="med" type="none"/>
          </a:ln>
        </p:spPr>
      </p:cxnSp>
      <p:sp>
        <p:nvSpPr>
          <p:cNvPr id="302" name="Google Shape;302;p19"/>
          <p:cNvSpPr txBox="1"/>
          <p:nvPr/>
        </p:nvSpPr>
        <p:spPr>
          <a:xfrm>
            <a:off x="736600" y="4610100"/>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25</a:t>
            </a:r>
            <a:endParaRPr sz="1500">
              <a:solidFill>
                <a:srgbClr val="58717A"/>
              </a:solidFill>
            </a:endParaRPr>
          </a:p>
        </p:txBody>
      </p:sp>
      <p:cxnSp>
        <p:nvCxnSpPr>
          <p:cNvPr id="303" name="Google Shape;303;p19"/>
          <p:cNvCxnSpPr/>
          <p:nvPr/>
        </p:nvCxnSpPr>
        <p:spPr>
          <a:xfrm>
            <a:off x="1397000" y="4191000"/>
            <a:ext cx="9842400" cy="0"/>
          </a:xfrm>
          <a:prstGeom prst="straightConnector1">
            <a:avLst/>
          </a:prstGeom>
          <a:noFill/>
          <a:ln cap="flat" cmpd="sng" w="7625">
            <a:solidFill>
              <a:srgbClr val="BAC9CC"/>
            </a:solidFill>
            <a:prstDash val="solid"/>
            <a:round/>
            <a:headEnd len="med" w="med" type="none"/>
            <a:tailEnd len="med" w="med" type="none"/>
          </a:ln>
        </p:spPr>
      </p:cxnSp>
      <p:sp>
        <p:nvSpPr>
          <p:cNvPr id="304" name="Google Shape;304;p19"/>
          <p:cNvSpPr txBox="1"/>
          <p:nvPr/>
        </p:nvSpPr>
        <p:spPr>
          <a:xfrm>
            <a:off x="736600" y="4038600"/>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50</a:t>
            </a:r>
            <a:endParaRPr sz="1500">
              <a:solidFill>
                <a:srgbClr val="58717A"/>
              </a:solidFill>
            </a:endParaRPr>
          </a:p>
        </p:txBody>
      </p:sp>
      <p:cxnSp>
        <p:nvCxnSpPr>
          <p:cNvPr id="305" name="Google Shape;305;p19"/>
          <p:cNvCxnSpPr/>
          <p:nvPr/>
        </p:nvCxnSpPr>
        <p:spPr>
          <a:xfrm>
            <a:off x="1397000" y="3619500"/>
            <a:ext cx="9842400" cy="0"/>
          </a:xfrm>
          <a:prstGeom prst="straightConnector1">
            <a:avLst/>
          </a:prstGeom>
          <a:noFill/>
          <a:ln cap="flat" cmpd="sng" w="7625">
            <a:solidFill>
              <a:srgbClr val="BAC9CC"/>
            </a:solidFill>
            <a:prstDash val="solid"/>
            <a:round/>
            <a:headEnd len="med" w="med" type="none"/>
            <a:tailEnd len="med" w="med" type="none"/>
          </a:ln>
        </p:spPr>
      </p:cxnSp>
      <p:sp>
        <p:nvSpPr>
          <p:cNvPr id="306" name="Google Shape;306;p19"/>
          <p:cNvSpPr txBox="1"/>
          <p:nvPr/>
        </p:nvSpPr>
        <p:spPr>
          <a:xfrm>
            <a:off x="736600" y="3467100"/>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75</a:t>
            </a:r>
            <a:endParaRPr sz="1500">
              <a:solidFill>
                <a:srgbClr val="58717A"/>
              </a:solidFill>
            </a:endParaRPr>
          </a:p>
        </p:txBody>
      </p:sp>
      <p:cxnSp>
        <p:nvCxnSpPr>
          <p:cNvPr id="307" name="Google Shape;307;p19"/>
          <p:cNvCxnSpPr/>
          <p:nvPr/>
        </p:nvCxnSpPr>
        <p:spPr>
          <a:xfrm>
            <a:off x="1397000" y="3048000"/>
            <a:ext cx="9842400" cy="0"/>
          </a:xfrm>
          <a:prstGeom prst="straightConnector1">
            <a:avLst/>
          </a:prstGeom>
          <a:noFill/>
          <a:ln cap="flat" cmpd="sng" w="7625">
            <a:solidFill>
              <a:srgbClr val="BAC9CC"/>
            </a:solidFill>
            <a:prstDash val="solid"/>
            <a:round/>
            <a:headEnd len="med" w="med" type="none"/>
            <a:tailEnd len="med" w="med" type="none"/>
          </a:ln>
        </p:spPr>
      </p:cxnSp>
      <p:sp>
        <p:nvSpPr>
          <p:cNvPr id="308" name="Google Shape;308;p19"/>
          <p:cNvSpPr txBox="1"/>
          <p:nvPr/>
        </p:nvSpPr>
        <p:spPr>
          <a:xfrm>
            <a:off x="736600" y="2895600"/>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100</a:t>
            </a:r>
            <a:endParaRPr sz="1500">
              <a:solidFill>
                <a:srgbClr val="58717A"/>
              </a:solidFill>
            </a:endParaRPr>
          </a:p>
        </p:txBody>
      </p:sp>
      <p:cxnSp>
        <p:nvCxnSpPr>
          <p:cNvPr id="309" name="Google Shape;309;p19"/>
          <p:cNvCxnSpPr/>
          <p:nvPr/>
        </p:nvCxnSpPr>
        <p:spPr>
          <a:xfrm>
            <a:off x="1397000" y="2476500"/>
            <a:ext cx="9842400" cy="0"/>
          </a:xfrm>
          <a:prstGeom prst="straightConnector1">
            <a:avLst/>
          </a:prstGeom>
          <a:noFill/>
          <a:ln cap="flat" cmpd="sng" w="7625">
            <a:solidFill>
              <a:srgbClr val="BAC9CC"/>
            </a:solidFill>
            <a:prstDash val="solid"/>
            <a:round/>
            <a:headEnd len="med" w="med" type="none"/>
            <a:tailEnd len="med" w="med" type="none"/>
          </a:ln>
        </p:spPr>
      </p:cxnSp>
      <p:sp>
        <p:nvSpPr>
          <p:cNvPr id="310" name="Google Shape;310;p19"/>
          <p:cNvSpPr txBox="1"/>
          <p:nvPr/>
        </p:nvSpPr>
        <p:spPr>
          <a:xfrm>
            <a:off x="736600" y="2324100"/>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125</a:t>
            </a:r>
            <a:endParaRPr sz="1500">
              <a:solidFill>
                <a:srgbClr val="58717A"/>
              </a:solidFill>
            </a:endParaRPr>
          </a:p>
        </p:txBody>
      </p:sp>
      <p:cxnSp>
        <p:nvCxnSpPr>
          <p:cNvPr id="311" name="Google Shape;311;p19"/>
          <p:cNvCxnSpPr/>
          <p:nvPr/>
        </p:nvCxnSpPr>
        <p:spPr>
          <a:xfrm>
            <a:off x="1397000" y="3962400"/>
            <a:ext cx="317400" cy="22800"/>
          </a:xfrm>
          <a:prstGeom prst="straightConnector1">
            <a:avLst/>
          </a:prstGeom>
          <a:noFill/>
          <a:ln cap="flat" cmpd="sng" w="25400">
            <a:solidFill>
              <a:srgbClr val="167D8D"/>
            </a:solidFill>
            <a:prstDash val="solid"/>
            <a:round/>
            <a:headEnd len="med" w="med" type="none"/>
            <a:tailEnd len="med" w="med" type="none"/>
          </a:ln>
        </p:spPr>
      </p:cxnSp>
      <p:cxnSp>
        <p:nvCxnSpPr>
          <p:cNvPr id="312" name="Google Shape;312;p19"/>
          <p:cNvCxnSpPr/>
          <p:nvPr/>
        </p:nvCxnSpPr>
        <p:spPr>
          <a:xfrm flipH="1" rot="10800000">
            <a:off x="1714500" y="3939660"/>
            <a:ext cx="317400" cy="45600"/>
          </a:xfrm>
          <a:prstGeom prst="straightConnector1">
            <a:avLst/>
          </a:prstGeom>
          <a:noFill/>
          <a:ln cap="flat" cmpd="sng" w="25400">
            <a:solidFill>
              <a:srgbClr val="167D8D"/>
            </a:solidFill>
            <a:prstDash val="solid"/>
            <a:round/>
            <a:headEnd len="med" w="med" type="none"/>
            <a:tailEnd len="med" w="med" type="none"/>
          </a:ln>
        </p:spPr>
      </p:cxnSp>
      <p:cxnSp>
        <p:nvCxnSpPr>
          <p:cNvPr id="313" name="Google Shape;313;p19"/>
          <p:cNvCxnSpPr/>
          <p:nvPr/>
        </p:nvCxnSpPr>
        <p:spPr>
          <a:xfrm>
            <a:off x="2032000" y="3939540"/>
            <a:ext cx="317400" cy="22800"/>
          </a:xfrm>
          <a:prstGeom prst="straightConnector1">
            <a:avLst/>
          </a:prstGeom>
          <a:noFill/>
          <a:ln cap="flat" cmpd="sng" w="25400">
            <a:solidFill>
              <a:srgbClr val="167D8D"/>
            </a:solidFill>
            <a:prstDash val="solid"/>
            <a:round/>
            <a:headEnd len="med" w="med" type="none"/>
            <a:tailEnd len="med" w="med" type="none"/>
          </a:ln>
        </p:spPr>
      </p:cxnSp>
      <p:cxnSp>
        <p:nvCxnSpPr>
          <p:cNvPr id="314" name="Google Shape;314;p19"/>
          <p:cNvCxnSpPr/>
          <p:nvPr/>
        </p:nvCxnSpPr>
        <p:spPr>
          <a:xfrm flipH="1" rot="10800000">
            <a:off x="2349500" y="3802500"/>
            <a:ext cx="317400" cy="159900"/>
          </a:xfrm>
          <a:prstGeom prst="straightConnector1">
            <a:avLst/>
          </a:prstGeom>
          <a:noFill/>
          <a:ln cap="flat" cmpd="sng" w="25400">
            <a:solidFill>
              <a:srgbClr val="167D8D"/>
            </a:solidFill>
            <a:prstDash val="solid"/>
            <a:round/>
            <a:headEnd len="med" w="med" type="none"/>
            <a:tailEnd len="med" w="med" type="none"/>
          </a:ln>
        </p:spPr>
      </p:cxnSp>
      <p:cxnSp>
        <p:nvCxnSpPr>
          <p:cNvPr id="315" name="Google Shape;315;p19"/>
          <p:cNvCxnSpPr/>
          <p:nvPr/>
        </p:nvCxnSpPr>
        <p:spPr>
          <a:xfrm>
            <a:off x="2667000" y="3802380"/>
            <a:ext cx="317400" cy="22800"/>
          </a:xfrm>
          <a:prstGeom prst="straightConnector1">
            <a:avLst/>
          </a:prstGeom>
          <a:noFill/>
          <a:ln cap="flat" cmpd="sng" w="25400">
            <a:solidFill>
              <a:srgbClr val="167D8D"/>
            </a:solidFill>
            <a:prstDash val="solid"/>
            <a:round/>
            <a:headEnd len="med" w="med" type="none"/>
            <a:tailEnd len="med" w="med" type="none"/>
          </a:ln>
        </p:spPr>
      </p:cxnSp>
      <p:cxnSp>
        <p:nvCxnSpPr>
          <p:cNvPr id="316" name="Google Shape;316;p19"/>
          <p:cNvCxnSpPr/>
          <p:nvPr/>
        </p:nvCxnSpPr>
        <p:spPr>
          <a:xfrm flipH="1" rot="10800000">
            <a:off x="2984500" y="3619440"/>
            <a:ext cx="317400" cy="205800"/>
          </a:xfrm>
          <a:prstGeom prst="straightConnector1">
            <a:avLst/>
          </a:prstGeom>
          <a:noFill/>
          <a:ln cap="flat" cmpd="sng" w="25400">
            <a:solidFill>
              <a:srgbClr val="167D8D"/>
            </a:solidFill>
            <a:prstDash val="solid"/>
            <a:round/>
            <a:headEnd len="med" w="med" type="none"/>
            <a:tailEnd len="med" w="med" type="none"/>
          </a:ln>
        </p:spPr>
      </p:cxnSp>
      <p:cxnSp>
        <p:nvCxnSpPr>
          <p:cNvPr id="317" name="Google Shape;317;p19"/>
          <p:cNvCxnSpPr/>
          <p:nvPr/>
        </p:nvCxnSpPr>
        <p:spPr>
          <a:xfrm>
            <a:off x="3302000" y="3619500"/>
            <a:ext cx="317400" cy="68700"/>
          </a:xfrm>
          <a:prstGeom prst="straightConnector1">
            <a:avLst/>
          </a:prstGeom>
          <a:noFill/>
          <a:ln cap="flat" cmpd="sng" w="25400">
            <a:solidFill>
              <a:srgbClr val="167D8D"/>
            </a:solidFill>
            <a:prstDash val="solid"/>
            <a:round/>
            <a:headEnd len="med" w="med" type="none"/>
            <a:tailEnd len="med" w="med" type="none"/>
          </a:ln>
        </p:spPr>
      </p:cxnSp>
      <p:cxnSp>
        <p:nvCxnSpPr>
          <p:cNvPr id="318" name="Google Shape;318;p19"/>
          <p:cNvCxnSpPr/>
          <p:nvPr/>
        </p:nvCxnSpPr>
        <p:spPr>
          <a:xfrm>
            <a:off x="3619500" y="3688080"/>
            <a:ext cx="317400" cy="45600"/>
          </a:xfrm>
          <a:prstGeom prst="straightConnector1">
            <a:avLst/>
          </a:prstGeom>
          <a:noFill/>
          <a:ln cap="flat" cmpd="sng" w="25400">
            <a:solidFill>
              <a:srgbClr val="167D8D"/>
            </a:solidFill>
            <a:prstDash val="solid"/>
            <a:round/>
            <a:headEnd len="med" w="med" type="none"/>
            <a:tailEnd len="med" w="med" type="none"/>
          </a:ln>
        </p:spPr>
      </p:cxnSp>
      <p:cxnSp>
        <p:nvCxnSpPr>
          <p:cNvPr id="319" name="Google Shape;319;p19"/>
          <p:cNvCxnSpPr/>
          <p:nvPr/>
        </p:nvCxnSpPr>
        <p:spPr>
          <a:xfrm flipH="1" rot="10800000">
            <a:off x="3937000" y="3459600"/>
            <a:ext cx="317400" cy="274200"/>
          </a:xfrm>
          <a:prstGeom prst="straightConnector1">
            <a:avLst/>
          </a:prstGeom>
          <a:noFill/>
          <a:ln cap="flat" cmpd="sng" w="25400">
            <a:solidFill>
              <a:srgbClr val="167D8D"/>
            </a:solidFill>
            <a:prstDash val="solid"/>
            <a:round/>
            <a:headEnd len="med" w="med" type="none"/>
            <a:tailEnd len="med" w="med" type="none"/>
          </a:ln>
        </p:spPr>
      </p:cxnSp>
      <p:cxnSp>
        <p:nvCxnSpPr>
          <p:cNvPr id="320" name="Google Shape;320;p19"/>
          <p:cNvCxnSpPr/>
          <p:nvPr/>
        </p:nvCxnSpPr>
        <p:spPr>
          <a:xfrm>
            <a:off x="4254500" y="3459480"/>
            <a:ext cx="317400" cy="22800"/>
          </a:xfrm>
          <a:prstGeom prst="straightConnector1">
            <a:avLst/>
          </a:prstGeom>
          <a:noFill/>
          <a:ln cap="flat" cmpd="sng" w="25400">
            <a:solidFill>
              <a:srgbClr val="167D8D"/>
            </a:solidFill>
            <a:prstDash val="solid"/>
            <a:round/>
            <a:headEnd len="med" w="med" type="none"/>
            <a:tailEnd len="med" w="med" type="none"/>
          </a:ln>
        </p:spPr>
      </p:cxnSp>
      <p:cxnSp>
        <p:nvCxnSpPr>
          <p:cNvPr id="321" name="Google Shape;321;p19"/>
          <p:cNvCxnSpPr/>
          <p:nvPr/>
        </p:nvCxnSpPr>
        <p:spPr>
          <a:xfrm>
            <a:off x="4572000" y="3482340"/>
            <a:ext cx="317400" cy="183000"/>
          </a:xfrm>
          <a:prstGeom prst="straightConnector1">
            <a:avLst/>
          </a:prstGeom>
          <a:noFill/>
          <a:ln cap="flat" cmpd="sng" w="25400">
            <a:solidFill>
              <a:srgbClr val="167D8D"/>
            </a:solidFill>
            <a:prstDash val="solid"/>
            <a:round/>
            <a:headEnd len="med" w="med" type="none"/>
            <a:tailEnd len="med" w="med" type="none"/>
          </a:ln>
        </p:spPr>
      </p:cxnSp>
      <p:cxnSp>
        <p:nvCxnSpPr>
          <p:cNvPr id="322" name="Google Shape;322;p19"/>
          <p:cNvCxnSpPr/>
          <p:nvPr/>
        </p:nvCxnSpPr>
        <p:spPr>
          <a:xfrm flipH="1" rot="10800000">
            <a:off x="4889500" y="3619620"/>
            <a:ext cx="317400" cy="45600"/>
          </a:xfrm>
          <a:prstGeom prst="straightConnector1">
            <a:avLst/>
          </a:prstGeom>
          <a:noFill/>
          <a:ln cap="flat" cmpd="sng" w="25400">
            <a:solidFill>
              <a:srgbClr val="167D8D"/>
            </a:solidFill>
            <a:prstDash val="solid"/>
            <a:round/>
            <a:headEnd len="med" w="med" type="none"/>
            <a:tailEnd len="med" w="med" type="none"/>
          </a:ln>
        </p:spPr>
      </p:cxnSp>
      <p:cxnSp>
        <p:nvCxnSpPr>
          <p:cNvPr id="323" name="Google Shape;323;p19"/>
          <p:cNvCxnSpPr/>
          <p:nvPr/>
        </p:nvCxnSpPr>
        <p:spPr>
          <a:xfrm flipH="1" rot="10800000">
            <a:off x="5207000" y="3550800"/>
            <a:ext cx="317400" cy="68700"/>
          </a:xfrm>
          <a:prstGeom prst="straightConnector1">
            <a:avLst/>
          </a:prstGeom>
          <a:noFill/>
          <a:ln cap="flat" cmpd="sng" w="25400">
            <a:solidFill>
              <a:srgbClr val="167D8D"/>
            </a:solidFill>
            <a:prstDash val="solid"/>
            <a:round/>
            <a:headEnd len="med" w="med" type="none"/>
            <a:tailEnd len="med" w="med" type="none"/>
          </a:ln>
        </p:spPr>
      </p:cxnSp>
      <p:cxnSp>
        <p:nvCxnSpPr>
          <p:cNvPr id="324" name="Google Shape;324;p19"/>
          <p:cNvCxnSpPr/>
          <p:nvPr/>
        </p:nvCxnSpPr>
        <p:spPr>
          <a:xfrm flipH="1" rot="10800000">
            <a:off x="5524500" y="3345120"/>
            <a:ext cx="317400" cy="205800"/>
          </a:xfrm>
          <a:prstGeom prst="straightConnector1">
            <a:avLst/>
          </a:prstGeom>
          <a:noFill/>
          <a:ln cap="flat" cmpd="sng" w="25400">
            <a:solidFill>
              <a:srgbClr val="167D8D"/>
            </a:solidFill>
            <a:prstDash val="solid"/>
            <a:round/>
            <a:headEnd len="med" w="med" type="none"/>
            <a:tailEnd len="med" w="med" type="none"/>
          </a:ln>
        </p:spPr>
      </p:cxnSp>
      <p:cxnSp>
        <p:nvCxnSpPr>
          <p:cNvPr id="325" name="Google Shape;325;p19"/>
          <p:cNvCxnSpPr/>
          <p:nvPr/>
        </p:nvCxnSpPr>
        <p:spPr>
          <a:xfrm>
            <a:off x="5842000" y="3345180"/>
            <a:ext cx="317400" cy="22800"/>
          </a:xfrm>
          <a:prstGeom prst="straightConnector1">
            <a:avLst/>
          </a:prstGeom>
          <a:noFill/>
          <a:ln cap="flat" cmpd="sng" w="25400">
            <a:solidFill>
              <a:srgbClr val="167D8D"/>
            </a:solidFill>
            <a:prstDash val="solid"/>
            <a:round/>
            <a:headEnd len="med" w="med" type="none"/>
            <a:tailEnd len="med" w="med" type="none"/>
          </a:ln>
        </p:spPr>
      </p:cxnSp>
      <p:cxnSp>
        <p:nvCxnSpPr>
          <p:cNvPr id="326" name="Google Shape;326;p19"/>
          <p:cNvCxnSpPr/>
          <p:nvPr/>
        </p:nvCxnSpPr>
        <p:spPr>
          <a:xfrm flipH="1" rot="10800000">
            <a:off x="6159500" y="3185040"/>
            <a:ext cx="317400" cy="183000"/>
          </a:xfrm>
          <a:prstGeom prst="straightConnector1">
            <a:avLst/>
          </a:prstGeom>
          <a:noFill/>
          <a:ln cap="flat" cmpd="sng" w="25400">
            <a:solidFill>
              <a:srgbClr val="167D8D"/>
            </a:solidFill>
            <a:prstDash val="solid"/>
            <a:round/>
            <a:headEnd len="med" w="med" type="none"/>
            <a:tailEnd len="med" w="med" type="none"/>
          </a:ln>
        </p:spPr>
      </p:cxnSp>
      <p:cxnSp>
        <p:nvCxnSpPr>
          <p:cNvPr id="327" name="Google Shape;327;p19"/>
          <p:cNvCxnSpPr/>
          <p:nvPr/>
        </p:nvCxnSpPr>
        <p:spPr>
          <a:xfrm>
            <a:off x="6477000" y="3185160"/>
            <a:ext cx="317400" cy="663000"/>
          </a:xfrm>
          <a:prstGeom prst="straightConnector1">
            <a:avLst/>
          </a:prstGeom>
          <a:noFill/>
          <a:ln cap="flat" cmpd="sng" w="25400">
            <a:solidFill>
              <a:srgbClr val="167D8D"/>
            </a:solidFill>
            <a:prstDash val="solid"/>
            <a:round/>
            <a:headEnd len="med" w="med" type="none"/>
            <a:tailEnd len="med" w="med" type="none"/>
          </a:ln>
        </p:spPr>
      </p:cxnSp>
      <p:cxnSp>
        <p:nvCxnSpPr>
          <p:cNvPr id="328" name="Google Shape;328;p19"/>
          <p:cNvCxnSpPr/>
          <p:nvPr/>
        </p:nvCxnSpPr>
        <p:spPr>
          <a:xfrm>
            <a:off x="6794500" y="3848100"/>
            <a:ext cx="317400" cy="228600"/>
          </a:xfrm>
          <a:prstGeom prst="straightConnector1">
            <a:avLst/>
          </a:prstGeom>
          <a:noFill/>
          <a:ln cap="flat" cmpd="sng" w="25400">
            <a:solidFill>
              <a:srgbClr val="167D8D"/>
            </a:solidFill>
            <a:prstDash val="solid"/>
            <a:round/>
            <a:headEnd len="med" w="med" type="none"/>
            <a:tailEnd len="med" w="med" type="none"/>
          </a:ln>
        </p:spPr>
      </p:cxnSp>
      <p:cxnSp>
        <p:nvCxnSpPr>
          <p:cNvPr id="329" name="Google Shape;329;p19"/>
          <p:cNvCxnSpPr/>
          <p:nvPr/>
        </p:nvCxnSpPr>
        <p:spPr>
          <a:xfrm flipH="1" rot="10800000">
            <a:off x="7112000" y="3733800"/>
            <a:ext cx="317400" cy="342900"/>
          </a:xfrm>
          <a:prstGeom prst="straightConnector1">
            <a:avLst/>
          </a:prstGeom>
          <a:noFill/>
          <a:ln cap="flat" cmpd="sng" w="25400">
            <a:solidFill>
              <a:srgbClr val="167D8D"/>
            </a:solidFill>
            <a:prstDash val="solid"/>
            <a:round/>
            <a:headEnd len="med" w="med" type="none"/>
            <a:tailEnd len="med" w="med" type="none"/>
          </a:ln>
        </p:spPr>
      </p:cxnSp>
      <p:cxnSp>
        <p:nvCxnSpPr>
          <p:cNvPr id="330" name="Google Shape;330;p19"/>
          <p:cNvCxnSpPr/>
          <p:nvPr/>
        </p:nvCxnSpPr>
        <p:spPr>
          <a:xfrm flipH="1" rot="10800000">
            <a:off x="7429500" y="3619500"/>
            <a:ext cx="317400" cy="114300"/>
          </a:xfrm>
          <a:prstGeom prst="straightConnector1">
            <a:avLst/>
          </a:prstGeom>
          <a:noFill/>
          <a:ln cap="flat" cmpd="sng" w="25400">
            <a:solidFill>
              <a:srgbClr val="167D8D"/>
            </a:solidFill>
            <a:prstDash val="solid"/>
            <a:round/>
            <a:headEnd len="med" w="med" type="none"/>
            <a:tailEnd len="med" w="med" type="none"/>
          </a:ln>
        </p:spPr>
      </p:cxnSp>
      <p:cxnSp>
        <p:nvCxnSpPr>
          <p:cNvPr id="331" name="Google Shape;331;p19"/>
          <p:cNvCxnSpPr/>
          <p:nvPr/>
        </p:nvCxnSpPr>
        <p:spPr>
          <a:xfrm>
            <a:off x="7747000" y="3619500"/>
            <a:ext cx="317400" cy="68700"/>
          </a:xfrm>
          <a:prstGeom prst="straightConnector1">
            <a:avLst/>
          </a:prstGeom>
          <a:noFill/>
          <a:ln cap="flat" cmpd="sng" w="25400">
            <a:solidFill>
              <a:srgbClr val="167D8D"/>
            </a:solidFill>
            <a:prstDash val="solid"/>
            <a:round/>
            <a:headEnd len="med" w="med" type="none"/>
            <a:tailEnd len="med" w="med" type="none"/>
          </a:ln>
        </p:spPr>
      </p:cxnSp>
      <p:cxnSp>
        <p:nvCxnSpPr>
          <p:cNvPr id="332" name="Google Shape;332;p19"/>
          <p:cNvCxnSpPr/>
          <p:nvPr/>
        </p:nvCxnSpPr>
        <p:spPr>
          <a:xfrm>
            <a:off x="8064500" y="3688080"/>
            <a:ext cx="317400" cy="91500"/>
          </a:xfrm>
          <a:prstGeom prst="straightConnector1">
            <a:avLst/>
          </a:prstGeom>
          <a:noFill/>
          <a:ln cap="flat" cmpd="sng" w="25400">
            <a:solidFill>
              <a:srgbClr val="167D8D"/>
            </a:solidFill>
            <a:prstDash val="solid"/>
            <a:round/>
            <a:headEnd len="med" w="med" type="none"/>
            <a:tailEnd len="med" w="med" type="none"/>
          </a:ln>
        </p:spPr>
      </p:cxnSp>
      <p:cxnSp>
        <p:nvCxnSpPr>
          <p:cNvPr id="333" name="Google Shape;333;p19"/>
          <p:cNvCxnSpPr/>
          <p:nvPr/>
        </p:nvCxnSpPr>
        <p:spPr>
          <a:xfrm>
            <a:off x="8382000" y="3779520"/>
            <a:ext cx="317400" cy="388500"/>
          </a:xfrm>
          <a:prstGeom prst="straightConnector1">
            <a:avLst/>
          </a:prstGeom>
          <a:noFill/>
          <a:ln cap="flat" cmpd="sng" w="25400">
            <a:solidFill>
              <a:srgbClr val="167D8D"/>
            </a:solidFill>
            <a:prstDash val="solid"/>
            <a:round/>
            <a:headEnd len="med" w="med" type="none"/>
            <a:tailEnd len="med" w="med" type="none"/>
          </a:ln>
        </p:spPr>
      </p:cxnSp>
      <p:cxnSp>
        <p:nvCxnSpPr>
          <p:cNvPr id="334" name="Google Shape;334;p19"/>
          <p:cNvCxnSpPr/>
          <p:nvPr/>
        </p:nvCxnSpPr>
        <p:spPr>
          <a:xfrm flipH="1" rot="10800000">
            <a:off x="8699500" y="3939540"/>
            <a:ext cx="317400" cy="228600"/>
          </a:xfrm>
          <a:prstGeom prst="straightConnector1">
            <a:avLst/>
          </a:prstGeom>
          <a:noFill/>
          <a:ln cap="flat" cmpd="sng" w="25400">
            <a:solidFill>
              <a:srgbClr val="167D8D"/>
            </a:solidFill>
            <a:prstDash val="solid"/>
            <a:round/>
            <a:headEnd len="med" w="med" type="none"/>
            <a:tailEnd len="med" w="med" type="none"/>
          </a:ln>
        </p:spPr>
      </p:cxnSp>
      <p:cxnSp>
        <p:nvCxnSpPr>
          <p:cNvPr id="335" name="Google Shape;335;p19"/>
          <p:cNvCxnSpPr/>
          <p:nvPr/>
        </p:nvCxnSpPr>
        <p:spPr>
          <a:xfrm flipH="1" rot="10800000">
            <a:off x="9017000" y="3733740"/>
            <a:ext cx="317400" cy="205800"/>
          </a:xfrm>
          <a:prstGeom prst="straightConnector1">
            <a:avLst/>
          </a:prstGeom>
          <a:noFill/>
          <a:ln cap="flat" cmpd="sng" w="25400">
            <a:solidFill>
              <a:srgbClr val="167D8D"/>
            </a:solidFill>
            <a:prstDash val="solid"/>
            <a:round/>
            <a:headEnd len="med" w="med" type="none"/>
            <a:tailEnd len="med" w="med" type="none"/>
          </a:ln>
        </p:spPr>
      </p:cxnSp>
      <p:cxnSp>
        <p:nvCxnSpPr>
          <p:cNvPr id="336" name="Google Shape;336;p19"/>
          <p:cNvCxnSpPr/>
          <p:nvPr/>
        </p:nvCxnSpPr>
        <p:spPr>
          <a:xfrm flipH="1" rot="10800000">
            <a:off x="9334500" y="3368100"/>
            <a:ext cx="317400" cy="365700"/>
          </a:xfrm>
          <a:prstGeom prst="straightConnector1">
            <a:avLst/>
          </a:prstGeom>
          <a:noFill/>
          <a:ln cap="flat" cmpd="sng" w="25400">
            <a:solidFill>
              <a:srgbClr val="167D8D"/>
            </a:solidFill>
            <a:prstDash val="solid"/>
            <a:round/>
            <a:headEnd len="med" w="med" type="none"/>
            <a:tailEnd len="med" w="med" type="none"/>
          </a:ln>
        </p:spPr>
      </p:cxnSp>
      <p:cxnSp>
        <p:nvCxnSpPr>
          <p:cNvPr id="337" name="Google Shape;337;p19"/>
          <p:cNvCxnSpPr/>
          <p:nvPr/>
        </p:nvCxnSpPr>
        <p:spPr>
          <a:xfrm>
            <a:off x="9652000" y="3368040"/>
            <a:ext cx="317400" cy="22800"/>
          </a:xfrm>
          <a:prstGeom prst="straightConnector1">
            <a:avLst/>
          </a:prstGeom>
          <a:noFill/>
          <a:ln cap="flat" cmpd="sng" w="25400">
            <a:solidFill>
              <a:srgbClr val="167D8D"/>
            </a:solidFill>
            <a:prstDash val="solid"/>
            <a:round/>
            <a:headEnd len="med" w="med" type="none"/>
            <a:tailEnd len="med" w="med" type="none"/>
          </a:ln>
        </p:spPr>
      </p:cxnSp>
      <p:cxnSp>
        <p:nvCxnSpPr>
          <p:cNvPr id="338" name="Google Shape;338;p19"/>
          <p:cNvCxnSpPr/>
          <p:nvPr/>
        </p:nvCxnSpPr>
        <p:spPr>
          <a:xfrm flipH="1" rot="10800000">
            <a:off x="9969500" y="3025200"/>
            <a:ext cx="317400" cy="365700"/>
          </a:xfrm>
          <a:prstGeom prst="straightConnector1">
            <a:avLst/>
          </a:prstGeom>
          <a:noFill/>
          <a:ln cap="flat" cmpd="sng" w="25400">
            <a:solidFill>
              <a:srgbClr val="167D8D"/>
            </a:solidFill>
            <a:prstDash val="solid"/>
            <a:round/>
            <a:headEnd len="med" w="med" type="none"/>
            <a:tailEnd len="med" w="med" type="none"/>
          </a:ln>
        </p:spPr>
      </p:cxnSp>
      <p:cxnSp>
        <p:nvCxnSpPr>
          <p:cNvPr id="339" name="Google Shape;339;p19"/>
          <p:cNvCxnSpPr/>
          <p:nvPr/>
        </p:nvCxnSpPr>
        <p:spPr>
          <a:xfrm flipH="1" rot="10800000">
            <a:off x="10287000" y="2956440"/>
            <a:ext cx="317400" cy="68700"/>
          </a:xfrm>
          <a:prstGeom prst="straightConnector1">
            <a:avLst/>
          </a:prstGeom>
          <a:noFill/>
          <a:ln cap="flat" cmpd="sng" w="25400">
            <a:solidFill>
              <a:srgbClr val="167D8D"/>
            </a:solidFill>
            <a:prstDash val="solid"/>
            <a:round/>
            <a:headEnd len="med" w="med" type="none"/>
            <a:tailEnd len="med" w="med" type="none"/>
          </a:ln>
        </p:spPr>
      </p:cxnSp>
      <p:cxnSp>
        <p:nvCxnSpPr>
          <p:cNvPr id="340" name="Google Shape;340;p19"/>
          <p:cNvCxnSpPr/>
          <p:nvPr/>
        </p:nvCxnSpPr>
        <p:spPr>
          <a:xfrm flipH="1" rot="10800000">
            <a:off x="10604500" y="2796660"/>
            <a:ext cx="317400" cy="159900"/>
          </a:xfrm>
          <a:prstGeom prst="straightConnector1">
            <a:avLst/>
          </a:prstGeom>
          <a:noFill/>
          <a:ln cap="flat" cmpd="sng" w="25400">
            <a:solidFill>
              <a:srgbClr val="167D8D"/>
            </a:solidFill>
            <a:prstDash val="solid"/>
            <a:round/>
            <a:headEnd len="med" w="med" type="none"/>
            <a:tailEnd len="med" w="med" type="none"/>
          </a:ln>
        </p:spPr>
      </p:cxnSp>
      <p:cxnSp>
        <p:nvCxnSpPr>
          <p:cNvPr id="341" name="Google Shape;341;p19"/>
          <p:cNvCxnSpPr/>
          <p:nvPr/>
        </p:nvCxnSpPr>
        <p:spPr>
          <a:xfrm flipH="1" rot="10800000">
            <a:off x="10922000" y="2705040"/>
            <a:ext cx="317400" cy="91500"/>
          </a:xfrm>
          <a:prstGeom prst="straightConnector1">
            <a:avLst/>
          </a:prstGeom>
          <a:noFill/>
          <a:ln cap="flat" cmpd="sng" w="25400">
            <a:solidFill>
              <a:srgbClr val="167D8D"/>
            </a:solidFill>
            <a:prstDash val="solid"/>
            <a:round/>
            <a:headEnd len="med" w="med" type="none"/>
            <a:tailEnd len="med" w="med" type="none"/>
          </a:ln>
        </p:spPr>
      </p:cxnSp>
      <p:sp>
        <p:nvSpPr>
          <p:cNvPr id="342" name="Google Shape;342;p19"/>
          <p:cNvSpPr txBox="1"/>
          <p:nvPr/>
        </p:nvSpPr>
        <p:spPr>
          <a:xfrm>
            <a:off x="1155700" y="54610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Jan 24</a:t>
            </a:r>
            <a:endParaRPr sz="1500">
              <a:solidFill>
                <a:srgbClr val="58717A"/>
              </a:solidFill>
            </a:endParaRPr>
          </a:p>
        </p:txBody>
      </p:sp>
      <p:sp>
        <p:nvSpPr>
          <p:cNvPr id="343" name="Google Shape;343;p19"/>
          <p:cNvSpPr txBox="1"/>
          <p:nvPr/>
        </p:nvSpPr>
        <p:spPr>
          <a:xfrm>
            <a:off x="3060700" y="54610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Jul 24</a:t>
            </a:r>
            <a:endParaRPr sz="1500">
              <a:solidFill>
                <a:srgbClr val="58717A"/>
              </a:solidFill>
            </a:endParaRPr>
          </a:p>
        </p:txBody>
      </p:sp>
      <p:sp>
        <p:nvSpPr>
          <p:cNvPr id="344" name="Google Shape;344;p19"/>
          <p:cNvSpPr txBox="1"/>
          <p:nvPr/>
        </p:nvSpPr>
        <p:spPr>
          <a:xfrm>
            <a:off x="4965700" y="54610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Jan 25</a:t>
            </a:r>
            <a:endParaRPr sz="1500">
              <a:solidFill>
                <a:srgbClr val="58717A"/>
              </a:solidFill>
            </a:endParaRPr>
          </a:p>
        </p:txBody>
      </p:sp>
      <p:sp>
        <p:nvSpPr>
          <p:cNvPr id="345" name="Google Shape;345;p19"/>
          <p:cNvSpPr txBox="1"/>
          <p:nvPr/>
        </p:nvSpPr>
        <p:spPr>
          <a:xfrm>
            <a:off x="6870700" y="54610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Jul 25</a:t>
            </a:r>
            <a:endParaRPr sz="1500">
              <a:solidFill>
                <a:srgbClr val="58717A"/>
              </a:solidFill>
            </a:endParaRPr>
          </a:p>
        </p:txBody>
      </p:sp>
      <p:sp>
        <p:nvSpPr>
          <p:cNvPr id="346" name="Google Shape;346;p19"/>
          <p:cNvSpPr txBox="1"/>
          <p:nvPr/>
        </p:nvSpPr>
        <p:spPr>
          <a:xfrm>
            <a:off x="8775700" y="54610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Jan 26</a:t>
            </a:r>
            <a:endParaRPr sz="1500">
              <a:solidFill>
                <a:srgbClr val="58717A"/>
              </a:solidFill>
            </a:endParaRPr>
          </a:p>
        </p:txBody>
      </p:sp>
      <p:sp>
        <p:nvSpPr>
          <p:cNvPr id="347" name="Google Shape;347;p19"/>
          <p:cNvSpPr txBox="1"/>
          <p:nvPr/>
        </p:nvSpPr>
        <p:spPr>
          <a:xfrm>
            <a:off x="10680700" y="54610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Jul 26</a:t>
            </a:r>
            <a:endParaRPr sz="1500">
              <a:solidFill>
                <a:srgbClr val="58717A"/>
              </a:solidFill>
            </a:endParaRPr>
          </a:p>
        </p:txBody>
      </p:sp>
      <p:sp>
        <p:nvSpPr>
          <p:cNvPr id="348" name="Google Shape;348;p19"/>
          <p:cNvSpPr txBox="1"/>
          <p:nvPr/>
        </p:nvSpPr>
        <p:spPr>
          <a:xfrm>
            <a:off x="762000" y="5854700"/>
            <a:ext cx="106680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173541"/>
                </a:solidFill>
              </a:rPr>
              <a:t>A larger inventory is consistent with pressure on integration—not proof of a review bottleneck.</a:t>
            </a:r>
            <a:endParaRPr sz="1500">
              <a:solidFill>
                <a:srgbClr val="173541"/>
              </a:solidFill>
            </a:endParaRPr>
          </a:p>
        </p:txBody>
      </p:sp>
      <p:sp>
        <p:nvSpPr>
          <p:cNvPr id="349" name="Google Shape;349;p19"/>
          <p:cNvSpPr txBox="1"/>
          <p:nvPr/>
        </p:nvSpPr>
        <p:spPr>
          <a:xfrm>
            <a:off x="762000" y="6273800"/>
            <a:ext cx="106680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58717A"/>
                </a:solidFill>
                <a:hlinkClick r:id="rId3">
                  <a:extLst>
                    <a:ext uri="{A12FA001-AC4F-418D-AE19-62706E023703}">
                      <ahyp:hlinkClr val="tx"/>
                    </a:ext>
                  </a:extLst>
                </a:hlinkClick>
              </a:rPr>
              <a:t>GitHub snapshot, 30 Sep 2026. Approximate inventory from creation/final closure dates; reopening history unavailable.</a:t>
            </a:r>
            <a:endParaRPr sz="1100">
              <a:solidFill>
                <a:srgbClr val="58717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354" name="Shape 354"/>
        <p:cNvGrpSpPr/>
        <p:nvPr/>
      </p:nvGrpSpPr>
      <p:grpSpPr>
        <a:xfrm>
          <a:off x="0" y="0"/>
          <a:ext cx="0" cy="0"/>
          <a:chOff x="0" y="0"/>
          <a:chExt cx="0" cy="0"/>
        </a:xfrm>
      </p:grpSpPr>
      <p:sp>
        <p:nvSpPr>
          <p:cNvPr id="355" name="Google Shape;355;p20"/>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F6F5F0"/>
                </a:solidFill>
              </a:rPr>
              <a:t>Understanding can become the bottleneck</a:t>
            </a:r>
            <a:endParaRPr b="1" i="0" sz="3200" u="none" cap="none" strike="noStrike">
              <a:solidFill>
                <a:srgbClr val="F6F5F0"/>
              </a:solidFill>
            </a:endParaRPr>
          </a:p>
        </p:txBody>
      </p:sp>
      <p:sp>
        <p:nvSpPr>
          <p:cNvPr id="356" name="Google Shape;356;p20"/>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8FD5CA"/>
                </a:solidFill>
              </a:rPr>
              <a:t>Producing code is getting cheaper.</a:t>
            </a:r>
            <a:endParaRPr b="1" sz="2900">
              <a:solidFill>
                <a:srgbClr val="8FD5CA"/>
              </a:solidFill>
            </a:endParaRPr>
          </a:p>
          <a:p>
            <a:pPr indent="0" lvl="0" marL="0" rtl="0" algn="l">
              <a:lnSpc>
                <a:spcPct val="110000"/>
              </a:lnSpc>
              <a:spcBef>
                <a:spcPts val="0"/>
              </a:spcBef>
              <a:spcAft>
                <a:spcPts val="0"/>
              </a:spcAft>
              <a:buNone/>
            </a:pPr>
            <a:r>
              <a:rPr b="1" lang="en-US" sz="2900">
                <a:solidFill>
                  <a:srgbClr val="8FD5CA"/>
                </a:solidFill>
              </a:rPr>
              <a:t>Understanding a model still takes work.</a:t>
            </a:r>
            <a:endParaRPr b="1" sz="2900">
              <a:solidFill>
                <a:srgbClr val="8FD5CA"/>
              </a:solidFill>
            </a:endParaRPr>
          </a:p>
        </p:txBody>
      </p:sp>
      <p:sp>
        <p:nvSpPr>
          <p:cNvPr id="357" name="Google Shape;357;p20"/>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F6F5F0"/>
                </a:solidFill>
              </a:rPr>
              <a:t>We need to connect the implementation to the equations,</a:t>
            </a:r>
            <a:endParaRPr sz="2400">
              <a:solidFill>
                <a:srgbClr val="F6F5F0"/>
              </a:solidFill>
            </a:endParaRPr>
          </a:p>
          <a:p>
            <a:pPr indent="0" lvl="0" marL="0" rtl="0" algn="l">
              <a:lnSpc>
                <a:spcPct val="110000"/>
              </a:lnSpc>
              <a:spcBef>
                <a:spcPts val="0"/>
              </a:spcBef>
              <a:spcAft>
                <a:spcPts val="0"/>
              </a:spcAft>
              <a:buNone/>
            </a:pPr>
            <a:r>
              <a:rPr lang="en-US" sz="2400">
                <a:solidFill>
                  <a:srgbClr val="F6F5F0"/>
                </a:solidFill>
              </a:rPr>
              <a:t>explain its behavior, and judge the effects of a change.</a:t>
            </a:r>
            <a:endParaRPr sz="2400">
              <a:solidFill>
                <a:srgbClr val="F6F5F0"/>
              </a:solidFill>
            </a:endParaRPr>
          </a:p>
        </p:txBody>
      </p:sp>
      <p:sp>
        <p:nvSpPr>
          <p:cNvPr id="358" name="Google Shape;358;p20"/>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F6F5F0"/>
                </a:solidFill>
              </a:rPr>
              <a:t>How quickly can our understanding keep pace?</a:t>
            </a:r>
            <a:endParaRPr b="1" sz="2400">
              <a:solidFill>
                <a:srgbClr val="F6F5F0"/>
              </a:solidFill>
            </a:endParaRPr>
          </a:p>
        </p:txBody>
      </p:sp>
      <p:sp>
        <p:nvSpPr>
          <p:cNvPr id="359" name="Google Shape;359;p20"/>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A5C2C9"/>
                </a:solidFill>
                <a:hlinkClick r:id="rId3">
                  <a:extLst>
                    <a:ext uri="{A12FA001-AC4F-418D-AE19-62706E023703}">
                      <ahyp:hlinkClr val="tx"/>
                    </a:ext>
                  </a:extLst>
                </a:hlinkClick>
              </a:rPr>
              <a:t>Naur (1985), Programming as Theory Building</a:t>
            </a:r>
            <a:endParaRPr sz="1100">
              <a:solidFill>
                <a:srgbClr val="A5C2C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364" name="Shape 364"/>
        <p:cNvGrpSpPr/>
        <p:nvPr/>
      </p:nvGrpSpPr>
      <p:grpSpPr>
        <a:xfrm>
          <a:off x="0" y="0"/>
          <a:ext cx="0" cy="0"/>
          <a:chOff x="0" y="0"/>
          <a:chExt cx="0" cy="0"/>
        </a:xfrm>
      </p:grpSpPr>
      <p:sp>
        <p:nvSpPr>
          <p:cNvPr id="365" name="Google Shape;365;p21"/>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Unequal access can widen productivity gaps</a:t>
            </a:r>
            <a:endParaRPr b="1" i="0" sz="3200" u="none" cap="none" strike="noStrike">
              <a:solidFill>
                <a:srgbClr val="173541"/>
              </a:solidFill>
            </a:endParaRPr>
          </a:p>
        </p:txBody>
      </p:sp>
      <p:sp>
        <p:nvSpPr>
          <p:cNvPr id="366" name="Google Shape;366;p21"/>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Access to AI tools can widen</a:t>
            </a:r>
            <a:endParaRPr b="1" sz="2900">
              <a:solidFill>
                <a:srgbClr val="167D8D"/>
              </a:solidFill>
            </a:endParaRPr>
          </a:p>
          <a:p>
            <a:pPr indent="0" lvl="0" marL="0" rtl="0" algn="l">
              <a:lnSpc>
                <a:spcPct val="110000"/>
              </a:lnSpc>
              <a:spcBef>
                <a:spcPts val="0"/>
              </a:spcBef>
              <a:spcAft>
                <a:spcPts val="0"/>
              </a:spcAft>
              <a:buNone/>
            </a:pPr>
            <a:r>
              <a:rPr b="1" lang="en-US" sz="2900">
                <a:solidFill>
                  <a:srgbClr val="167D8D"/>
                </a:solidFill>
              </a:rPr>
              <a:t>existing productivity gaps.</a:t>
            </a:r>
            <a:endParaRPr b="1" sz="2900">
              <a:solidFill>
                <a:srgbClr val="167D8D"/>
              </a:solidFill>
            </a:endParaRPr>
          </a:p>
        </p:txBody>
      </p:sp>
      <p:sp>
        <p:nvSpPr>
          <p:cNvPr id="367" name="Google Shape;367;p21"/>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Money buys tool access and capacity to use it.</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Institutional support and training help turn access into gains.</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Unequal access can amplify existing research inequalities.</a:t>
            </a:r>
            <a:endParaRPr sz="2400">
              <a:solidFill>
                <a:srgbClr val="173541"/>
              </a:solidFill>
            </a:endParaRPr>
          </a:p>
        </p:txBody>
      </p:sp>
      <p:sp>
        <p:nvSpPr>
          <p:cNvPr id="368" name="Google Shape;368;p21"/>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173541"/>
                </a:solidFill>
              </a:rPr>
              <a:t>Community question: should access to AI tools</a:t>
            </a:r>
            <a:endParaRPr b="1" sz="2400">
              <a:solidFill>
                <a:srgbClr val="173541"/>
              </a:solidFill>
            </a:endParaRPr>
          </a:p>
          <a:p>
            <a:pPr indent="0" lvl="0" marL="0" rtl="0" algn="l">
              <a:lnSpc>
                <a:spcPct val="110000"/>
              </a:lnSpc>
              <a:spcBef>
                <a:spcPts val="0"/>
              </a:spcBef>
              <a:spcAft>
                <a:spcPts val="0"/>
              </a:spcAft>
              <a:buNone/>
            </a:pPr>
            <a:r>
              <a:rPr b="1" lang="en-US" sz="2400">
                <a:solidFill>
                  <a:srgbClr val="173541"/>
                </a:solidFill>
              </a:rPr>
              <a:t>be shared research infrastructure?</a:t>
            </a:r>
            <a:endParaRPr b="1" sz="2400">
              <a:solidFill>
                <a:srgbClr val="173541"/>
              </a:solidFill>
            </a:endParaRPr>
          </a:p>
        </p:txBody>
      </p:sp>
      <p:sp>
        <p:nvSpPr>
          <p:cNvPr id="369" name="Google Shape;369;p21"/>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3">
                  <a:extLst>
                    <a:ext uri="{A12FA001-AC4F-418D-AE19-62706E023703}">
                      <ahyp:hlinkClr val="tx"/>
                    </a:ext>
                  </a:extLst>
                </a:hlinkClick>
              </a:rPr>
              <a:t>ILO–World Bank (2024), Buffer or Bottleneck? GenAI and the digital divide</a:t>
            </a:r>
            <a:endParaRPr sz="1100">
              <a:solidFill>
                <a:srgbClr val="58717A"/>
              </a:solidFill>
            </a:endParaRPr>
          </a:p>
        </p:txBody>
      </p:sp>
      <p:sp>
        <p:nvSpPr>
          <p:cNvPr id="370" name="Google Shape;370;p21"/>
          <p:cNvSpPr txBox="1"/>
          <p:nvPr/>
        </p:nvSpPr>
        <p:spPr>
          <a:xfrm>
            <a:off x="762000" y="65278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4">
                  <a:extLst>
                    <a:ext uri="{A12FA001-AC4F-418D-AE19-62706E023703}">
                      <ahyp:hlinkClr val="tx"/>
                    </a:ext>
                  </a:extLst>
                </a:hlinkClick>
              </a:rPr>
              <a:t>Brynjolfsson, Li &amp; Raymond (2023), Generative AI at Work</a:t>
            </a:r>
            <a:endParaRPr sz="1100">
              <a:solidFill>
                <a:srgbClr val="58717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375" name="Shape 375"/>
        <p:cNvGrpSpPr/>
        <p:nvPr/>
      </p:nvGrpSpPr>
      <p:grpSpPr>
        <a:xfrm>
          <a:off x="0" y="0"/>
          <a:ext cx="0" cy="0"/>
          <a:chOff x="0" y="0"/>
          <a:chExt cx="0" cy="0"/>
        </a:xfrm>
      </p:grpSpPr>
      <p:sp>
        <p:nvSpPr>
          <p:cNvPr id="376" name="Google Shape;376;p22"/>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What makes a change ready for review?</a:t>
            </a:r>
            <a:endParaRPr b="1" i="0" sz="3200" u="none" cap="none" strike="noStrike">
              <a:solidFill>
                <a:srgbClr val="173541"/>
              </a:solidFill>
            </a:endParaRPr>
          </a:p>
        </p:txBody>
      </p:sp>
      <p:sp>
        <p:nvSpPr>
          <p:cNvPr id="377" name="Google Shape;377;p22"/>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A candidate implementation still needs evidence.</a:t>
            </a:r>
            <a:endParaRPr b="1" sz="2900">
              <a:solidFill>
                <a:srgbClr val="167D8D"/>
              </a:solidFill>
            </a:endParaRPr>
          </a:p>
        </p:txBody>
      </p:sp>
      <p:sp>
        <p:nvSpPr>
          <p:cNvPr id="378" name="Google Shape;378;p22"/>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What shows that the numerics are correct?</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What tests or simulations demonstrate the intended behavior?</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Can the contributor explain the change and its limitations?</a:t>
            </a:r>
            <a:endParaRPr sz="2400">
              <a:solidFill>
                <a:srgbClr val="173541"/>
              </a:solidFill>
            </a:endParaRPr>
          </a:p>
        </p:txBody>
      </p:sp>
      <p:sp>
        <p:nvSpPr>
          <p:cNvPr id="379" name="Google Shape;379;p22"/>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173541"/>
                </a:solidFill>
              </a:rPr>
              <a:t>How can contributors make that evidence easier to review?</a:t>
            </a:r>
            <a:endParaRPr b="1" sz="2400">
              <a:solidFill>
                <a:srgbClr val="173541"/>
              </a:solidFill>
            </a:endParaRPr>
          </a:p>
        </p:txBody>
      </p:sp>
      <p:sp>
        <p:nvSpPr>
          <p:cNvPr id="380" name="Google Shape;380;p22"/>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3">
                  <a:extLst>
                    <a:ext uri="{A12FA001-AC4F-418D-AE19-62706E023703}">
                      <ahyp:hlinkClr val="tx"/>
                    </a:ext>
                  </a:extLst>
                </a:hlinkClick>
              </a:rPr>
              <a:t>Review guidance: Google Engineering Practices, “What to look for in a code review”</a:t>
            </a:r>
            <a:endParaRPr sz="1100">
              <a:solidFill>
                <a:srgbClr val="58717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385" name="Shape 385"/>
        <p:cNvGrpSpPr/>
        <p:nvPr/>
      </p:nvGrpSpPr>
      <p:grpSpPr>
        <a:xfrm>
          <a:off x="0" y="0"/>
          <a:ext cx="0" cy="0"/>
          <a:chOff x="0" y="0"/>
          <a:chExt cx="0" cy="0"/>
        </a:xfrm>
      </p:grpSpPr>
      <p:sp>
        <p:nvSpPr>
          <p:cNvPr id="386" name="Google Shape;386;p23"/>
          <p:cNvSpPr txBox="1"/>
          <p:nvPr/>
        </p:nvSpPr>
        <p:spPr>
          <a:xfrm>
            <a:off x="762000" y="2413000"/>
            <a:ext cx="10668000" cy="1143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i="0" lang="en-US" sz="5600" u="none" cap="none" strike="noStrike">
                <a:solidFill>
                  <a:srgbClr val="F6F5F0"/>
                </a:solidFill>
              </a:rPr>
              <a:t>Parameterization</a:t>
            </a:r>
            <a:endParaRPr b="1" i="0" sz="5600" u="none" cap="none" strike="noStrike">
              <a:solidFill>
                <a:srgbClr val="F6F5F0"/>
              </a:solidFill>
            </a:endParaRPr>
          </a:p>
        </p:txBody>
      </p:sp>
      <p:sp>
        <p:nvSpPr>
          <p:cNvPr id="387" name="Google Shape;387;p23"/>
          <p:cNvSpPr txBox="1"/>
          <p:nvPr/>
        </p:nvSpPr>
        <p:spPr>
          <a:xfrm>
            <a:off x="762000" y="3898900"/>
            <a:ext cx="10032900" cy="120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800">
                <a:solidFill>
                  <a:srgbClr val="8FD5CA"/>
                </a:solidFill>
              </a:rPr>
              <a:t>Calibrating closures and testing what works online</a:t>
            </a:r>
            <a:endParaRPr sz="2800">
              <a:solidFill>
                <a:srgbClr val="8FD5C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392" name="Shape 392"/>
        <p:cNvGrpSpPr/>
        <p:nvPr/>
      </p:nvGrpSpPr>
      <p:grpSpPr>
        <a:xfrm>
          <a:off x="0" y="0"/>
          <a:ext cx="0" cy="0"/>
          <a:chOff x="0" y="0"/>
          <a:chExt cx="0" cy="0"/>
        </a:xfrm>
      </p:grpSpPr>
      <p:sp>
        <p:nvSpPr>
          <p:cNvPr id="393" name="Google Shape;393;p24"/>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AI can assist numerical-method development</a:t>
            </a:r>
            <a:endParaRPr b="1" i="0" sz="3200" u="none" cap="none" strike="noStrike">
              <a:solidFill>
                <a:srgbClr val="173541"/>
              </a:solidFill>
            </a:endParaRPr>
          </a:p>
        </p:txBody>
      </p:sp>
      <p:sp>
        <p:nvSpPr>
          <p:cNvPr id="394" name="Google Shape;394;p24"/>
          <p:cNvSpPr txBox="1"/>
          <p:nvPr/>
        </p:nvSpPr>
        <p:spPr>
          <a:xfrm>
            <a:off x="762000" y="17780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An Oceananigans example:</a:t>
            </a:r>
            <a:endParaRPr b="1" sz="2900">
              <a:solidFill>
                <a:srgbClr val="167D8D"/>
              </a:solidFill>
            </a:endParaRPr>
          </a:p>
          <a:p>
            <a:pPr indent="0" lvl="0" marL="0" rtl="0" algn="l">
              <a:lnSpc>
                <a:spcPct val="110000"/>
              </a:lnSpc>
              <a:spcBef>
                <a:spcPts val="0"/>
              </a:spcBef>
              <a:spcAft>
                <a:spcPts val="0"/>
              </a:spcAft>
              <a:buNone/>
            </a:pPr>
            <a:r>
              <a:rPr b="1" lang="en-US" sz="2900">
                <a:solidFill>
                  <a:srgbClr val="167D8D"/>
                </a:solidFill>
              </a:rPr>
              <a:t>rewriting WENO smoothness operators.</a:t>
            </a:r>
            <a:endParaRPr b="1" sz="2900">
              <a:solidFill>
                <a:srgbClr val="167D8D"/>
              </a:solidFill>
            </a:endParaRPr>
          </a:p>
        </p:txBody>
      </p:sp>
      <p:sp>
        <p:nvSpPr>
          <p:cNvPr id="395" name="Google Shape;395;p24"/>
          <p:cNvSpPr txBox="1"/>
          <p:nvPr/>
        </p:nvSpPr>
        <p:spPr>
          <a:xfrm>
            <a:off x="762000" y="3302000"/>
            <a:ext cx="10668000" cy="158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PR #5937 describes using Claude to recompute</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and verify coefficients for a difference formulation.</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The author reports fewer arithmetic operations.</a:t>
            </a:r>
            <a:endParaRPr sz="2400">
              <a:solidFill>
                <a:srgbClr val="173541"/>
              </a:solidFill>
            </a:endParaRPr>
          </a:p>
        </p:txBody>
      </p:sp>
      <p:sp>
        <p:nvSpPr>
          <p:cNvPr id="396" name="Google Shape;396;p24"/>
          <p:cNvSpPr txBox="1"/>
          <p:nvPr/>
        </p:nvSpPr>
        <p:spPr>
          <a:xfrm>
            <a:off x="762000" y="5194300"/>
            <a:ext cx="106680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300">
                <a:solidFill>
                  <a:srgbClr val="173541"/>
                </a:solidFill>
              </a:rPr>
              <a:t>Fewer operations are a promising mechanism.</a:t>
            </a:r>
            <a:endParaRPr b="1" sz="2300">
              <a:solidFill>
                <a:srgbClr val="173541"/>
              </a:solidFill>
            </a:endParaRPr>
          </a:p>
          <a:p>
            <a:pPr indent="0" lvl="0" marL="0" rtl="0" algn="l">
              <a:lnSpc>
                <a:spcPct val="110000"/>
              </a:lnSpc>
              <a:spcBef>
                <a:spcPts val="0"/>
              </a:spcBef>
              <a:spcAft>
                <a:spcPts val="0"/>
              </a:spcAft>
              <a:buNone/>
            </a:pPr>
            <a:r>
              <a:rPr b="1" lang="en-US" sz="2300">
                <a:solidFill>
                  <a:srgbClr val="173541"/>
                </a:solidFill>
              </a:rPr>
              <a:t>A runtime speedup still needs a benchmark.</a:t>
            </a:r>
            <a:endParaRPr b="1" sz="2300">
              <a:solidFill>
                <a:srgbClr val="173541"/>
              </a:solidFill>
            </a:endParaRPr>
          </a:p>
        </p:txBody>
      </p:sp>
      <p:sp>
        <p:nvSpPr>
          <p:cNvPr id="397" name="Google Shape;397;p24"/>
          <p:cNvSpPr txBox="1"/>
          <p:nvPr/>
        </p:nvSpPr>
        <p:spPr>
          <a:xfrm>
            <a:off x="762000" y="6350000"/>
            <a:ext cx="10668000" cy="304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chemeClr val="hlink"/>
                </a:solidFill>
                <a:hlinkClick r:id="rId3"/>
              </a:rPr>
              <a:t>Oceananigans PR #5937 · merged 9 September 2026</a:t>
            </a:r>
            <a:endParaRPr sz="1100">
              <a:solidFill>
                <a:srgbClr val="58717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402" name="Shape 402"/>
        <p:cNvGrpSpPr/>
        <p:nvPr/>
      </p:nvGrpSpPr>
      <p:grpSpPr>
        <a:xfrm>
          <a:off x="0" y="0"/>
          <a:ext cx="0" cy="0"/>
          <a:chOff x="0" y="0"/>
          <a:chExt cx="0" cy="0"/>
        </a:xfrm>
      </p:grpSpPr>
      <p:sp>
        <p:nvSpPr>
          <p:cNvPr id="403" name="Google Shape;403;p25"/>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Calibrating and learning closures</a:t>
            </a:r>
            <a:endParaRPr b="1" i="0" sz="3200" u="none" cap="none" strike="noStrike">
              <a:solidFill>
                <a:srgbClr val="173541"/>
              </a:solidFill>
            </a:endParaRPr>
          </a:p>
        </p:txBody>
      </p:sp>
      <p:sp>
        <p:nvSpPr>
          <p:cNvPr id="404" name="Google Shape;404;p25"/>
          <p:cNvSpPr txBox="1"/>
          <p:nvPr/>
        </p:nvSpPr>
        <p:spPr>
          <a:xfrm>
            <a:off x="762000" y="17780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Calibration adjusts a chosen model.</a:t>
            </a:r>
            <a:endParaRPr b="1" sz="2900">
              <a:solidFill>
                <a:srgbClr val="167D8D"/>
              </a:solidFill>
            </a:endParaRPr>
          </a:p>
          <a:p>
            <a:pPr indent="0" lvl="0" marL="0" rtl="0" algn="l">
              <a:lnSpc>
                <a:spcPct val="110000"/>
              </a:lnSpc>
              <a:spcBef>
                <a:spcPts val="0"/>
              </a:spcBef>
              <a:spcAft>
                <a:spcPts val="0"/>
              </a:spcAft>
              <a:buNone/>
            </a:pPr>
            <a:r>
              <a:rPr b="1" lang="en-US" sz="2900">
                <a:solidFill>
                  <a:srgbClr val="167D8D"/>
                </a:solidFill>
              </a:rPr>
              <a:t>Learning can also change its functional form.</a:t>
            </a:r>
            <a:endParaRPr b="1" sz="2900">
              <a:solidFill>
                <a:srgbClr val="167D8D"/>
              </a:solidFill>
            </a:endParaRPr>
          </a:p>
        </p:txBody>
      </p:sp>
      <p:sp>
        <p:nvSpPr>
          <p:cNvPr id="405" name="Google Shape;405;p25"/>
          <p:cNvSpPr txBox="1"/>
          <p:nvPr/>
        </p:nvSpPr>
        <p:spPr>
          <a:xfrm>
            <a:off x="762000" y="3302000"/>
            <a:ext cx="10668000" cy="158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How does the closure behave inside the simulation?</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Does it respect the required physical constraints?</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Where do calibration conditions stop being informative?</a:t>
            </a:r>
            <a:endParaRPr sz="2400">
              <a:solidFill>
                <a:srgbClr val="173541"/>
              </a:solidFill>
            </a:endParaRPr>
          </a:p>
        </p:txBody>
      </p:sp>
      <p:sp>
        <p:nvSpPr>
          <p:cNvPr id="406" name="Google Shape;406;p25"/>
          <p:cNvSpPr txBox="1"/>
          <p:nvPr/>
        </p:nvSpPr>
        <p:spPr>
          <a:xfrm>
            <a:off x="762000" y="5194300"/>
            <a:ext cx="106680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300">
                <a:solidFill>
                  <a:srgbClr val="173541"/>
                </a:solidFill>
              </a:rPr>
              <a:t>For NEMO: what online tests should a new closure pass?</a:t>
            </a:r>
            <a:endParaRPr b="1" sz="2300">
              <a:solidFill>
                <a:srgbClr val="173541"/>
              </a:solidFill>
            </a:endParaRPr>
          </a:p>
        </p:txBody>
      </p:sp>
      <p:sp>
        <p:nvSpPr>
          <p:cNvPr id="407" name="Google Shape;407;p25"/>
          <p:cNvSpPr txBox="1"/>
          <p:nvPr/>
        </p:nvSpPr>
        <p:spPr>
          <a:xfrm>
            <a:off x="762000" y="6350000"/>
            <a:ext cx="10668000" cy="304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chemeClr val="hlink"/>
                </a:solidFill>
                <a:hlinkClick r:id="rId3"/>
              </a:rPr>
              <a:t>Concrete calibration example: Oceananigans PR #5013</a:t>
            </a:r>
            <a:endParaRPr sz="1100">
              <a:solidFill>
                <a:srgbClr val="58717A"/>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412" name="Shape 412"/>
        <p:cNvGrpSpPr/>
        <p:nvPr/>
      </p:nvGrpSpPr>
      <p:grpSpPr>
        <a:xfrm>
          <a:off x="0" y="0"/>
          <a:ext cx="0" cy="0"/>
          <a:chOff x="0" y="0"/>
          <a:chExt cx="0" cy="0"/>
        </a:xfrm>
      </p:grpSpPr>
      <p:sp>
        <p:nvSpPr>
          <p:cNvPr id="413" name="Google Shape;413;p26"/>
          <p:cNvSpPr txBox="1"/>
          <p:nvPr/>
        </p:nvSpPr>
        <p:spPr>
          <a:xfrm>
            <a:off x="762000" y="533400"/>
            <a:ext cx="10668000" cy="952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600">
                <a:solidFill>
                  <a:srgbClr val="F6F5F0"/>
                </a:solidFill>
              </a:rPr>
              <a:t>Three questions for NEMO</a:t>
            </a:r>
            <a:endParaRPr b="1" i="0" sz="3600" u="none" cap="none" strike="noStrike">
              <a:solidFill>
                <a:srgbClr val="F6F5F0"/>
              </a:solidFill>
            </a:endParaRPr>
          </a:p>
        </p:txBody>
      </p:sp>
      <p:sp>
        <p:nvSpPr>
          <p:cNvPr id="414" name="Google Shape;414;p26"/>
          <p:cNvSpPr txBox="1"/>
          <p:nvPr/>
        </p:nvSpPr>
        <p:spPr>
          <a:xfrm>
            <a:off x="762000" y="1968500"/>
            <a:ext cx="106680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100">
                <a:solidFill>
                  <a:srgbClr val="8FD5CA"/>
                </a:solidFill>
              </a:rPr>
              <a:t>Usage</a:t>
            </a:r>
            <a:endParaRPr b="1" sz="2100">
              <a:solidFill>
                <a:srgbClr val="8FD5CA"/>
              </a:solidFill>
            </a:endParaRPr>
          </a:p>
        </p:txBody>
      </p:sp>
      <p:sp>
        <p:nvSpPr>
          <p:cNvPr id="415" name="Google Shape;415;p26"/>
          <p:cNvSpPr txBox="1"/>
          <p:nvPr/>
        </p:nvSpPr>
        <p:spPr>
          <a:xfrm>
            <a:off x="762000" y="2425700"/>
            <a:ext cx="10668000" cy="685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700">
                <a:solidFill>
                  <a:srgbClr val="F6F5F0"/>
                </a:solidFill>
              </a:rPr>
              <a:t>Which scientific decisions can we delegate to an agent?</a:t>
            </a:r>
            <a:endParaRPr sz="2700">
              <a:solidFill>
                <a:srgbClr val="F6F5F0"/>
              </a:solidFill>
            </a:endParaRPr>
          </a:p>
        </p:txBody>
      </p:sp>
      <p:sp>
        <p:nvSpPr>
          <p:cNvPr id="416" name="Google Shape;416;p26"/>
          <p:cNvSpPr txBox="1"/>
          <p:nvPr/>
        </p:nvSpPr>
        <p:spPr>
          <a:xfrm>
            <a:off x="762000" y="3390900"/>
            <a:ext cx="106680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100">
                <a:solidFill>
                  <a:srgbClr val="8FD5CA"/>
                </a:solidFill>
              </a:rPr>
              <a:t>Development</a:t>
            </a:r>
            <a:endParaRPr b="1" sz="2100">
              <a:solidFill>
                <a:srgbClr val="8FD5CA"/>
              </a:solidFill>
            </a:endParaRPr>
          </a:p>
        </p:txBody>
      </p:sp>
      <p:sp>
        <p:nvSpPr>
          <p:cNvPr id="417" name="Google Shape;417;p26"/>
          <p:cNvSpPr txBox="1"/>
          <p:nvPr/>
        </p:nvSpPr>
        <p:spPr>
          <a:xfrm>
            <a:off x="762000" y="3848100"/>
            <a:ext cx="10668000" cy="685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700">
                <a:solidFill>
                  <a:srgbClr val="F6F5F0"/>
                </a:solidFill>
              </a:rPr>
              <a:t>What evidence should accompany a contribution?</a:t>
            </a:r>
            <a:endParaRPr sz="2700">
              <a:solidFill>
                <a:srgbClr val="F6F5F0"/>
              </a:solidFill>
            </a:endParaRPr>
          </a:p>
        </p:txBody>
      </p:sp>
      <p:sp>
        <p:nvSpPr>
          <p:cNvPr id="418" name="Google Shape;418;p26"/>
          <p:cNvSpPr txBox="1"/>
          <p:nvPr/>
        </p:nvSpPr>
        <p:spPr>
          <a:xfrm>
            <a:off x="762000" y="4813300"/>
            <a:ext cx="106680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100">
                <a:solidFill>
                  <a:srgbClr val="8FD5CA"/>
                </a:solidFill>
              </a:rPr>
              <a:t>Parameterization</a:t>
            </a:r>
            <a:endParaRPr b="1" sz="2100">
              <a:solidFill>
                <a:srgbClr val="8FD5CA"/>
              </a:solidFill>
            </a:endParaRPr>
          </a:p>
        </p:txBody>
      </p:sp>
      <p:sp>
        <p:nvSpPr>
          <p:cNvPr id="419" name="Google Shape;419;p26"/>
          <p:cNvSpPr txBox="1"/>
          <p:nvPr/>
        </p:nvSpPr>
        <p:spPr>
          <a:xfrm>
            <a:off x="762000" y="5270500"/>
            <a:ext cx="10668000" cy="685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700">
                <a:solidFill>
                  <a:srgbClr val="F6F5F0"/>
                </a:solidFill>
              </a:rPr>
              <a:t>What tests establish that a closure works online?</a:t>
            </a:r>
            <a:endParaRPr sz="2700">
              <a:solidFill>
                <a:srgbClr val="F6F5F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D3A"/>
        </a:solidFill>
      </p:bgPr>
    </p:bg>
    <p:spTree>
      <p:nvGrpSpPr>
        <p:cNvPr id="424" name="Shape 424"/>
        <p:cNvGrpSpPr/>
        <p:nvPr/>
      </p:nvGrpSpPr>
      <p:grpSpPr>
        <a:xfrm>
          <a:off x="0" y="0"/>
          <a:ext cx="0" cy="0"/>
          <a:chOff x="0" y="0"/>
          <a:chExt cx="0" cy="0"/>
        </a:xfrm>
      </p:grpSpPr>
      <p:sp>
        <p:nvSpPr>
          <p:cNvPr id="425" name="Google Shape;425;p27"/>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F6F5F0"/>
                </a:solidFill>
              </a:rPr>
              <a:t>Appendix</a:t>
            </a:r>
            <a:endParaRPr b="1" i="0" sz="3200" u="none" cap="none" strike="noStrike">
              <a:solidFill>
                <a:srgbClr val="F6F5F0"/>
              </a:solidFill>
            </a:endParaRPr>
          </a:p>
        </p:txBody>
      </p:sp>
      <p:sp>
        <p:nvSpPr>
          <p:cNvPr id="426" name="Google Shape;426;p27"/>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8FD5CA"/>
                </a:solidFill>
              </a:rPr>
              <a:t>Working ideas and possible connections</a:t>
            </a:r>
            <a:endParaRPr b="1" sz="2900">
              <a:solidFill>
                <a:srgbClr val="8FD5CA"/>
              </a:solidFill>
            </a:endParaRPr>
          </a:p>
        </p:txBody>
      </p:sp>
      <p:sp>
        <p:nvSpPr>
          <p:cNvPr id="427" name="Google Shape;427;p27"/>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F6F5F0"/>
                </a:solidFill>
              </a:rPr>
              <a:t>Understanding scientific software</a:t>
            </a:r>
            <a:endParaRPr sz="2400">
              <a:solidFill>
                <a:srgbClr val="F6F5F0"/>
              </a:solidFill>
            </a:endParaRPr>
          </a:p>
          <a:p>
            <a:pPr indent="0" lvl="0" marL="0" rtl="0" algn="l">
              <a:lnSpc>
                <a:spcPct val="110000"/>
              </a:lnSpc>
              <a:spcBef>
                <a:spcPts val="0"/>
              </a:spcBef>
              <a:spcAft>
                <a:spcPts val="0"/>
              </a:spcAft>
              <a:buNone/>
            </a:pPr>
            <a:r>
              <a:rPr lang="en-US" sz="2400">
                <a:solidFill>
                  <a:srgbClr val="F6F5F0"/>
                </a:solidFill>
              </a:rPr>
              <a:t>Knowledge, craft, and model hierarchies</a:t>
            </a:r>
            <a:endParaRPr sz="2400">
              <a:solidFill>
                <a:srgbClr val="F6F5F0"/>
              </a:solidFill>
            </a:endParaRPr>
          </a:p>
        </p:txBody>
      </p:sp>
      <p:sp>
        <p:nvSpPr>
          <p:cNvPr id="428" name="Google Shape;428;p27"/>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F6F5F0"/>
                </a:solidFill>
              </a:rPr>
              <a:t>Material to develop and weave into the main talk.</a:t>
            </a:r>
            <a:endParaRPr b="1" sz="2400">
              <a:solidFill>
                <a:srgbClr val="F6F5F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433" name="Shape 433"/>
        <p:cNvGrpSpPr/>
        <p:nvPr/>
      </p:nvGrpSpPr>
      <p:grpSpPr>
        <a:xfrm>
          <a:off x="0" y="0"/>
          <a:ext cx="0" cy="0"/>
          <a:chOff x="0" y="0"/>
          <a:chExt cx="0" cy="0"/>
        </a:xfrm>
      </p:grpSpPr>
      <p:sp>
        <p:nvSpPr>
          <p:cNvPr id="434" name="Google Shape;434;p28"/>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What the repository analysis measures</a:t>
            </a:r>
            <a:endParaRPr b="1" i="0" sz="3200" u="none" cap="none" strike="noStrike">
              <a:solidFill>
                <a:srgbClr val="173541"/>
              </a:solidFill>
            </a:endParaRPr>
          </a:p>
        </p:txBody>
      </p:sp>
      <p:sp>
        <p:nvSpPr>
          <p:cNvPr id="435" name="Google Shape;435;p28"/>
          <p:cNvSpPr txBox="1"/>
          <p:nvPr/>
        </p:nvSpPr>
        <p:spPr>
          <a:xfrm>
            <a:off x="762000" y="17780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A fixed snapshot: 30 September 2026</a:t>
            </a:r>
            <a:endParaRPr b="1" sz="2900">
              <a:solidFill>
                <a:srgbClr val="167D8D"/>
              </a:solidFill>
            </a:endParaRPr>
          </a:p>
        </p:txBody>
      </p:sp>
      <p:sp>
        <p:nvSpPr>
          <p:cNvPr id="436" name="Google Shape;436;p28"/>
          <p:cNvSpPr txBox="1"/>
          <p:nvPr/>
        </p:nvSpPr>
        <p:spPr>
          <a:xfrm>
            <a:off x="762000" y="3302000"/>
            <a:ext cx="10668000" cy="158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3,731 PRs and 13,845 commits reachable from main.</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Growth comparisons use January–August; bots excluded.</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Contributors are PR-opening accounts, not all developers.</a:t>
            </a:r>
            <a:endParaRPr sz="2400">
              <a:solidFill>
                <a:srgbClr val="173541"/>
              </a:solidFill>
            </a:endParaRPr>
          </a:p>
        </p:txBody>
      </p:sp>
      <p:sp>
        <p:nvSpPr>
          <p:cNvPr id="437" name="Google Shape;437;p28"/>
          <p:cNvSpPr txBox="1"/>
          <p:nvPr/>
        </p:nvSpPr>
        <p:spPr>
          <a:xfrm>
            <a:off x="762000" y="5194300"/>
            <a:ext cx="106680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300">
                <a:solidFill>
                  <a:srgbClr val="173541"/>
                </a:solidFill>
              </a:rPr>
              <a:t>Disclosure is optional. Activity is not quality or time saved.</a:t>
            </a:r>
            <a:endParaRPr b="1" sz="2300">
              <a:solidFill>
                <a:srgbClr val="173541"/>
              </a:solidFill>
            </a:endParaRPr>
          </a:p>
        </p:txBody>
      </p:sp>
      <p:sp>
        <p:nvSpPr>
          <p:cNvPr id="438" name="Google Shape;438;p28"/>
          <p:cNvSpPr txBox="1"/>
          <p:nvPr/>
        </p:nvSpPr>
        <p:spPr>
          <a:xfrm>
            <a:off x="762000" y="6350000"/>
            <a:ext cx="10668000" cy="304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chemeClr val="hlink"/>
                </a:solidFill>
                <a:hlinkClick r:id="rId3"/>
              </a:rPr>
              <a:t>Source: CliMA/Oceananigans.jl · methods and raw evidence saved with this talk</a:t>
            </a:r>
            <a:endParaRPr sz="1100">
              <a:solidFill>
                <a:srgbClr val="58717A"/>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443" name="Shape 443"/>
        <p:cNvGrpSpPr/>
        <p:nvPr/>
      </p:nvGrpSpPr>
      <p:grpSpPr>
        <a:xfrm>
          <a:off x="0" y="0"/>
          <a:ext cx="0" cy="0"/>
          <a:chOff x="0" y="0"/>
          <a:chExt cx="0" cy="0"/>
        </a:xfrm>
      </p:grpSpPr>
      <p:sp>
        <p:nvSpPr>
          <p:cNvPr id="444" name="Google Shape;444;p29"/>
          <p:cNvSpPr txBox="1"/>
          <p:nvPr/>
        </p:nvSpPr>
        <p:spPr>
          <a:xfrm>
            <a:off x="762000" y="469900"/>
            <a:ext cx="10668000" cy="1016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Why raw commit counts can mislead</a:t>
            </a:r>
            <a:endParaRPr b="1" i="0" sz="3200" u="none" cap="none" strike="noStrike">
              <a:solidFill>
                <a:srgbClr val="173541"/>
              </a:solidFill>
            </a:endParaRPr>
          </a:p>
        </p:txBody>
      </p:sp>
      <p:sp>
        <p:nvSpPr>
          <p:cNvPr id="445" name="Google Shape;445;p29"/>
          <p:cNvSpPr txBox="1"/>
          <p:nvPr/>
        </p:nvSpPr>
        <p:spPr>
          <a:xfrm>
            <a:off x="762000" y="1524000"/>
            <a:ext cx="10668000" cy="6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00">
                <a:solidFill>
                  <a:srgbClr val="167D8D"/>
                </a:solidFill>
              </a:rPr>
              <a:t>Squashing changes how much development history a commit represents</a:t>
            </a:r>
            <a:endParaRPr b="1" sz="2300">
              <a:solidFill>
                <a:srgbClr val="167D8D"/>
              </a:solidFill>
            </a:endParaRPr>
          </a:p>
        </p:txBody>
      </p:sp>
      <p:sp>
        <p:nvSpPr>
          <p:cNvPr id="446" name="Google Shape;446;p29"/>
          <p:cNvSpPr txBox="1"/>
          <p:nvPr/>
        </p:nvSpPr>
        <p:spPr>
          <a:xfrm>
            <a:off x="1397000" y="2235200"/>
            <a:ext cx="4953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C57335"/>
                </a:solidFill>
              </a:rPr>
              <a:t>All retained non-merge commits</a:t>
            </a:r>
            <a:endParaRPr sz="1600">
              <a:solidFill>
                <a:srgbClr val="C57335"/>
              </a:solidFill>
            </a:endParaRPr>
          </a:p>
        </p:txBody>
      </p:sp>
      <p:sp>
        <p:nvSpPr>
          <p:cNvPr id="447" name="Google Shape;447;p29"/>
          <p:cNvSpPr txBox="1"/>
          <p:nvPr/>
        </p:nvSpPr>
        <p:spPr>
          <a:xfrm>
            <a:off x="6858000" y="2235200"/>
            <a:ext cx="4317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67D8D"/>
                </a:solidFill>
              </a:rPr>
              <a:t>First-parent main history</a:t>
            </a:r>
            <a:endParaRPr sz="1600">
              <a:solidFill>
                <a:srgbClr val="167D8D"/>
              </a:solidFill>
            </a:endParaRPr>
          </a:p>
        </p:txBody>
      </p:sp>
      <p:cxnSp>
        <p:nvCxnSpPr>
          <p:cNvPr id="448" name="Google Shape;448;p29"/>
          <p:cNvCxnSpPr/>
          <p:nvPr/>
        </p:nvCxnSpPr>
        <p:spPr>
          <a:xfrm>
            <a:off x="1397000" y="5372100"/>
            <a:ext cx="9842400" cy="0"/>
          </a:xfrm>
          <a:prstGeom prst="straightConnector1">
            <a:avLst/>
          </a:prstGeom>
          <a:noFill/>
          <a:ln cap="flat" cmpd="sng" w="7625">
            <a:solidFill>
              <a:srgbClr val="BAC9CC"/>
            </a:solidFill>
            <a:prstDash val="solid"/>
            <a:round/>
            <a:headEnd len="med" w="med" type="none"/>
            <a:tailEnd len="med" w="med" type="none"/>
          </a:ln>
        </p:spPr>
      </p:cxnSp>
      <p:sp>
        <p:nvSpPr>
          <p:cNvPr id="449" name="Google Shape;449;p29"/>
          <p:cNvSpPr txBox="1"/>
          <p:nvPr/>
        </p:nvSpPr>
        <p:spPr>
          <a:xfrm>
            <a:off x="736600" y="5219700"/>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0</a:t>
            </a:r>
            <a:endParaRPr sz="1500">
              <a:solidFill>
                <a:srgbClr val="58717A"/>
              </a:solidFill>
            </a:endParaRPr>
          </a:p>
        </p:txBody>
      </p:sp>
      <p:cxnSp>
        <p:nvCxnSpPr>
          <p:cNvPr id="450" name="Google Shape;450;p29"/>
          <p:cNvCxnSpPr/>
          <p:nvPr/>
        </p:nvCxnSpPr>
        <p:spPr>
          <a:xfrm>
            <a:off x="1397000" y="4429991"/>
            <a:ext cx="9842400" cy="0"/>
          </a:xfrm>
          <a:prstGeom prst="straightConnector1">
            <a:avLst/>
          </a:prstGeom>
          <a:noFill/>
          <a:ln cap="flat" cmpd="sng" w="7625">
            <a:solidFill>
              <a:srgbClr val="BAC9CC"/>
            </a:solidFill>
            <a:prstDash val="solid"/>
            <a:round/>
            <a:headEnd len="med" w="med" type="none"/>
            <a:tailEnd len="med" w="med" type="none"/>
          </a:ln>
        </p:spPr>
      </p:cxnSp>
      <p:sp>
        <p:nvSpPr>
          <p:cNvPr id="451" name="Google Shape;451;p29"/>
          <p:cNvSpPr txBox="1"/>
          <p:nvPr/>
        </p:nvSpPr>
        <p:spPr>
          <a:xfrm>
            <a:off x="736600" y="4277591"/>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200</a:t>
            </a:r>
            <a:endParaRPr sz="1500">
              <a:solidFill>
                <a:srgbClr val="58717A"/>
              </a:solidFill>
            </a:endParaRPr>
          </a:p>
        </p:txBody>
      </p:sp>
      <p:cxnSp>
        <p:nvCxnSpPr>
          <p:cNvPr id="452" name="Google Shape;452;p29"/>
          <p:cNvCxnSpPr/>
          <p:nvPr/>
        </p:nvCxnSpPr>
        <p:spPr>
          <a:xfrm>
            <a:off x="1397000" y="3487882"/>
            <a:ext cx="9842400" cy="0"/>
          </a:xfrm>
          <a:prstGeom prst="straightConnector1">
            <a:avLst/>
          </a:prstGeom>
          <a:noFill/>
          <a:ln cap="flat" cmpd="sng" w="7625">
            <a:solidFill>
              <a:srgbClr val="BAC9CC"/>
            </a:solidFill>
            <a:prstDash val="solid"/>
            <a:round/>
            <a:headEnd len="med" w="med" type="none"/>
            <a:tailEnd len="med" w="med" type="none"/>
          </a:ln>
        </p:spPr>
      </p:cxnSp>
      <p:sp>
        <p:nvSpPr>
          <p:cNvPr id="453" name="Google Shape;453;p29"/>
          <p:cNvSpPr txBox="1"/>
          <p:nvPr/>
        </p:nvSpPr>
        <p:spPr>
          <a:xfrm>
            <a:off x="736600" y="3335482"/>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400</a:t>
            </a:r>
            <a:endParaRPr sz="1500">
              <a:solidFill>
                <a:srgbClr val="58717A"/>
              </a:solidFill>
            </a:endParaRPr>
          </a:p>
        </p:txBody>
      </p:sp>
      <p:cxnSp>
        <p:nvCxnSpPr>
          <p:cNvPr id="454" name="Google Shape;454;p29"/>
          <p:cNvCxnSpPr/>
          <p:nvPr/>
        </p:nvCxnSpPr>
        <p:spPr>
          <a:xfrm flipH="1" rot="10800000">
            <a:off x="1397000" y="4298183"/>
            <a:ext cx="108300" cy="753600"/>
          </a:xfrm>
          <a:prstGeom prst="straightConnector1">
            <a:avLst/>
          </a:prstGeom>
          <a:noFill/>
          <a:ln cap="flat" cmpd="sng" w="25400">
            <a:solidFill>
              <a:srgbClr val="C57335"/>
            </a:solidFill>
            <a:prstDash val="solid"/>
            <a:round/>
            <a:headEnd len="med" w="med" type="none"/>
            <a:tailEnd len="med" w="med" type="none"/>
          </a:ln>
        </p:spPr>
      </p:cxnSp>
      <p:cxnSp>
        <p:nvCxnSpPr>
          <p:cNvPr id="455" name="Google Shape;455;p29"/>
          <p:cNvCxnSpPr/>
          <p:nvPr/>
        </p:nvCxnSpPr>
        <p:spPr>
          <a:xfrm>
            <a:off x="1505159" y="4298096"/>
            <a:ext cx="108300" cy="108300"/>
          </a:xfrm>
          <a:prstGeom prst="straightConnector1">
            <a:avLst/>
          </a:prstGeom>
          <a:noFill/>
          <a:ln cap="flat" cmpd="sng" w="25400">
            <a:solidFill>
              <a:srgbClr val="C57335"/>
            </a:solidFill>
            <a:prstDash val="solid"/>
            <a:round/>
            <a:headEnd len="med" w="med" type="none"/>
            <a:tailEnd len="med" w="med" type="none"/>
          </a:ln>
        </p:spPr>
      </p:cxnSp>
      <p:cxnSp>
        <p:nvCxnSpPr>
          <p:cNvPr id="456" name="Google Shape;456;p29"/>
          <p:cNvCxnSpPr/>
          <p:nvPr/>
        </p:nvCxnSpPr>
        <p:spPr>
          <a:xfrm>
            <a:off x="1613319" y="4406438"/>
            <a:ext cx="108300" cy="607800"/>
          </a:xfrm>
          <a:prstGeom prst="straightConnector1">
            <a:avLst/>
          </a:prstGeom>
          <a:noFill/>
          <a:ln cap="flat" cmpd="sng" w="25400">
            <a:solidFill>
              <a:srgbClr val="C57335"/>
            </a:solidFill>
            <a:prstDash val="solid"/>
            <a:round/>
            <a:headEnd len="med" w="med" type="none"/>
            <a:tailEnd len="med" w="med" type="none"/>
          </a:ln>
        </p:spPr>
      </p:cxnSp>
      <p:cxnSp>
        <p:nvCxnSpPr>
          <p:cNvPr id="457" name="Google Shape;457;p29"/>
          <p:cNvCxnSpPr/>
          <p:nvPr/>
        </p:nvCxnSpPr>
        <p:spPr>
          <a:xfrm flipH="1" rot="10800000">
            <a:off x="1721478" y="4627699"/>
            <a:ext cx="108300" cy="386400"/>
          </a:xfrm>
          <a:prstGeom prst="straightConnector1">
            <a:avLst/>
          </a:prstGeom>
          <a:noFill/>
          <a:ln cap="flat" cmpd="sng" w="25400">
            <a:solidFill>
              <a:srgbClr val="C57335"/>
            </a:solidFill>
            <a:prstDash val="solid"/>
            <a:round/>
            <a:headEnd len="med" w="med" type="none"/>
            <a:tailEnd len="med" w="med" type="none"/>
          </a:ln>
        </p:spPr>
      </p:cxnSp>
      <p:cxnSp>
        <p:nvCxnSpPr>
          <p:cNvPr id="458" name="Google Shape;458;p29"/>
          <p:cNvCxnSpPr/>
          <p:nvPr/>
        </p:nvCxnSpPr>
        <p:spPr>
          <a:xfrm>
            <a:off x="1829637" y="4627834"/>
            <a:ext cx="108300" cy="37800"/>
          </a:xfrm>
          <a:prstGeom prst="straightConnector1">
            <a:avLst/>
          </a:prstGeom>
          <a:noFill/>
          <a:ln cap="flat" cmpd="sng" w="25400">
            <a:solidFill>
              <a:srgbClr val="C57335"/>
            </a:solidFill>
            <a:prstDash val="solid"/>
            <a:round/>
            <a:headEnd len="med" w="med" type="none"/>
            <a:tailEnd len="med" w="med" type="none"/>
          </a:ln>
        </p:spPr>
      </p:cxnSp>
      <p:cxnSp>
        <p:nvCxnSpPr>
          <p:cNvPr id="459" name="Google Shape;459;p29"/>
          <p:cNvCxnSpPr/>
          <p:nvPr/>
        </p:nvCxnSpPr>
        <p:spPr>
          <a:xfrm>
            <a:off x="1937797" y="4665518"/>
            <a:ext cx="108300" cy="282600"/>
          </a:xfrm>
          <a:prstGeom prst="straightConnector1">
            <a:avLst/>
          </a:prstGeom>
          <a:noFill/>
          <a:ln cap="flat" cmpd="sng" w="25400">
            <a:solidFill>
              <a:srgbClr val="C57335"/>
            </a:solidFill>
            <a:prstDash val="solid"/>
            <a:round/>
            <a:headEnd len="med" w="med" type="none"/>
            <a:tailEnd len="med" w="med" type="none"/>
          </a:ln>
        </p:spPr>
      </p:cxnSp>
      <p:cxnSp>
        <p:nvCxnSpPr>
          <p:cNvPr id="460" name="Google Shape;460;p29"/>
          <p:cNvCxnSpPr/>
          <p:nvPr/>
        </p:nvCxnSpPr>
        <p:spPr>
          <a:xfrm flipH="1" rot="10800000">
            <a:off x="2045956" y="3982451"/>
            <a:ext cx="108300" cy="965700"/>
          </a:xfrm>
          <a:prstGeom prst="straightConnector1">
            <a:avLst/>
          </a:prstGeom>
          <a:noFill/>
          <a:ln cap="flat" cmpd="sng" w="25400">
            <a:solidFill>
              <a:srgbClr val="C57335"/>
            </a:solidFill>
            <a:prstDash val="solid"/>
            <a:round/>
            <a:headEnd len="med" w="med" type="none"/>
            <a:tailEnd len="med" w="med" type="none"/>
          </a:ln>
        </p:spPr>
      </p:cxnSp>
      <p:cxnSp>
        <p:nvCxnSpPr>
          <p:cNvPr id="461" name="Google Shape;461;p29"/>
          <p:cNvCxnSpPr/>
          <p:nvPr/>
        </p:nvCxnSpPr>
        <p:spPr>
          <a:xfrm>
            <a:off x="2154115" y="3982489"/>
            <a:ext cx="108300" cy="273300"/>
          </a:xfrm>
          <a:prstGeom prst="straightConnector1">
            <a:avLst/>
          </a:prstGeom>
          <a:noFill/>
          <a:ln cap="flat" cmpd="sng" w="25400">
            <a:solidFill>
              <a:srgbClr val="C57335"/>
            </a:solidFill>
            <a:prstDash val="solid"/>
            <a:round/>
            <a:headEnd len="med" w="med" type="none"/>
            <a:tailEnd len="med" w="med" type="none"/>
          </a:ln>
        </p:spPr>
      </p:cxnSp>
      <p:cxnSp>
        <p:nvCxnSpPr>
          <p:cNvPr id="462" name="Google Shape;462;p29"/>
          <p:cNvCxnSpPr/>
          <p:nvPr/>
        </p:nvCxnSpPr>
        <p:spPr>
          <a:xfrm flipH="1" rot="10800000">
            <a:off x="2262275" y="2918001"/>
            <a:ext cx="108300" cy="1337700"/>
          </a:xfrm>
          <a:prstGeom prst="straightConnector1">
            <a:avLst/>
          </a:prstGeom>
          <a:noFill/>
          <a:ln cap="flat" cmpd="sng" w="25400">
            <a:solidFill>
              <a:srgbClr val="C57335"/>
            </a:solidFill>
            <a:prstDash val="solid"/>
            <a:round/>
            <a:headEnd len="med" w="med" type="none"/>
            <a:tailEnd len="med" w="med" type="none"/>
          </a:ln>
        </p:spPr>
      </p:cxnSp>
      <p:cxnSp>
        <p:nvCxnSpPr>
          <p:cNvPr id="463" name="Google Shape;463;p29"/>
          <p:cNvCxnSpPr/>
          <p:nvPr/>
        </p:nvCxnSpPr>
        <p:spPr>
          <a:xfrm>
            <a:off x="2370434" y="2917906"/>
            <a:ext cx="108300" cy="2034900"/>
          </a:xfrm>
          <a:prstGeom prst="straightConnector1">
            <a:avLst/>
          </a:prstGeom>
          <a:noFill/>
          <a:ln cap="flat" cmpd="sng" w="25400">
            <a:solidFill>
              <a:srgbClr val="C57335"/>
            </a:solidFill>
            <a:prstDash val="solid"/>
            <a:round/>
            <a:headEnd len="med" w="med" type="none"/>
            <a:tailEnd len="med" w="med" type="none"/>
          </a:ln>
        </p:spPr>
      </p:cxnSp>
      <p:cxnSp>
        <p:nvCxnSpPr>
          <p:cNvPr id="464" name="Google Shape;464;p29"/>
          <p:cNvCxnSpPr/>
          <p:nvPr/>
        </p:nvCxnSpPr>
        <p:spPr>
          <a:xfrm flipH="1" rot="10800000">
            <a:off x="2478593" y="4373561"/>
            <a:ext cx="108300" cy="579300"/>
          </a:xfrm>
          <a:prstGeom prst="straightConnector1">
            <a:avLst/>
          </a:prstGeom>
          <a:noFill/>
          <a:ln cap="flat" cmpd="sng" w="25400">
            <a:solidFill>
              <a:srgbClr val="C57335"/>
            </a:solidFill>
            <a:prstDash val="solid"/>
            <a:round/>
            <a:headEnd len="med" w="med" type="none"/>
            <a:tailEnd len="med" w="med" type="none"/>
          </a:ln>
        </p:spPr>
      </p:cxnSp>
      <p:cxnSp>
        <p:nvCxnSpPr>
          <p:cNvPr id="465" name="Google Shape;465;p29"/>
          <p:cNvCxnSpPr/>
          <p:nvPr/>
        </p:nvCxnSpPr>
        <p:spPr>
          <a:xfrm>
            <a:off x="2586753" y="4373464"/>
            <a:ext cx="108300" cy="612300"/>
          </a:xfrm>
          <a:prstGeom prst="straightConnector1">
            <a:avLst/>
          </a:prstGeom>
          <a:noFill/>
          <a:ln cap="flat" cmpd="sng" w="25400">
            <a:solidFill>
              <a:srgbClr val="C57335"/>
            </a:solidFill>
            <a:prstDash val="solid"/>
            <a:round/>
            <a:headEnd len="med" w="med" type="none"/>
            <a:tailEnd len="med" w="med" type="none"/>
          </a:ln>
        </p:spPr>
      </p:cxnSp>
      <p:cxnSp>
        <p:nvCxnSpPr>
          <p:cNvPr id="466" name="Google Shape;466;p29"/>
          <p:cNvCxnSpPr/>
          <p:nvPr/>
        </p:nvCxnSpPr>
        <p:spPr>
          <a:xfrm flipH="1" rot="10800000">
            <a:off x="2694912" y="4401735"/>
            <a:ext cx="108300" cy="584100"/>
          </a:xfrm>
          <a:prstGeom prst="straightConnector1">
            <a:avLst/>
          </a:prstGeom>
          <a:noFill/>
          <a:ln cap="flat" cmpd="sng" w="25400">
            <a:solidFill>
              <a:srgbClr val="C57335"/>
            </a:solidFill>
            <a:prstDash val="solid"/>
            <a:round/>
            <a:headEnd len="med" w="med" type="none"/>
            <a:tailEnd len="med" w="med" type="none"/>
          </a:ln>
        </p:spPr>
      </p:cxnSp>
      <p:cxnSp>
        <p:nvCxnSpPr>
          <p:cNvPr id="467" name="Google Shape;467;p29"/>
          <p:cNvCxnSpPr/>
          <p:nvPr/>
        </p:nvCxnSpPr>
        <p:spPr>
          <a:xfrm>
            <a:off x="2803071" y="4401728"/>
            <a:ext cx="108300" cy="42300"/>
          </a:xfrm>
          <a:prstGeom prst="straightConnector1">
            <a:avLst/>
          </a:prstGeom>
          <a:noFill/>
          <a:ln cap="flat" cmpd="sng" w="25400">
            <a:solidFill>
              <a:srgbClr val="C57335"/>
            </a:solidFill>
            <a:prstDash val="solid"/>
            <a:round/>
            <a:headEnd len="med" w="med" type="none"/>
            <a:tailEnd len="med" w="med" type="none"/>
          </a:ln>
        </p:spPr>
      </p:cxnSp>
      <p:cxnSp>
        <p:nvCxnSpPr>
          <p:cNvPr id="468" name="Google Shape;468;p29"/>
          <p:cNvCxnSpPr/>
          <p:nvPr/>
        </p:nvCxnSpPr>
        <p:spPr>
          <a:xfrm>
            <a:off x="2911231" y="4444123"/>
            <a:ext cx="108300" cy="753600"/>
          </a:xfrm>
          <a:prstGeom prst="straightConnector1">
            <a:avLst/>
          </a:prstGeom>
          <a:noFill/>
          <a:ln cap="flat" cmpd="sng" w="25400">
            <a:solidFill>
              <a:srgbClr val="C57335"/>
            </a:solidFill>
            <a:prstDash val="solid"/>
            <a:round/>
            <a:headEnd len="med" w="med" type="none"/>
            <a:tailEnd len="med" w="med" type="none"/>
          </a:ln>
        </p:spPr>
      </p:cxnSp>
      <p:cxnSp>
        <p:nvCxnSpPr>
          <p:cNvPr id="469" name="Google Shape;469;p29"/>
          <p:cNvCxnSpPr/>
          <p:nvPr/>
        </p:nvCxnSpPr>
        <p:spPr>
          <a:xfrm flipH="1" rot="10800000">
            <a:off x="3019390" y="5070610"/>
            <a:ext cx="108300" cy="127200"/>
          </a:xfrm>
          <a:prstGeom prst="straightConnector1">
            <a:avLst/>
          </a:prstGeom>
          <a:noFill/>
          <a:ln cap="flat" cmpd="sng" w="25400">
            <a:solidFill>
              <a:srgbClr val="C57335"/>
            </a:solidFill>
            <a:prstDash val="solid"/>
            <a:round/>
            <a:headEnd len="med" w="med" type="none"/>
            <a:tailEnd len="med" w="med" type="none"/>
          </a:ln>
        </p:spPr>
      </p:cxnSp>
      <p:cxnSp>
        <p:nvCxnSpPr>
          <p:cNvPr id="470" name="Google Shape;470;p29"/>
          <p:cNvCxnSpPr/>
          <p:nvPr/>
        </p:nvCxnSpPr>
        <p:spPr>
          <a:xfrm>
            <a:off x="3127549" y="5070625"/>
            <a:ext cx="108300" cy="244800"/>
          </a:xfrm>
          <a:prstGeom prst="straightConnector1">
            <a:avLst/>
          </a:prstGeom>
          <a:noFill/>
          <a:ln cap="flat" cmpd="sng" w="25400">
            <a:solidFill>
              <a:srgbClr val="C57335"/>
            </a:solidFill>
            <a:prstDash val="solid"/>
            <a:round/>
            <a:headEnd len="med" w="med" type="none"/>
            <a:tailEnd len="med" w="med" type="none"/>
          </a:ln>
        </p:spPr>
      </p:cxnSp>
      <p:cxnSp>
        <p:nvCxnSpPr>
          <p:cNvPr id="471" name="Google Shape;471;p29"/>
          <p:cNvCxnSpPr/>
          <p:nvPr/>
        </p:nvCxnSpPr>
        <p:spPr>
          <a:xfrm flipH="1" rot="10800000">
            <a:off x="3235709" y="4717373"/>
            <a:ext cx="108300" cy="598200"/>
          </a:xfrm>
          <a:prstGeom prst="straightConnector1">
            <a:avLst/>
          </a:prstGeom>
          <a:noFill/>
          <a:ln cap="flat" cmpd="sng" w="25400">
            <a:solidFill>
              <a:srgbClr val="C57335"/>
            </a:solidFill>
            <a:prstDash val="solid"/>
            <a:round/>
            <a:headEnd len="med" w="med" type="none"/>
            <a:tailEnd len="med" w="med" type="none"/>
          </a:ln>
        </p:spPr>
      </p:cxnSp>
      <p:cxnSp>
        <p:nvCxnSpPr>
          <p:cNvPr id="472" name="Google Shape;472;p29"/>
          <p:cNvCxnSpPr/>
          <p:nvPr/>
        </p:nvCxnSpPr>
        <p:spPr>
          <a:xfrm flipH="1" rot="10800000">
            <a:off x="3343868" y="4411034"/>
            <a:ext cx="108300" cy="306300"/>
          </a:xfrm>
          <a:prstGeom prst="straightConnector1">
            <a:avLst/>
          </a:prstGeom>
          <a:noFill/>
          <a:ln cap="flat" cmpd="sng" w="25400">
            <a:solidFill>
              <a:srgbClr val="C57335"/>
            </a:solidFill>
            <a:prstDash val="solid"/>
            <a:round/>
            <a:headEnd len="med" w="med" type="none"/>
            <a:tailEnd len="med" w="med" type="none"/>
          </a:ln>
        </p:spPr>
      </p:cxnSp>
      <p:cxnSp>
        <p:nvCxnSpPr>
          <p:cNvPr id="473" name="Google Shape;473;p29"/>
          <p:cNvCxnSpPr/>
          <p:nvPr/>
        </p:nvCxnSpPr>
        <p:spPr>
          <a:xfrm flipH="1" rot="10800000">
            <a:off x="3452027" y="3558549"/>
            <a:ext cx="108300" cy="852600"/>
          </a:xfrm>
          <a:prstGeom prst="straightConnector1">
            <a:avLst/>
          </a:prstGeom>
          <a:noFill/>
          <a:ln cap="flat" cmpd="sng" w="25400">
            <a:solidFill>
              <a:srgbClr val="C57335"/>
            </a:solidFill>
            <a:prstDash val="solid"/>
            <a:round/>
            <a:headEnd len="med" w="med" type="none"/>
            <a:tailEnd len="med" w="med" type="none"/>
          </a:ln>
        </p:spPr>
      </p:cxnSp>
      <p:cxnSp>
        <p:nvCxnSpPr>
          <p:cNvPr id="474" name="Google Shape;474;p29"/>
          <p:cNvCxnSpPr/>
          <p:nvPr/>
        </p:nvCxnSpPr>
        <p:spPr>
          <a:xfrm>
            <a:off x="3560187" y="3558540"/>
            <a:ext cx="108300" cy="273300"/>
          </a:xfrm>
          <a:prstGeom prst="straightConnector1">
            <a:avLst/>
          </a:prstGeom>
          <a:noFill/>
          <a:ln cap="flat" cmpd="sng" w="25400">
            <a:solidFill>
              <a:srgbClr val="C57335"/>
            </a:solidFill>
            <a:prstDash val="solid"/>
            <a:round/>
            <a:headEnd len="med" w="med" type="none"/>
            <a:tailEnd len="med" w="med" type="none"/>
          </a:ln>
        </p:spPr>
      </p:cxnSp>
      <p:cxnSp>
        <p:nvCxnSpPr>
          <p:cNvPr id="475" name="Google Shape;475;p29"/>
          <p:cNvCxnSpPr/>
          <p:nvPr/>
        </p:nvCxnSpPr>
        <p:spPr>
          <a:xfrm>
            <a:off x="3668346" y="3831752"/>
            <a:ext cx="108300" cy="348600"/>
          </a:xfrm>
          <a:prstGeom prst="straightConnector1">
            <a:avLst/>
          </a:prstGeom>
          <a:noFill/>
          <a:ln cap="flat" cmpd="sng" w="25400">
            <a:solidFill>
              <a:srgbClr val="C57335"/>
            </a:solidFill>
            <a:prstDash val="solid"/>
            <a:round/>
            <a:headEnd len="med" w="med" type="none"/>
            <a:tailEnd len="med" w="med" type="none"/>
          </a:ln>
        </p:spPr>
      </p:cxnSp>
      <p:cxnSp>
        <p:nvCxnSpPr>
          <p:cNvPr id="476" name="Google Shape;476;p29"/>
          <p:cNvCxnSpPr/>
          <p:nvPr/>
        </p:nvCxnSpPr>
        <p:spPr>
          <a:xfrm>
            <a:off x="3776505" y="4180332"/>
            <a:ext cx="108300" cy="593400"/>
          </a:xfrm>
          <a:prstGeom prst="straightConnector1">
            <a:avLst/>
          </a:prstGeom>
          <a:noFill/>
          <a:ln cap="flat" cmpd="sng" w="25400">
            <a:solidFill>
              <a:srgbClr val="C57335"/>
            </a:solidFill>
            <a:prstDash val="solid"/>
            <a:round/>
            <a:headEnd len="med" w="med" type="none"/>
            <a:tailEnd len="med" w="med" type="none"/>
          </a:ln>
        </p:spPr>
      </p:cxnSp>
      <p:cxnSp>
        <p:nvCxnSpPr>
          <p:cNvPr id="477" name="Google Shape;477;p29"/>
          <p:cNvCxnSpPr/>
          <p:nvPr/>
        </p:nvCxnSpPr>
        <p:spPr>
          <a:xfrm>
            <a:off x="3884665" y="4773861"/>
            <a:ext cx="108300" cy="235500"/>
          </a:xfrm>
          <a:prstGeom prst="straightConnector1">
            <a:avLst/>
          </a:prstGeom>
          <a:noFill/>
          <a:ln cap="flat" cmpd="sng" w="25400">
            <a:solidFill>
              <a:srgbClr val="C57335"/>
            </a:solidFill>
            <a:prstDash val="solid"/>
            <a:round/>
            <a:headEnd len="med" w="med" type="none"/>
            <a:tailEnd len="med" w="med" type="none"/>
          </a:ln>
        </p:spPr>
      </p:cxnSp>
      <p:cxnSp>
        <p:nvCxnSpPr>
          <p:cNvPr id="478" name="Google Shape;478;p29"/>
          <p:cNvCxnSpPr/>
          <p:nvPr/>
        </p:nvCxnSpPr>
        <p:spPr>
          <a:xfrm flipH="1" rot="10800000">
            <a:off x="3992824" y="4189788"/>
            <a:ext cx="108300" cy="819600"/>
          </a:xfrm>
          <a:prstGeom prst="straightConnector1">
            <a:avLst/>
          </a:prstGeom>
          <a:noFill/>
          <a:ln cap="flat" cmpd="sng" w="25400">
            <a:solidFill>
              <a:srgbClr val="C57335"/>
            </a:solidFill>
            <a:prstDash val="solid"/>
            <a:round/>
            <a:headEnd len="med" w="med" type="none"/>
            <a:tailEnd len="med" w="med" type="none"/>
          </a:ln>
        </p:spPr>
      </p:cxnSp>
      <p:cxnSp>
        <p:nvCxnSpPr>
          <p:cNvPr id="479" name="Google Shape;479;p29"/>
          <p:cNvCxnSpPr/>
          <p:nvPr/>
        </p:nvCxnSpPr>
        <p:spPr>
          <a:xfrm flipH="1" rot="10800000">
            <a:off x="4100984" y="3261853"/>
            <a:ext cx="108300" cy="927900"/>
          </a:xfrm>
          <a:prstGeom prst="straightConnector1">
            <a:avLst/>
          </a:prstGeom>
          <a:noFill/>
          <a:ln cap="flat" cmpd="sng" w="25400">
            <a:solidFill>
              <a:srgbClr val="C57335"/>
            </a:solidFill>
            <a:prstDash val="solid"/>
            <a:round/>
            <a:headEnd len="med" w="med" type="none"/>
            <a:tailEnd len="med" w="med" type="none"/>
          </a:ln>
        </p:spPr>
      </p:cxnSp>
      <p:cxnSp>
        <p:nvCxnSpPr>
          <p:cNvPr id="480" name="Google Shape;480;p29"/>
          <p:cNvCxnSpPr/>
          <p:nvPr/>
        </p:nvCxnSpPr>
        <p:spPr>
          <a:xfrm>
            <a:off x="4209143" y="3261776"/>
            <a:ext cx="108300" cy="1008000"/>
          </a:xfrm>
          <a:prstGeom prst="straightConnector1">
            <a:avLst/>
          </a:prstGeom>
          <a:noFill/>
          <a:ln cap="flat" cmpd="sng" w="25400">
            <a:solidFill>
              <a:srgbClr val="C57335"/>
            </a:solidFill>
            <a:prstDash val="solid"/>
            <a:round/>
            <a:headEnd len="med" w="med" type="none"/>
            <a:tailEnd len="med" w="med" type="none"/>
          </a:ln>
        </p:spPr>
      </p:cxnSp>
      <p:cxnSp>
        <p:nvCxnSpPr>
          <p:cNvPr id="481" name="Google Shape;481;p29"/>
          <p:cNvCxnSpPr/>
          <p:nvPr/>
        </p:nvCxnSpPr>
        <p:spPr>
          <a:xfrm>
            <a:off x="4317302" y="4269832"/>
            <a:ext cx="108300" cy="400500"/>
          </a:xfrm>
          <a:prstGeom prst="straightConnector1">
            <a:avLst/>
          </a:prstGeom>
          <a:noFill/>
          <a:ln cap="flat" cmpd="sng" w="25400">
            <a:solidFill>
              <a:srgbClr val="C57335"/>
            </a:solidFill>
            <a:prstDash val="solid"/>
            <a:round/>
            <a:headEnd len="med" w="med" type="none"/>
            <a:tailEnd len="med" w="med" type="none"/>
          </a:ln>
        </p:spPr>
      </p:cxnSp>
      <p:cxnSp>
        <p:nvCxnSpPr>
          <p:cNvPr id="482" name="Google Shape;482;p29"/>
          <p:cNvCxnSpPr/>
          <p:nvPr/>
        </p:nvCxnSpPr>
        <p:spPr>
          <a:xfrm>
            <a:off x="4425462" y="4670229"/>
            <a:ext cx="108300" cy="103500"/>
          </a:xfrm>
          <a:prstGeom prst="straightConnector1">
            <a:avLst/>
          </a:prstGeom>
          <a:noFill/>
          <a:ln cap="flat" cmpd="sng" w="25400">
            <a:solidFill>
              <a:srgbClr val="C57335"/>
            </a:solidFill>
            <a:prstDash val="solid"/>
            <a:round/>
            <a:headEnd len="med" w="med" type="none"/>
            <a:tailEnd len="med" w="med" type="none"/>
          </a:ln>
        </p:spPr>
      </p:cxnSp>
      <p:cxnSp>
        <p:nvCxnSpPr>
          <p:cNvPr id="483" name="Google Shape;483;p29"/>
          <p:cNvCxnSpPr/>
          <p:nvPr/>
        </p:nvCxnSpPr>
        <p:spPr>
          <a:xfrm flipH="1" rot="10800000">
            <a:off x="4533621" y="4364061"/>
            <a:ext cx="108300" cy="409800"/>
          </a:xfrm>
          <a:prstGeom prst="straightConnector1">
            <a:avLst/>
          </a:prstGeom>
          <a:noFill/>
          <a:ln cap="flat" cmpd="sng" w="25400">
            <a:solidFill>
              <a:srgbClr val="C57335"/>
            </a:solidFill>
            <a:prstDash val="solid"/>
            <a:round/>
            <a:headEnd len="med" w="med" type="none"/>
            <a:tailEnd len="med" w="med" type="none"/>
          </a:ln>
        </p:spPr>
      </p:cxnSp>
      <p:cxnSp>
        <p:nvCxnSpPr>
          <p:cNvPr id="484" name="Google Shape;484;p29"/>
          <p:cNvCxnSpPr/>
          <p:nvPr/>
        </p:nvCxnSpPr>
        <p:spPr>
          <a:xfrm>
            <a:off x="4641780" y="4364043"/>
            <a:ext cx="108300" cy="763200"/>
          </a:xfrm>
          <a:prstGeom prst="straightConnector1">
            <a:avLst/>
          </a:prstGeom>
          <a:noFill/>
          <a:ln cap="flat" cmpd="sng" w="25400">
            <a:solidFill>
              <a:srgbClr val="C57335"/>
            </a:solidFill>
            <a:prstDash val="solid"/>
            <a:round/>
            <a:headEnd len="med" w="med" type="none"/>
            <a:tailEnd len="med" w="med" type="none"/>
          </a:ln>
        </p:spPr>
      </p:cxnSp>
      <p:cxnSp>
        <p:nvCxnSpPr>
          <p:cNvPr id="485" name="Google Shape;485;p29"/>
          <p:cNvCxnSpPr/>
          <p:nvPr/>
        </p:nvCxnSpPr>
        <p:spPr>
          <a:xfrm flipH="1" rot="10800000">
            <a:off x="4749940" y="4999952"/>
            <a:ext cx="108300" cy="127200"/>
          </a:xfrm>
          <a:prstGeom prst="straightConnector1">
            <a:avLst/>
          </a:prstGeom>
          <a:noFill/>
          <a:ln cap="flat" cmpd="sng" w="25400">
            <a:solidFill>
              <a:srgbClr val="C57335"/>
            </a:solidFill>
            <a:prstDash val="solid"/>
            <a:round/>
            <a:headEnd len="med" w="med" type="none"/>
            <a:tailEnd len="med" w="med" type="none"/>
          </a:ln>
        </p:spPr>
      </p:cxnSp>
      <p:cxnSp>
        <p:nvCxnSpPr>
          <p:cNvPr id="486" name="Google Shape;486;p29"/>
          <p:cNvCxnSpPr/>
          <p:nvPr/>
        </p:nvCxnSpPr>
        <p:spPr>
          <a:xfrm flipH="1" rot="10800000">
            <a:off x="4858099" y="4467767"/>
            <a:ext cx="108300" cy="532200"/>
          </a:xfrm>
          <a:prstGeom prst="straightConnector1">
            <a:avLst/>
          </a:prstGeom>
          <a:noFill/>
          <a:ln cap="flat" cmpd="sng" w="25400">
            <a:solidFill>
              <a:srgbClr val="C57335"/>
            </a:solidFill>
            <a:prstDash val="solid"/>
            <a:round/>
            <a:headEnd len="med" w="med" type="none"/>
            <a:tailEnd len="med" w="med" type="none"/>
          </a:ln>
        </p:spPr>
      </p:cxnSp>
      <p:cxnSp>
        <p:nvCxnSpPr>
          <p:cNvPr id="487" name="Google Shape;487;p29"/>
          <p:cNvCxnSpPr/>
          <p:nvPr/>
        </p:nvCxnSpPr>
        <p:spPr>
          <a:xfrm flipH="1" rot="10800000">
            <a:off x="4966258" y="3525675"/>
            <a:ext cx="108300" cy="942000"/>
          </a:xfrm>
          <a:prstGeom prst="straightConnector1">
            <a:avLst/>
          </a:prstGeom>
          <a:noFill/>
          <a:ln cap="flat" cmpd="sng" w="25400">
            <a:solidFill>
              <a:srgbClr val="C57335"/>
            </a:solidFill>
            <a:prstDash val="solid"/>
            <a:round/>
            <a:headEnd len="med" w="med" type="none"/>
            <a:tailEnd len="med" w="med" type="none"/>
          </a:ln>
        </p:spPr>
      </p:cxnSp>
      <p:cxnSp>
        <p:nvCxnSpPr>
          <p:cNvPr id="488" name="Google Shape;488;p29"/>
          <p:cNvCxnSpPr/>
          <p:nvPr/>
        </p:nvCxnSpPr>
        <p:spPr>
          <a:xfrm>
            <a:off x="5074418" y="3525566"/>
            <a:ext cx="108300" cy="1069200"/>
          </a:xfrm>
          <a:prstGeom prst="straightConnector1">
            <a:avLst/>
          </a:prstGeom>
          <a:noFill/>
          <a:ln cap="flat" cmpd="sng" w="25400">
            <a:solidFill>
              <a:srgbClr val="C57335"/>
            </a:solidFill>
            <a:prstDash val="solid"/>
            <a:round/>
            <a:headEnd len="med" w="med" type="none"/>
            <a:tailEnd len="med" w="med" type="none"/>
          </a:ln>
        </p:spPr>
      </p:cxnSp>
      <p:cxnSp>
        <p:nvCxnSpPr>
          <p:cNvPr id="489" name="Google Shape;489;p29"/>
          <p:cNvCxnSpPr/>
          <p:nvPr/>
        </p:nvCxnSpPr>
        <p:spPr>
          <a:xfrm flipH="1" rot="10800000">
            <a:off x="5182577" y="3949560"/>
            <a:ext cx="108300" cy="645300"/>
          </a:xfrm>
          <a:prstGeom prst="straightConnector1">
            <a:avLst/>
          </a:prstGeom>
          <a:noFill/>
          <a:ln cap="flat" cmpd="sng" w="25400">
            <a:solidFill>
              <a:srgbClr val="C57335"/>
            </a:solidFill>
            <a:prstDash val="solid"/>
            <a:round/>
            <a:headEnd len="med" w="med" type="none"/>
            <a:tailEnd len="med" w="med" type="none"/>
          </a:ln>
        </p:spPr>
      </p:cxnSp>
      <p:cxnSp>
        <p:nvCxnSpPr>
          <p:cNvPr id="490" name="Google Shape;490;p29"/>
          <p:cNvCxnSpPr/>
          <p:nvPr/>
        </p:nvCxnSpPr>
        <p:spPr>
          <a:xfrm>
            <a:off x="5290736" y="3949515"/>
            <a:ext cx="108300" cy="353400"/>
          </a:xfrm>
          <a:prstGeom prst="straightConnector1">
            <a:avLst/>
          </a:prstGeom>
          <a:noFill/>
          <a:ln cap="flat" cmpd="sng" w="25400">
            <a:solidFill>
              <a:srgbClr val="C57335"/>
            </a:solidFill>
            <a:prstDash val="solid"/>
            <a:round/>
            <a:headEnd len="med" w="med" type="none"/>
            <a:tailEnd len="med" w="med" type="none"/>
          </a:ln>
        </p:spPr>
      </p:cxnSp>
      <p:cxnSp>
        <p:nvCxnSpPr>
          <p:cNvPr id="491" name="Google Shape;491;p29"/>
          <p:cNvCxnSpPr/>
          <p:nvPr/>
        </p:nvCxnSpPr>
        <p:spPr>
          <a:xfrm flipH="1" rot="10800000">
            <a:off x="5398896" y="3784706"/>
            <a:ext cx="108300" cy="518100"/>
          </a:xfrm>
          <a:prstGeom prst="straightConnector1">
            <a:avLst/>
          </a:prstGeom>
          <a:noFill/>
          <a:ln cap="flat" cmpd="sng" w="25400">
            <a:solidFill>
              <a:srgbClr val="C57335"/>
            </a:solidFill>
            <a:prstDash val="solid"/>
            <a:round/>
            <a:headEnd len="med" w="med" type="none"/>
            <a:tailEnd len="med" w="med" type="none"/>
          </a:ln>
        </p:spPr>
      </p:cxnSp>
      <p:cxnSp>
        <p:nvCxnSpPr>
          <p:cNvPr id="492" name="Google Shape;492;p29"/>
          <p:cNvCxnSpPr/>
          <p:nvPr/>
        </p:nvCxnSpPr>
        <p:spPr>
          <a:xfrm>
            <a:off x="5507055" y="3784646"/>
            <a:ext cx="108300" cy="942000"/>
          </a:xfrm>
          <a:prstGeom prst="straightConnector1">
            <a:avLst/>
          </a:prstGeom>
          <a:noFill/>
          <a:ln cap="flat" cmpd="sng" w="25400">
            <a:solidFill>
              <a:srgbClr val="C57335"/>
            </a:solidFill>
            <a:prstDash val="solid"/>
            <a:round/>
            <a:headEnd len="med" w="med" type="none"/>
            <a:tailEnd len="med" w="med" type="none"/>
          </a:ln>
        </p:spPr>
      </p:cxnSp>
      <p:cxnSp>
        <p:nvCxnSpPr>
          <p:cNvPr id="493" name="Google Shape;493;p29"/>
          <p:cNvCxnSpPr/>
          <p:nvPr/>
        </p:nvCxnSpPr>
        <p:spPr>
          <a:xfrm flipH="1" rot="10800000">
            <a:off x="5615214" y="3732855"/>
            <a:ext cx="108300" cy="993900"/>
          </a:xfrm>
          <a:prstGeom prst="straightConnector1">
            <a:avLst/>
          </a:prstGeom>
          <a:noFill/>
          <a:ln cap="flat" cmpd="sng" w="25400">
            <a:solidFill>
              <a:srgbClr val="C57335"/>
            </a:solidFill>
            <a:prstDash val="solid"/>
            <a:round/>
            <a:headEnd len="med" w="med" type="none"/>
            <a:tailEnd len="med" w="med" type="none"/>
          </a:ln>
        </p:spPr>
      </p:cxnSp>
      <p:cxnSp>
        <p:nvCxnSpPr>
          <p:cNvPr id="494" name="Google Shape;494;p29"/>
          <p:cNvCxnSpPr/>
          <p:nvPr/>
        </p:nvCxnSpPr>
        <p:spPr>
          <a:xfrm>
            <a:off x="5723374" y="3732830"/>
            <a:ext cx="108300" cy="570000"/>
          </a:xfrm>
          <a:prstGeom prst="straightConnector1">
            <a:avLst/>
          </a:prstGeom>
          <a:noFill/>
          <a:ln cap="flat" cmpd="sng" w="25400">
            <a:solidFill>
              <a:srgbClr val="C57335"/>
            </a:solidFill>
            <a:prstDash val="solid"/>
            <a:round/>
            <a:headEnd len="med" w="med" type="none"/>
            <a:tailEnd len="med" w="med" type="none"/>
          </a:ln>
        </p:spPr>
      </p:cxnSp>
      <p:cxnSp>
        <p:nvCxnSpPr>
          <p:cNvPr id="495" name="Google Shape;495;p29"/>
          <p:cNvCxnSpPr/>
          <p:nvPr/>
        </p:nvCxnSpPr>
        <p:spPr>
          <a:xfrm flipH="1" rot="10800000">
            <a:off x="5831533" y="4184906"/>
            <a:ext cx="108300" cy="117900"/>
          </a:xfrm>
          <a:prstGeom prst="straightConnector1">
            <a:avLst/>
          </a:prstGeom>
          <a:noFill/>
          <a:ln cap="flat" cmpd="sng" w="25400">
            <a:solidFill>
              <a:srgbClr val="C57335"/>
            </a:solidFill>
            <a:prstDash val="solid"/>
            <a:round/>
            <a:headEnd len="med" w="med" type="none"/>
            <a:tailEnd len="med" w="med" type="none"/>
          </a:ln>
        </p:spPr>
      </p:cxnSp>
      <p:cxnSp>
        <p:nvCxnSpPr>
          <p:cNvPr id="496" name="Google Shape;496;p29"/>
          <p:cNvCxnSpPr/>
          <p:nvPr/>
        </p:nvCxnSpPr>
        <p:spPr>
          <a:xfrm>
            <a:off x="5939692" y="4185043"/>
            <a:ext cx="108300" cy="753600"/>
          </a:xfrm>
          <a:prstGeom prst="straightConnector1">
            <a:avLst/>
          </a:prstGeom>
          <a:noFill/>
          <a:ln cap="flat" cmpd="sng" w="25400">
            <a:solidFill>
              <a:srgbClr val="C57335"/>
            </a:solidFill>
            <a:prstDash val="solid"/>
            <a:round/>
            <a:headEnd len="med" w="med" type="none"/>
            <a:tailEnd len="med" w="med" type="none"/>
          </a:ln>
        </p:spPr>
      </p:cxnSp>
      <p:cxnSp>
        <p:nvCxnSpPr>
          <p:cNvPr id="497" name="Google Shape;497;p29"/>
          <p:cNvCxnSpPr/>
          <p:nvPr/>
        </p:nvCxnSpPr>
        <p:spPr>
          <a:xfrm flipH="1" rot="10800000">
            <a:off x="6047852" y="4312330"/>
            <a:ext cx="108300" cy="626400"/>
          </a:xfrm>
          <a:prstGeom prst="straightConnector1">
            <a:avLst/>
          </a:prstGeom>
          <a:noFill/>
          <a:ln cap="flat" cmpd="sng" w="25400">
            <a:solidFill>
              <a:srgbClr val="C57335"/>
            </a:solidFill>
            <a:prstDash val="solid"/>
            <a:round/>
            <a:headEnd len="med" w="med" type="none"/>
            <a:tailEnd len="med" w="med" type="none"/>
          </a:ln>
        </p:spPr>
      </p:cxnSp>
      <p:cxnSp>
        <p:nvCxnSpPr>
          <p:cNvPr id="498" name="Google Shape;498;p29"/>
          <p:cNvCxnSpPr/>
          <p:nvPr/>
        </p:nvCxnSpPr>
        <p:spPr>
          <a:xfrm>
            <a:off x="6156011" y="4312227"/>
            <a:ext cx="108300" cy="499200"/>
          </a:xfrm>
          <a:prstGeom prst="straightConnector1">
            <a:avLst/>
          </a:prstGeom>
          <a:noFill/>
          <a:ln cap="flat" cmpd="sng" w="25400">
            <a:solidFill>
              <a:srgbClr val="C57335"/>
            </a:solidFill>
            <a:prstDash val="solid"/>
            <a:round/>
            <a:headEnd len="med" w="med" type="none"/>
            <a:tailEnd len="med" w="med" type="none"/>
          </a:ln>
        </p:spPr>
      </p:cxnSp>
      <p:cxnSp>
        <p:nvCxnSpPr>
          <p:cNvPr id="499" name="Google Shape;499;p29"/>
          <p:cNvCxnSpPr/>
          <p:nvPr/>
        </p:nvCxnSpPr>
        <p:spPr>
          <a:xfrm>
            <a:off x="6264170" y="4811545"/>
            <a:ext cx="108300" cy="70800"/>
          </a:xfrm>
          <a:prstGeom prst="straightConnector1">
            <a:avLst/>
          </a:prstGeom>
          <a:noFill/>
          <a:ln cap="flat" cmpd="sng" w="25400">
            <a:solidFill>
              <a:srgbClr val="C57335"/>
            </a:solidFill>
            <a:prstDash val="solid"/>
            <a:round/>
            <a:headEnd len="med" w="med" type="none"/>
            <a:tailEnd len="med" w="med" type="none"/>
          </a:ln>
        </p:spPr>
      </p:cxnSp>
      <p:cxnSp>
        <p:nvCxnSpPr>
          <p:cNvPr id="500" name="Google Shape;500;p29"/>
          <p:cNvCxnSpPr/>
          <p:nvPr/>
        </p:nvCxnSpPr>
        <p:spPr>
          <a:xfrm>
            <a:off x="6372330" y="4882203"/>
            <a:ext cx="108300" cy="254400"/>
          </a:xfrm>
          <a:prstGeom prst="straightConnector1">
            <a:avLst/>
          </a:prstGeom>
          <a:noFill/>
          <a:ln cap="flat" cmpd="sng" w="25400">
            <a:solidFill>
              <a:srgbClr val="C57335"/>
            </a:solidFill>
            <a:prstDash val="solid"/>
            <a:round/>
            <a:headEnd len="med" w="med" type="none"/>
            <a:tailEnd len="med" w="med" type="none"/>
          </a:ln>
        </p:spPr>
      </p:cxnSp>
      <p:cxnSp>
        <p:nvCxnSpPr>
          <p:cNvPr id="501" name="Google Shape;501;p29"/>
          <p:cNvCxnSpPr/>
          <p:nvPr/>
        </p:nvCxnSpPr>
        <p:spPr>
          <a:xfrm flipH="1" rot="10800000">
            <a:off x="6480489" y="4151973"/>
            <a:ext cx="108300" cy="984600"/>
          </a:xfrm>
          <a:prstGeom prst="straightConnector1">
            <a:avLst/>
          </a:prstGeom>
          <a:noFill/>
          <a:ln cap="flat" cmpd="sng" w="25400">
            <a:solidFill>
              <a:srgbClr val="C57335"/>
            </a:solidFill>
            <a:prstDash val="solid"/>
            <a:round/>
            <a:headEnd len="med" w="med" type="none"/>
            <a:tailEnd len="med" w="med" type="none"/>
          </a:ln>
        </p:spPr>
      </p:cxnSp>
      <p:cxnSp>
        <p:nvCxnSpPr>
          <p:cNvPr id="502" name="Google Shape;502;p29"/>
          <p:cNvCxnSpPr/>
          <p:nvPr/>
        </p:nvCxnSpPr>
        <p:spPr>
          <a:xfrm flipH="1" rot="10800000">
            <a:off x="6588648" y="3671469"/>
            <a:ext cx="108300" cy="480600"/>
          </a:xfrm>
          <a:prstGeom prst="straightConnector1">
            <a:avLst/>
          </a:prstGeom>
          <a:noFill/>
          <a:ln cap="flat" cmpd="sng" w="25400">
            <a:solidFill>
              <a:srgbClr val="C57335"/>
            </a:solidFill>
            <a:prstDash val="solid"/>
            <a:round/>
            <a:headEnd len="med" w="med" type="none"/>
            <a:tailEnd len="med" w="med" type="none"/>
          </a:ln>
        </p:spPr>
      </p:cxnSp>
      <p:cxnSp>
        <p:nvCxnSpPr>
          <p:cNvPr id="503" name="Google Shape;503;p29"/>
          <p:cNvCxnSpPr/>
          <p:nvPr/>
        </p:nvCxnSpPr>
        <p:spPr>
          <a:xfrm>
            <a:off x="6696808" y="3671593"/>
            <a:ext cx="108300" cy="1102200"/>
          </a:xfrm>
          <a:prstGeom prst="straightConnector1">
            <a:avLst/>
          </a:prstGeom>
          <a:noFill/>
          <a:ln cap="flat" cmpd="sng" w="25400">
            <a:solidFill>
              <a:srgbClr val="C57335"/>
            </a:solidFill>
            <a:prstDash val="solid"/>
            <a:round/>
            <a:headEnd len="med" w="med" type="none"/>
            <a:tailEnd len="med" w="med" type="none"/>
          </a:ln>
        </p:spPr>
      </p:cxnSp>
      <p:cxnSp>
        <p:nvCxnSpPr>
          <p:cNvPr id="504" name="Google Shape;504;p29"/>
          <p:cNvCxnSpPr/>
          <p:nvPr/>
        </p:nvCxnSpPr>
        <p:spPr>
          <a:xfrm>
            <a:off x="6804967" y="4773861"/>
            <a:ext cx="108300" cy="442800"/>
          </a:xfrm>
          <a:prstGeom prst="straightConnector1">
            <a:avLst/>
          </a:prstGeom>
          <a:noFill/>
          <a:ln cap="flat" cmpd="sng" w="25400">
            <a:solidFill>
              <a:srgbClr val="C57335"/>
            </a:solidFill>
            <a:prstDash val="solid"/>
            <a:round/>
            <a:headEnd len="med" w="med" type="none"/>
            <a:tailEnd len="med" w="med" type="none"/>
          </a:ln>
        </p:spPr>
      </p:cxnSp>
      <p:cxnSp>
        <p:nvCxnSpPr>
          <p:cNvPr id="505" name="Google Shape;505;p29"/>
          <p:cNvCxnSpPr/>
          <p:nvPr/>
        </p:nvCxnSpPr>
        <p:spPr>
          <a:xfrm>
            <a:off x="6913126" y="5216652"/>
            <a:ext cx="108300" cy="94200"/>
          </a:xfrm>
          <a:prstGeom prst="straightConnector1">
            <a:avLst/>
          </a:prstGeom>
          <a:noFill/>
          <a:ln cap="flat" cmpd="sng" w="25400">
            <a:solidFill>
              <a:srgbClr val="C57335"/>
            </a:solidFill>
            <a:prstDash val="solid"/>
            <a:round/>
            <a:headEnd len="med" w="med" type="none"/>
            <a:tailEnd len="med" w="med" type="none"/>
          </a:ln>
        </p:spPr>
      </p:cxnSp>
      <p:cxnSp>
        <p:nvCxnSpPr>
          <p:cNvPr id="506" name="Google Shape;506;p29"/>
          <p:cNvCxnSpPr/>
          <p:nvPr/>
        </p:nvCxnSpPr>
        <p:spPr>
          <a:xfrm flipH="1" rot="10800000">
            <a:off x="7021286" y="5291963"/>
            <a:ext cx="108300" cy="18900"/>
          </a:xfrm>
          <a:prstGeom prst="straightConnector1">
            <a:avLst/>
          </a:prstGeom>
          <a:noFill/>
          <a:ln cap="flat" cmpd="sng" w="25400">
            <a:solidFill>
              <a:srgbClr val="C57335"/>
            </a:solidFill>
            <a:prstDash val="solid"/>
            <a:round/>
            <a:headEnd len="med" w="med" type="none"/>
            <a:tailEnd len="med" w="med" type="none"/>
          </a:ln>
        </p:spPr>
      </p:cxnSp>
      <p:cxnSp>
        <p:nvCxnSpPr>
          <p:cNvPr id="507" name="Google Shape;507;p29"/>
          <p:cNvCxnSpPr/>
          <p:nvPr/>
        </p:nvCxnSpPr>
        <p:spPr>
          <a:xfrm flipH="1" rot="10800000">
            <a:off x="7129445" y="5277921"/>
            <a:ext cx="108300" cy="14100"/>
          </a:xfrm>
          <a:prstGeom prst="straightConnector1">
            <a:avLst/>
          </a:prstGeom>
          <a:noFill/>
          <a:ln cap="flat" cmpd="sng" w="25400">
            <a:solidFill>
              <a:srgbClr val="C57335"/>
            </a:solidFill>
            <a:prstDash val="solid"/>
            <a:round/>
            <a:headEnd len="med" w="med" type="none"/>
            <a:tailEnd len="med" w="med" type="none"/>
          </a:ln>
        </p:spPr>
      </p:cxnSp>
      <p:cxnSp>
        <p:nvCxnSpPr>
          <p:cNvPr id="508" name="Google Shape;508;p29"/>
          <p:cNvCxnSpPr/>
          <p:nvPr/>
        </p:nvCxnSpPr>
        <p:spPr>
          <a:xfrm>
            <a:off x="7237604" y="5277889"/>
            <a:ext cx="108300" cy="42300"/>
          </a:xfrm>
          <a:prstGeom prst="straightConnector1">
            <a:avLst/>
          </a:prstGeom>
          <a:noFill/>
          <a:ln cap="flat" cmpd="sng" w="25400">
            <a:solidFill>
              <a:srgbClr val="C57335"/>
            </a:solidFill>
            <a:prstDash val="solid"/>
            <a:round/>
            <a:headEnd len="med" w="med" type="none"/>
            <a:tailEnd len="med" w="med" type="none"/>
          </a:ln>
        </p:spPr>
      </p:cxnSp>
      <p:cxnSp>
        <p:nvCxnSpPr>
          <p:cNvPr id="509" name="Google Shape;509;p29"/>
          <p:cNvCxnSpPr/>
          <p:nvPr/>
        </p:nvCxnSpPr>
        <p:spPr>
          <a:xfrm flipH="1" rot="10800000">
            <a:off x="7345764" y="5268384"/>
            <a:ext cx="108300" cy="51900"/>
          </a:xfrm>
          <a:prstGeom prst="straightConnector1">
            <a:avLst/>
          </a:prstGeom>
          <a:noFill/>
          <a:ln cap="flat" cmpd="sng" w="25400">
            <a:solidFill>
              <a:srgbClr val="C57335"/>
            </a:solidFill>
            <a:prstDash val="solid"/>
            <a:round/>
            <a:headEnd len="med" w="med" type="none"/>
            <a:tailEnd len="med" w="med" type="none"/>
          </a:ln>
        </p:spPr>
      </p:cxnSp>
      <p:cxnSp>
        <p:nvCxnSpPr>
          <p:cNvPr id="510" name="Google Shape;510;p29"/>
          <p:cNvCxnSpPr/>
          <p:nvPr/>
        </p:nvCxnSpPr>
        <p:spPr>
          <a:xfrm flipH="1" rot="10800000">
            <a:off x="7453923" y="5240268"/>
            <a:ext cx="108300" cy="28200"/>
          </a:xfrm>
          <a:prstGeom prst="straightConnector1">
            <a:avLst/>
          </a:prstGeom>
          <a:noFill/>
          <a:ln cap="flat" cmpd="sng" w="25400">
            <a:solidFill>
              <a:srgbClr val="C57335"/>
            </a:solidFill>
            <a:prstDash val="solid"/>
            <a:round/>
            <a:headEnd len="med" w="med" type="none"/>
            <a:tailEnd len="med" w="med" type="none"/>
          </a:ln>
        </p:spPr>
      </p:cxnSp>
      <p:cxnSp>
        <p:nvCxnSpPr>
          <p:cNvPr id="511" name="Google Shape;511;p29"/>
          <p:cNvCxnSpPr/>
          <p:nvPr/>
        </p:nvCxnSpPr>
        <p:spPr>
          <a:xfrm>
            <a:off x="7562082" y="5240205"/>
            <a:ext cx="108300" cy="75300"/>
          </a:xfrm>
          <a:prstGeom prst="straightConnector1">
            <a:avLst/>
          </a:prstGeom>
          <a:noFill/>
          <a:ln cap="flat" cmpd="sng" w="25400">
            <a:solidFill>
              <a:srgbClr val="C57335"/>
            </a:solidFill>
            <a:prstDash val="solid"/>
            <a:round/>
            <a:headEnd len="med" w="med" type="none"/>
            <a:tailEnd len="med" w="med" type="none"/>
          </a:ln>
        </p:spPr>
      </p:cxnSp>
      <p:cxnSp>
        <p:nvCxnSpPr>
          <p:cNvPr id="512" name="Google Shape;512;p29"/>
          <p:cNvCxnSpPr/>
          <p:nvPr/>
        </p:nvCxnSpPr>
        <p:spPr>
          <a:xfrm>
            <a:off x="7670242" y="5315573"/>
            <a:ext cx="108300" cy="33000"/>
          </a:xfrm>
          <a:prstGeom prst="straightConnector1">
            <a:avLst/>
          </a:prstGeom>
          <a:noFill/>
          <a:ln cap="flat" cmpd="sng" w="25400">
            <a:solidFill>
              <a:srgbClr val="C57335"/>
            </a:solidFill>
            <a:prstDash val="solid"/>
            <a:round/>
            <a:headEnd len="med" w="med" type="none"/>
            <a:tailEnd len="med" w="med" type="none"/>
          </a:ln>
        </p:spPr>
      </p:cxnSp>
      <p:cxnSp>
        <p:nvCxnSpPr>
          <p:cNvPr id="513" name="Google Shape;513;p29"/>
          <p:cNvCxnSpPr/>
          <p:nvPr/>
        </p:nvCxnSpPr>
        <p:spPr>
          <a:xfrm flipH="1" rot="10800000">
            <a:off x="7778401" y="5287347"/>
            <a:ext cx="108300" cy="61200"/>
          </a:xfrm>
          <a:prstGeom prst="straightConnector1">
            <a:avLst/>
          </a:prstGeom>
          <a:noFill/>
          <a:ln cap="flat" cmpd="sng" w="25400">
            <a:solidFill>
              <a:srgbClr val="C57335"/>
            </a:solidFill>
            <a:prstDash val="solid"/>
            <a:round/>
            <a:headEnd len="med" w="med" type="none"/>
            <a:tailEnd len="med" w="med" type="none"/>
          </a:ln>
        </p:spPr>
      </p:cxnSp>
      <p:cxnSp>
        <p:nvCxnSpPr>
          <p:cNvPr id="514" name="Google Shape;514;p29"/>
          <p:cNvCxnSpPr/>
          <p:nvPr/>
        </p:nvCxnSpPr>
        <p:spPr>
          <a:xfrm>
            <a:off x="7886560" y="5287310"/>
            <a:ext cx="108300" cy="37800"/>
          </a:xfrm>
          <a:prstGeom prst="straightConnector1">
            <a:avLst/>
          </a:prstGeom>
          <a:noFill/>
          <a:ln cap="flat" cmpd="sng" w="25400">
            <a:solidFill>
              <a:srgbClr val="C57335"/>
            </a:solidFill>
            <a:prstDash val="solid"/>
            <a:round/>
            <a:headEnd len="med" w="med" type="none"/>
            <a:tailEnd len="med" w="med" type="none"/>
          </a:ln>
        </p:spPr>
      </p:cxnSp>
      <p:cxnSp>
        <p:nvCxnSpPr>
          <p:cNvPr id="515" name="Google Shape;515;p29"/>
          <p:cNvCxnSpPr/>
          <p:nvPr/>
        </p:nvCxnSpPr>
        <p:spPr>
          <a:xfrm flipH="1" rot="10800000">
            <a:off x="7994720" y="5258995"/>
            <a:ext cx="108300" cy="66000"/>
          </a:xfrm>
          <a:prstGeom prst="straightConnector1">
            <a:avLst/>
          </a:prstGeom>
          <a:noFill/>
          <a:ln cap="flat" cmpd="sng" w="25400">
            <a:solidFill>
              <a:srgbClr val="C57335"/>
            </a:solidFill>
            <a:prstDash val="solid"/>
            <a:round/>
            <a:headEnd len="med" w="med" type="none"/>
            <a:tailEnd len="med" w="med" type="none"/>
          </a:ln>
        </p:spPr>
      </p:cxnSp>
      <p:cxnSp>
        <p:nvCxnSpPr>
          <p:cNvPr id="516" name="Google Shape;516;p29"/>
          <p:cNvCxnSpPr/>
          <p:nvPr/>
        </p:nvCxnSpPr>
        <p:spPr>
          <a:xfrm>
            <a:off x="8102879" y="5259047"/>
            <a:ext cx="108300" cy="9300"/>
          </a:xfrm>
          <a:prstGeom prst="straightConnector1">
            <a:avLst/>
          </a:prstGeom>
          <a:noFill/>
          <a:ln cap="flat" cmpd="sng" w="25400">
            <a:solidFill>
              <a:srgbClr val="C57335"/>
            </a:solidFill>
            <a:prstDash val="solid"/>
            <a:round/>
            <a:headEnd len="med" w="med" type="none"/>
            <a:tailEnd len="med" w="med" type="none"/>
          </a:ln>
        </p:spPr>
      </p:cxnSp>
      <p:cxnSp>
        <p:nvCxnSpPr>
          <p:cNvPr id="517" name="Google Shape;517;p29"/>
          <p:cNvCxnSpPr/>
          <p:nvPr/>
        </p:nvCxnSpPr>
        <p:spPr>
          <a:xfrm>
            <a:off x="8211038" y="5268468"/>
            <a:ext cx="108300" cy="42300"/>
          </a:xfrm>
          <a:prstGeom prst="straightConnector1">
            <a:avLst/>
          </a:prstGeom>
          <a:noFill/>
          <a:ln cap="flat" cmpd="sng" w="25400">
            <a:solidFill>
              <a:srgbClr val="C57335"/>
            </a:solidFill>
            <a:prstDash val="solid"/>
            <a:round/>
            <a:headEnd len="med" w="med" type="none"/>
            <a:tailEnd len="med" w="med" type="none"/>
          </a:ln>
        </p:spPr>
      </p:cxnSp>
      <p:cxnSp>
        <p:nvCxnSpPr>
          <p:cNvPr id="518" name="Google Shape;518;p29"/>
          <p:cNvCxnSpPr/>
          <p:nvPr/>
        </p:nvCxnSpPr>
        <p:spPr>
          <a:xfrm flipH="1" rot="10800000">
            <a:off x="8319198" y="5296763"/>
            <a:ext cx="108300" cy="14100"/>
          </a:xfrm>
          <a:prstGeom prst="straightConnector1">
            <a:avLst/>
          </a:prstGeom>
          <a:noFill/>
          <a:ln cap="flat" cmpd="sng" w="25400">
            <a:solidFill>
              <a:srgbClr val="C57335"/>
            </a:solidFill>
            <a:prstDash val="solid"/>
            <a:round/>
            <a:headEnd len="med" w="med" type="none"/>
            <a:tailEnd len="med" w="med" type="none"/>
          </a:ln>
        </p:spPr>
      </p:cxnSp>
      <p:cxnSp>
        <p:nvCxnSpPr>
          <p:cNvPr id="519" name="Google Shape;519;p29"/>
          <p:cNvCxnSpPr/>
          <p:nvPr/>
        </p:nvCxnSpPr>
        <p:spPr>
          <a:xfrm>
            <a:off x="8427357" y="5296731"/>
            <a:ext cx="108300" cy="42300"/>
          </a:xfrm>
          <a:prstGeom prst="straightConnector1">
            <a:avLst/>
          </a:prstGeom>
          <a:noFill/>
          <a:ln cap="flat" cmpd="sng" w="25400">
            <a:solidFill>
              <a:srgbClr val="C57335"/>
            </a:solidFill>
            <a:prstDash val="solid"/>
            <a:round/>
            <a:headEnd len="med" w="med" type="none"/>
            <a:tailEnd len="med" w="med" type="none"/>
          </a:ln>
        </p:spPr>
      </p:cxnSp>
      <p:cxnSp>
        <p:nvCxnSpPr>
          <p:cNvPr id="520" name="Google Shape;520;p29"/>
          <p:cNvCxnSpPr/>
          <p:nvPr/>
        </p:nvCxnSpPr>
        <p:spPr>
          <a:xfrm flipH="1" rot="10800000">
            <a:off x="8535516" y="5169626"/>
            <a:ext cx="108300" cy="169500"/>
          </a:xfrm>
          <a:prstGeom prst="straightConnector1">
            <a:avLst/>
          </a:prstGeom>
          <a:noFill/>
          <a:ln cap="flat" cmpd="sng" w="25400">
            <a:solidFill>
              <a:srgbClr val="C57335"/>
            </a:solidFill>
            <a:prstDash val="solid"/>
            <a:round/>
            <a:headEnd len="med" w="med" type="none"/>
            <a:tailEnd len="med" w="med" type="none"/>
          </a:ln>
        </p:spPr>
      </p:cxnSp>
      <p:cxnSp>
        <p:nvCxnSpPr>
          <p:cNvPr id="521" name="Google Shape;521;p29"/>
          <p:cNvCxnSpPr/>
          <p:nvPr/>
        </p:nvCxnSpPr>
        <p:spPr>
          <a:xfrm>
            <a:off x="8643676" y="5169547"/>
            <a:ext cx="108300" cy="113100"/>
          </a:xfrm>
          <a:prstGeom prst="straightConnector1">
            <a:avLst/>
          </a:prstGeom>
          <a:noFill/>
          <a:ln cap="flat" cmpd="sng" w="25400">
            <a:solidFill>
              <a:srgbClr val="C57335"/>
            </a:solidFill>
            <a:prstDash val="solid"/>
            <a:round/>
            <a:headEnd len="med" w="med" type="none"/>
            <a:tailEnd len="med" w="med" type="none"/>
          </a:ln>
        </p:spPr>
      </p:cxnSp>
      <p:cxnSp>
        <p:nvCxnSpPr>
          <p:cNvPr id="522" name="Google Shape;522;p29"/>
          <p:cNvCxnSpPr/>
          <p:nvPr/>
        </p:nvCxnSpPr>
        <p:spPr>
          <a:xfrm flipH="1" rot="10800000">
            <a:off x="8751835" y="5211800"/>
            <a:ext cx="108300" cy="70800"/>
          </a:xfrm>
          <a:prstGeom prst="straightConnector1">
            <a:avLst/>
          </a:prstGeom>
          <a:noFill/>
          <a:ln cap="flat" cmpd="sng" w="25400">
            <a:solidFill>
              <a:srgbClr val="C57335"/>
            </a:solidFill>
            <a:prstDash val="solid"/>
            <a:round/>
            <a:headEnd len="med" w="med" type="none"/>
            <a:tailEnd len="med" w="med" type="none"/>
          </a:ln>
        </p:spPr>
      </p:cxnSp>
      <p:cxnSp>
        <p:nvCxnSpPr>
          <p:cNvPr id="523" name="Google Shape;523;p29"/>
          <p:cNvCxnSpPr/>
          <p:nvPr/>
        </p:nvCxnSpPr>
        <p:spPr>
          <a:xfrm>
            <a:off x="8859995" y="5211941"/>
            <a:ext cx="108300" cy="18900"/>
          </a:xfrm>
          <a:prstGeom prst="straightConnector1">
            <a:avLst/>
          </a:prstGeom>
          <a:noFill/>
          <a:ln cap="flat" cmpd="sng" w="25400">
            <a:solidFill>
              <a:srgbClr val="C57335"/>
            </a:solidFill>
            <a:prstDash val="solid"/>
            <a:round/>
            <a:headEnd len="med" w="med" type="none"/>
            <a:tailEnd len="med" w="med" type="none"/>
          </a:ln>
        </p:spPr>
      </p:cxnSp>
      <p:cxnSp>
        <p:nvCxnSpPr>
          <p:cNvPr id="524" name="Google Shape;524;p29"/>
          <p:cNvCxnSpPr/>
          <p:nvPr/>
        </p:nvCxnSpPr>
        <p:spPr>
          <a:xfrm flipH="1" rot="10800000">
            <a:off x="8968154" y="5169584"/>
            <a:ext cx="108300" cy="61200"/>
          </a:xfrm>
          <a:prstGeom prst="straightConnector1">
            <a:avLst/>
          </a:prstGeom>
          <a:noFill/>
          <a:ln cap="flat" cmpd="sng" w="25400">
            <a:solidFill>
              <a:srgbClr val="C57335"/>
            </a:solidFill>
            <a:prstDash val="solid"/>
            <a:round/>
            <a:headEnd len="med" w="med" type="none"/>
            <a:tailEnd len="med" w="med" type="none"/>
          </a:ln>
        </p:spPr>
      </p:cxnSp>
      <p:cxnSp>
        <p:nvCxnSpPr>
          <p:cNvPr id="525" name="Google Shape;525;p29"/>
          <p:cNvCxnSpPr/>
          <p:nvPr/>
        </p:nvCxnSpPr>
        <p:spPr>
          <a:xfrm>
            <a:off x="9076313" y="5169547"/>
            <a:ext cx="108300" cy="113100"/>
          </a:xfrm>
          <a:prstGeom prst="straightConnector1">
            <a:avLst/>
          </a:prstGeom>
          <a:noFill/>
          <a:ln cap="flat" cmpd="sng" w="25400">
            <a:solidFill>
              <a:srgbClr val="C57335"/>
            </a:solidFill>
            <a:prstDash val="solid"/>
            <a:round/>
            <a:headEnd len="med" w="med" type="none"/>
            <a:tailEnd len="med" w="med" type="none"/>
          </a:ln>
        </p:spPr>
      </p:cxnSp>
      <p:cxnSp>
        <p:nvCxnSpPr>
          <p:cNvPr id="526" name="Google Shape;526;p29"/>
          <p:cNvCxnSpPr/>
          <p:nvPr/>
        </p:nvCxnSpPr>
        <p:spPr>
          <a:xfrm flipH="1" rot="10800000">
            <a:off x="9184473" y="5197700"/>
            <a:ext cx="108300" cy="84900"/>
          </a:xfrm>
          <a:prstGeom prst="straightConnector1">
            <a:avLst/>
          </a:prstGeom>
          <a:noFill/>
          <a:ln cap="flat" cmpd="sng" w="25400">
            <a:solidFill>
              <a:srgbClr val="C57335"/>
            </a:solidFill>
            <a:prstDash val="solid"/>
            <a:round/>
            <a:headEnd len="med" w="med" type="none"/>
            <a:tailEnd len="med" w="med" type="none"/>
          </a:ln>
        </p:spPr>
      </p:cxnSp>
      <p:cxnSp>
        <p:nvCxnSpPr>
          <p:cNvPr id="527" name="Google Shape;527;p29"/>
          <p:cNvCxnSpPr/>
          <p:nvPr/>
        </p:nvCxnSpPr>
        <p:spPr>
          <a:xfrm flipH="1" rot="10800000">
            <a:off x="9292632" y="4839910"/>
            <a:ext cx="108300" cy="357900"/>
          </a:xfrm>
          <a:prstGeom prst="straightConnector1">
            <a:avLst/>
          </a:prstGeom>
          <a:noFill/>
          <a:ln cap="flat" cmpd="sng" w="25400">
            <a:solidFill>
              <a:srgbClr val="C57335"/>
            </a:solidFill>
            <a:prstDash val="solid"/>
            <a:round/>
            <a:headEnd len="med" w="med" type="none"/>
            <a:tailEnd len="med" w="med" type="none"/>
          </a:ln>
        </p:spPr>
      </p:cxnSp>
      <p:cxnSp>
        <p:nvCxnSpPr>
          <p:cNvPr id="528" name="Google Shape;528;p29"/>
          <p:cNvCxnSpPr/>
          <p:nvPr/>
        </p:nvCxnSpPr>
        <p:spPr>
          <a:xfrm>
            <a:off x="9400791" y="4839808"/>
            <a:ext cx="108300" cy="117900"/>
          </a:xfrm>
          <a:prstGeom prst="straightConnector1">
            <a:avLst/>
          </a:prstGeom>
          <a:noFill/>
          <a:ln cap="flat" cmpd="sng" w="25400">
            <a:solidFill>
              <a:srgbClr val="C57335"/>
            </a:solidFill>
            <a:prstDash val="solid"/>
            <a:round/>
            <a:headEnd len="med" w="med" type="none"/>
            <a:tailEnd len="med" w="med" type="none"/>
          </a:ln>
        </p:spPr>
      </p:cxnSp>
      <p:cxnSp>
        <p:nvCxnSpPr>
          <p:cNvPr id="529" name="Google Shape;529;p29"/>
          <p:cNvCxnSpPr/>
          <p:nvPr/>
        </p:nvCxnSpPr>
        <p:spPr>
          <a:xfrm>
            <a:off x="9508951" y="4957572"/>
            <a:ext cx="108300" cy="66000"/>
          </a:xfrm>
          <a:prstGeom prst="straightConnector1">
            <a:avLst/>
          </a:prstGeom>
          <a:noFill/>
          <a:ln cap="flat" cmpd="sng" w="25400">
            <a:solidFill>
              <a:srgbClr val="C57335"/>
            </a:solidFill>
            <a:prstDash val="solid"/>
            <a:round/>
            <a:headEnd len="med" w="med" type="none"/>
            <a:tailEnd len="med" w="med" type="none"/>
          </a:ln>
        </p:spPr>
      </p:cxnSp>
      <p:cxnSp>
        <p:nvCxnSpPr>
          <p:cNvPr id="530" name="Google Shape;530;p29"/>
          <p:cNvCxnSpPr/>
          <p:nvPr/>
        </p:nvCxnSpPr>
        <p:spPr>
          <a:xfrm>
            <a:off x="9617110" y="5023520"/>
            <a:ext cx="108300" cy="197700"/>
          </a:xfrm>
          <a:prstGeom prst="straightConnector1">
            <a:avLst/>
          </a:prstGeom>
          <a:noFill/>
          <a:ln cap="flat" cmpd="sng" w="25400">
            <a:solidFill>
              <a:srgbClr val="C57335"/>
            </a:solidFill>
            <a:prstDash val="solid"/>
            <a:round/>
            <a:headEnd len="med" w="med" type="none"/>
            <a:tailEnd len="med" w="med" type="none"/>
          </a:ln>
        </p:spPr>
      </p:cxnSp>
      <p:cxnSp>
        <p:nvCxnSpPr>
          <p:cNvPr id="531" name="Google Shape;531;p29"/>
          <p:cNvCxnSpPr/>
          <p:nvPr/>
        </p:nvCxnSpPr>
        <p:spPr>
          <a:xfrm flipH="1" rot="10800000">
            <a:off x="9725269" y="5202463"/>
            <a:ext cx="108300" cy="18900"/>
          </a:xfrm>
          <a:prstGeom prst="straightConnector1">
            <a:avLst/>
          </a:prstGeom>
          <a:noFill/>
          <a:ln cap="flat" cmpd="sng" w="25400">
            <a:solidFill>
              <a:srgbClr val="C57335"/>
            </a:solidFill>
            <a:prstDash val="solid"/>
            <a:round/>
            <a:headEnd len="med" w="med" type="none"/>
            <a:tailEnd len="med" w="med" type="none"/>
          </a:ln>
        </p:spPr>
      </p:cxnSp>
      <p:cxnSp>
        <p:nvCxnSpPr>
          <p:cNvPr id="532" name="Google Shape;532;p29"/>
          <p:cNvCxnSpPr/>
          <p:nvPr/>
        </p:nvCxnSpPr>
        <p:spPr>
          <a:xfrm>
            <a:off x="9833429" y="5202520"/>
            <a:ext cx="108300" cy="61200"/>
          </a:xfrm>
          <a:prstGeom prst="straightConnector1">
            <a:avLst/>
          </a:prstGeom>
          <a:noFill/>
          <a:ln cap="flat" cmpd="sng" w="25400">
            <a:solidFill>
              <a:srgbClr val="C57335"/>
            </a:solidFill>
            <a:prstDash val="solid"/>
            <a:round/>
            <a:headEnd len="med" w="med" type="none"/>
            <a:tailEnd len="med" w="med" type="none"/>
          </a:ln>
        </p:spPr>
      </p:cxnSp>
      <p:cxnSp>
        <p:nvCxnSpPr>
          <p:cNvPr id="533" name="Google Shape;533;p29"/>
          <p:cNvCxnSpPr/>
          <p:nvPr/>
        </p:nvCxnSpPr>
        <p:spPr>
          <a:xfrm flipH="1" rot="10800000">
            <a:off x="9941588" y="5169557"/>
            <a:ext cx="108300" cy="94200"/>
          </a:xfrm>
          <a:prstGeom prst="straightConnector1">
            <a:avLst/>
          </a:prstGeom>
          <a:noFill/>
          <a:ln cap="flat" cmpd="sng" w="25400">
            <a:solidFill>
              <a:srgbClr val="C57335"/>
            </a:solidFill>
            <a:prstDash val="solid"/>
            <a:round/>
            <a:headEnd len="med" w="med" type="none"/>
            <a:tailEnd len="med" w="med" type="none"/>
          </a:ln>
        </p:spPr>
      </p:cxnSp>
      <p:cxnSp>
        <p:nvCxnSpPr>
          <p:cNvPr id="534" name="Google Shape;534;p29"/>
          <p:cNvCxnSpPr/>
          <p:nvPr/>
        </p:nvCxnSpPr>
        <p:spPr>
          <a:xfrm flipH="1" rot="10800000">
            <a:off x="10049747" y="5160247"/>
            <a:ext cx="108300" cy="9300"/>
          </a:xfrm>
          <a:prstGeom prst="straightConnector1">
            <a:avLst/>
          </a:prstGeom>
          <a:noFill/>
          <a:ln cap="flat" cmpd="sng" w="25400">
            <a:solidFill>
              <a:srgbClr val="C57335"/>
            </a:solidFill>
            <a:prstDash val="solid"/>
            <a:round/>
            <a:headEnd len="med" w="med" type="none"/>
            <a:tailEnd len="med" w="med" type="none"/>
          </a:ln>
        </p:spPr>
      </p:cxnSp>
      <p:cxnSp>
        <p:nvCxnSpPr>
          <p:cNvPr id="535" name="Google Shape;535;p29"/>
          <p:cNvCxnSpPr/>
          <p:nvPr/>
        </p:nvCxnSpPr>
        <p:spPr>
          <a:xfrm flipH="1" rot="10800000">
            <a:off x="10157907" y="5037725"/>
            <a:ext cx="108300" cy="122400"/>
          </a:xfrm>
          <a:prstGeom prst="straightConnector1">
            <a:avLst/>
          </a:prstGeom>
          <a:noFill/>
          <a:ln cap="flat" cmpd="sng" w="25400">
            <a:solidFill>
              <a:srgbClr val="C57335"/>
            </a:solidFill>
            <a:prstDash val="solid"/>
            <a:round/>
            <a:headEnd len="med" w="med" type="none"/>
            <a:tailEnd len="med" w="med" type="none"/>
          </a:ln>
        </p:spPr>
      </p:cxnSp>
      <p:cxnSp>
        <p:nvCxnSpPr>
          <p:cNvPr id="536" name="Google Shape;536;p29"/>
          <p:cNvCxnSpPr/>
          <p:nvPr/>
        </p:nvCxnSpPr>
        <p:spPr>
          <a:xfrm>
            <a:off x="10266066" y="5037651"/>
            <a:ext cx="108300" cy="9300"/>
          </a:xfrm>
          <a:prstGeom prst="straightConnector1">
            <a:avLst/>
          </a:prstGeom>
          <a:noFill/>
          <a:ln cap="flat" cmpd="sng" w="25400">
            <a:solidFill>
              <a:srgbClr val="C57335"/>
            </a:solidFill>
            <a:prstDash val="solid"/>
            <a:round/>
            <a:headEnd len="med" w="med" type="none"/>
            <a:tailEnd len="med" w="med" type="none"/>
          </a:ln>
        </p:spPr>
      </p:cxnSp>
      <p:cxnSp>
        <p:nvCxnSpPr>
          <p:cNvPr id="537" name="Google Shape;537;p29"/>
          <p:cNvCxnSpPr/>
          <p:nvPr/>
        </p:nvCxnSpPr>
        <p:spPr>
          <a:xfrm flipH="1" rot="10800000">
            <a:off x="10374225" y="4952872"/>
            <a:ext cx="108300" cy="94200"/>
          </a:xfrm>
          <a:prstGeom prst="straightConnector1">
            <a:avLst/>
          </a:prstGeom>
          <a:noFill/>
          <a:ln cap="flat" cmpd="sng" w="25400">
            <a:solidFill>
              <a:srgbClr val="C57335"/>
            </a:solidFill>
            <a:prstDash val="solid"/>
            <a:round/>
            <a:headEnd len="med" w="med" type="none"/>
            <a:tailEnd len="med" w="med" type="none"/>
          </a:ln>
        </p:spPr>
      </p:cxnSp>
      <p:cxnSp>
        <p:nvCxnSpPr>
          <p:cNvPr id="538" name="Google Shape;538;p29"/>
          <p:cNvCxnSpPr/>
          <p:nvPr/>
        </p:nvCxnSpPr>
        <p:spPr>
          <a:xfrm>
            <a:off x="10482385" y="4952861"/>
            <a:ext cx="108300" cy="127200"/>
          </a:xfrm>
          <a:prstGeom prst="straightConnector1">
            <a:avLst/>
          </a:prstGeom>
          <a:noFill/>
          <a:ln cap="flat" cmpd="sng" w="25400">
            <a:solidFill>
              <a:srgbClr val="C57335"/>
            </a:solidFill>
            <a:prstDash val="solid"/>
            <a:round/>
            <a:headEnd len="med" w="med" type="none"/>
            <a:tailEnd len="med" w="med" type="none"/>
          </a:ln>
        </p:spPr>
      </p:cxnSp>
      <p:cxnSp>
        <p:nvCxnSpPr>
          <p:cNvPr id="539" name="Google Shape;539;p29"/>
          <p:cNvCxnSpPr/>
          <p:nvPr/>
        </p:nvCxnSpPr>
        <p:spPr>
          <a:xfrm>
            <a:off x="10590544" y="5080046"/>
            <a:ext cx="108300" cy="0"/>
          </a:xfrm>
          <a:prstGeom prst="straightConnector1">
            <a:avLst/>
          </a:prstGeom>
          <a:noFill/>
          <a:ln cap="flat" cmpd="sng" w="25400">
            <a:solidFill>
              <a:srgbClr val="C57335"/>
            </a:solidFill>
            <a:prstDash val="solid"/>
            <a:round/>
            <a:headEnd len="med" w="med" type="none"/>
            <a:tailEnd len="med" w="med" type="none"/>
          </a:ln>
        </p:spPr>
      </p:cxnSp>
      <p:cxnSp>
        <p:nvCxnSpPr>
          <p:cNvPr id="540" name="Google Shape;540;p29"/>
          <p:cNvCxnSpPr/>
          <p:nvPr/>
        </p:nvCxnSpPr>
        <p:spPr>
          <a:xfrm>
            <a:off x="10698703" y="5080046"/>
            <a:ext cx="108300" cy="61200"/>
          </a:xfrm>
          <a:prstGeom prst="straightConnector1">
            <a:avLst/>
          </a:prstGeom>
          <a:noFill/>
          <a:ln cap="flat" cmpd="sng" w="25400">
            <a:solidFill>
              <a:srgbClr val="C57335"/>
            </a:solidFill>
            <a:prstDash val="solid"/>
            <a:round/>
            <a:headEnd len="med" w="med" type="none"/>
            <a:tailEnd len="med" w="med" type="none"/>
          </a:ln>
        </p:spPr>
      </p:cxnSp>
      <p:cxnSp>
        <p:nvCxnSpPr>
          <p:cNvPr id="541" name="Google Shape;541;p29"/>
          <p:cNvCxnSpPr/>
          <p:nvPr/>
        </p:nvCxnSpPr>
        <p:spPr>
          <a:xfrm>
            <a:off x="10806863" y="5141283"/>
            <a:ext cx="108300" cy="9300"/>
          </a:xfrm>
          <a:prstGeom prst="straightConnector1">
            <a:avLst/>
          </a:prstGeom>
          <a:noFill/>
          <a:ln cap="flat" cmpd="sng" w="25400">
            <a:solidFill>
              <a:srgbClr val="C57335"/>
            </a:solidFill>
            <a:prstDash val="solid"/>
            <a:round/>
            <a:headEnd len="med" w="med" type="none"/>
            <a:tailEnd len="med" w="med" type="none"/>
          </a:ln>
        </p:spPr>
      </p:cxnSp>
      <p:cxnSp>
        <p:nvCxnSpPr>
          <p:cNvPr id="542" name="Google Shape;542;p29"/>
          <p:cNvCxnSpPr/>
          <p:nvPr/>
        </p:nvCxnSpPr>
        <p:spPr>
          <a:xfrm flipH="1" rot="10800000">
            <a:off x="10915022" y="5094304"/>
            <a:ext cx="108300" cy="56400"/>
          </a:xfrm>
          <a:prstGeom prst="straightConnector1">
            <a:avLst/>
          </a:prstGeom>
          <a:noFill/>
          <a:ln cap="flat" cmpd="sng" w="25400">
            <a:solidFill>
              <a:srgbClr val="C57335"/>
            </a:solidFill>
            <a:prstDash val="solid"/>
            <a:round/>
            <a:headEnd len="med" w="med" type="none"/>
            <a:tailEnd len="med" w="med" type="none"/>
          </a:ln>
        </p:spPr>
      </p:cxnSp>
      <p:cxnSp>
        <p:nvCxnSpPr>
          <p:cNvPr id="543" name="Google Shape;543;p29"/>
          <p:cNvCxnSpPr/>
          <p:nvPr/>
        </p:nvCxnSpPr>
        <p:spPr>
          <a:xfrm>
            <a:off x="11023181" y="5094178"/>
            <a:ext cx="108300" cy="23700"/>
          </a:xfrm>
          <a:prstGeom prst="straightConnector1">
            <a:avLst/>
          </a:prstGeom>
          <a:noFill/>
          <a:ln cap="flat" cmpd="sng" w="25400">
            <a:solidFill>
              <a:srgbClr val="C57335"/>
            </a:solidFill>
            <a:prstDash val="solid"/>
            <a:round/>
            <a:headEnd len="med" w="med" type="none"/>
            <a:tailEnd len="med" w="med" type="none"/>
          </a:ln>
        </p:spPr>
      </p:cxnSp>
      <p:cxnSp>
        <p:nvCxnSpPr>
          <p:cNvPr id="544" name="Google Shape;544;p29"/>
          <p:cNvCxnSpPr/>
          <p:nvPr/>
        </p:nvCxnSpPr>
        <p:spPr>
          <a:xfrm>
            <a:off x="11131341" y="5117731"/>
            <a:ext cx="108300" cy="42300"/>
          </a:xfrm>
          <a:prstGeom prst="straightConnector1">
            <a:avLst/>
          </a:prstGeom>
          <a:noFill/>
          <a:ln cap="flat" cmpd="sng" w="25400">
            <a:solidFill>
              <a:srgbClr val="C57335"/>
            </a:solidFill>
            <a:prstDash val="solid"/>
            <a:round/>
            <a:headEnd len="med" w="med" type="none"/>
            <a:tailEnd len="med" w="med" type="none"/>
          </a:ln>
        </p:spPr>
      </p:cxnSp>
      <p:cxnSp>
        <p:nvCxnSpPr>
          <p:cNvPr id="545" name="Google Shape;545;p29"/>
          <p:cNvCxnSpPr/>
          <p:nvPr/>
        </p:nvCxnSpPr>
        <p:spPr>
          <a:xfrm flipH="1" rot="10800000">
            <a:off x="1397000" y="4708020"/>
            <a:ext cx="108300" cy="405000"/>
          </a:xfrm>
          <a:prstGeom prst="straightConnector1">
            <a:avLst/>
          </a:prstGeom>
          <a:noFill/>
          <a:ln cap="flat" cmpd="sng" w="25400">
            <a:solidFill>
              <a:srgbClr val="167D8D"/>
            </a:solidFill>
            <a:prstDash val="solid"/>
            <a:round/>
            <a:headEnd len="med" w="med" type="none"/>
            <a:tailEnd len="med" w="med" type="none"/>
          </a:ln>
        </p:spPr>
      </p:cxnSp>
      <p:cxnSp>
        <p:nvCxnSpPr>
          <p:cNvPr id="546" name="Google Shape;546;p29"/>
          <p:cNvCxnSpPr/>
          <p:nvPr/>
        </p:nvCxnSpPr>
        <p:spPr>
          <a:xfrm>
            <a:off x="1505159" y="4707913"/>
            <a:ext cx="108300" cy="471000"/>
          </a:xfrm>
          <a:prstGeom prst="straightConnector1">
            <a:avLst/>
          </a:prstGeom>
          <a:noFill/>
          <a:ln cap="flat" cmpd="sng" w="25400">
            <a:solidFill>
              <a:srgbClr val="167D8D"/>
            </a:solidFill>
            <a:prstDash val="solid"/>
            <a:round/>
            <a:headEnd len="med" w="med" type="none"/>
            <a:tailEnd len="med" w="med" type="none"/>
          </a:ln>
        </p:spPr>
      </p:cxnSp>
      <p:cxnSp>
        <p:nvCxnSpPr>
          <p:cNvPr id="547" name="Google Shape;547;p29"/>
          <p:cNvCxnSpPr/>
          <p:nvPr/>
        </p:nvCxnSpPr>
        <p:spPr>
          <a:xfrm flipH="1" rot="10800000">
            <a:off x="1613319" y="5122568"/>
            <a:ext cx="108300" cy="56400"/>
          </a:xfrm>
          <a:prstGeom prst="straightConnector1">
            <a:avLst/>
          </a:prstGeom>
          <a:noFill/>
          <a:ln cap="flat" cmpd="sng" w="25400">
            <a:solidFill>
              <a:srgbClr val="167D8D"/>
            </a:solidFill>
            <a:prstDash val="solid"/>
            <a:round/>
            <a:headEnd len="med" w="med" type="none"/>
            <a:tailEnd len="med" w="med" type="none"/>
          </a:ln>
        </p:spPr>
      </p:cxnSp>
      <p:cxnSp>
        <p:nvCxnSpPr>
          <p:cNvPr id="548" name="Google Shape;548;p29"/>
          <p:cNvCxnSpPr/>
          <p:nvPr/>
        </p:nvCxnSpPr>
        <p:spPr>
          <a:xfrm flipH="1" rot="10800000">
            <a:off x="1721478" y="5070541"/>
            <a:ext cx="108300" cy="51900"/>
          </a:xfrm>
          <a:prstGeom prst="straightConnector1">
            <a:avLst/>
          </a:prstGeom>
          <a:noFill/>
          <a:ln cap="flat" cmpd="sng" w="25400">
            <a:solidFill>
              <a:srgbClr val="167D8D"/>
            </a:solidFill>
            <a:prstDash val="solid"/>
            <a:round/>
            <a:headEnd len="med" w="med" type="none"/>
            <a:tailEnd len="med" w="med" type="none"/>
          </a:ln>
        </p:spPr>
      </p:cxnSp>
      <p:cxnSp>
        <p:nvCxnSpPr>
          <p:cNvPr id="549" name="Google Shape;549;p29"/>
          <p:cNvCxnSpPr/>
          <p:nvPr/>
        </p:nvCxnSpPr>
        <p:spPr>
          <a:xfrm>
            <a:off x="1829637" y="5070625"/>
            <a:ext cx="108300" cy="108300"/>
          </a:xfrm>
          <a:prstGeom prst="straightConnector1">
            <a:avLst/>
          </a:prstGeom>
          <a:noFill/>
          <a:ln cap="flat" cmpd="sng" w="25400">
            <a:solidFill>
              <a:srgbClr val="167D8D"/>
            </a:solidFill>
            <a:prstDash val="solid"/>
            <a:round/>
            <a:headEnd len="med" w="med" type="none"/>
            <a:tailEnd len="med" w="med" type="none"/>
          </a:ln>
        </p:spPr>
      </p:cxnSp>
      <p:cxnSp>
        <p:nvCxnSpPr>
          <p:cNvPr id="550" name="Google Shape;550;p29"/>
          <p:cNvCxnSpPr/>
          <p:nvPr/>
        </p:nvCxnSpPr>
        <p:spPr>
          <a:xfrm>
            <a:off x="1937797" y="5178968"/>
            <a:ext cx="108300" cy="146100"/>
          </a:xfrm>
          <a:prstGeom prst="straightConnector1">
            <a:avLst/>
          </a:prstGeom>
          <a:noFill/>
          <a:ln cap="flat" cmpd="sng" w="25400">
            <a:solidFill>
              <a:srgbClr val="167D8D"/>
            </a:solidFill>
            <a:prstDash val="solid"/>
            <a:round/>
            <a:headEnd len="med" w="med" type="none"/>
            <a:tailEnd len="med" w="med" type="none"/>
          </a:ln>
        </p:spPr>
      </p:cxnSp>
      <p:cxnSp>
        <p:nvCxnSpPr>
          <p:cNvPr id="551" name="Google Shape;551;p29"/>
          <p:cNvCxnSpPr/>
          <p:nvPr/>
        </p:nvCxnSpPr>
        <p:spPr>
          <a:xfrm flipH="1" rot="10800000">
            <a:off x="2045956" y="5141395"/>
            <a:ext cx="108300" cy="183600"/>
          </a:xfrm>
          <a:prstGeom prst="straightConnector1">
            <a:avLst/>
          </a:prstGeom>
          <a:noFill/>
          <a:ln cap="flat" cmpd="sng" w="25400">
            <a:solidFill>
              <a:srgbClr val="167D8D"/>
            </a:solidFill>
            <a:prstDash val="solid"/>
            <a:round/>
            <a:headEnd len="med" w="med" type="none"/>
            <a:tailEnd len="med" w="med" type="none"/>
          </a:ln>
        </p:spPr>
      </p:cxnSp>
      <p:cxnSp>
        <p:nvCxnSpPr>
          <p:cNvPr id="552" name="Google Shape;552;p29"/>
          <p:cNvCxnSpPr/>
          <p:nvPr/>
        </p:nvCxnSpPr>
        <p:spPr>
          <a:xfrm>
            <a:off x="2154115" y="5141283"/>
            <a:ext cx="108300" cy="108300"/>
          </a:xfrm>
          <a:prstGeom prst="straightConnector1">
            <a:avLst/>
          </a:prstGeom>
          <a:noFill/>
          <a:ln cap="flat" cmpd="sng" w="25400">
            <a:solidFill>
              <a:srgbClr val="167D8D"/>
            </a:solidFill>
            <a:prstDash val="solid"/>
            <a:round/>
            <a:headEnd len="med" w="med" type="none"/>
            <a:tailEnd len="med" w="med" type="none"/>
          </a:ln>
        </p:spPr>
      </p:cxnSp>
      <p:cxnSp>
        <p:nvCxnSpPr>
          <p:cNvPr id="553" name="Google Shape;553;p29"/>
          <p:cNvCxnSpPr/>
          <p:nvPr/>
        </p:nvCxnSpPr>
        <p:spPr>
          <a:xfrm flipH="1" rot="10800000">
            <a:off x="2262275" y="5221426"/>
            <a:ext cx="108300" cy="28200"/>
          </a:xfrm>
          <a:prstGeom prst="straightConnector1">
            <a:avLst/>
          </a:prstGeom>
          <a:noFill/>
          <a:ln cap="flat" cmpd="sng" w="25400">
            <a:solidFill>
              <a:srgbClr val="167D8D"/>
            </a:solidFill>
            <a:prstDash val="solid"/>
            <a:round/>
            <a:headEnd len="med" w="med" type="none"/>
            <a:tailEnd len="med" w="med" type="none"/>
          </a:ln>
        </p:spPr>
      </p:cxnSp>
      <p:cxnSp>
        <p:nvCxnSpPr>
          <p:cNvPr id="554" name="Google Shape;554;p29"/>
          <p:cNvCxnSpPr/>
          <p:nvPr/>
        </p:nvCxnSpPr>
        <p:spPr>
          <a:xfrm>
            <a:off x="2370434" y="5221363"/>
            <a:ext cx="108300" cy="94200"/>
          </a:xfrm>
          <a:prstGeom prst="straightConnector1">
            <a:avLst/>
          </a:prstGeom>
          <a:noFill/>
          <a:ln cap="flat" cmpd="sng" w="25400">
            <a:solidFill>
              <a:srgbClr val="167D8D"/>
            </a:solidFill>
            <a:prstDash val="solid"/>
            <a:round/>
            <a:headEnd len="med" w="med" type="none"/>
            <a:tailEnd len="med" w="med" type="none"/>
          </a:ln>
        </p:spPr>
      </p:cxnSp>
      <p:cxnSp>
        <p:nvCxnSpPr>
          <p:cNvPr id="555" name="Google Shape;555;p29"/>
          <p:cNvCxnSpPr/>
          <p:nvPr/>
        </p:nvCxnSpPr>
        <p:spPr>
          <a:xfrm flipH="1" rot="10800000">
            <a:off x="2478593" y="5259173"/>
            <a:ext cx="108300" cy="56400"/>
          </a:xfrm>
          <a:prstGeom prst="straightConnector1">
            <a:avLst/>
          </a:prstGeom>
          <a:noFill/>
          <a:ln cap="flat" cmpd="sng" w="25400">
            <a:solidFill>
              <a:srgbClr val="167D8D"/>
            </a:solidFill>
            <a:prstDash val="solid"/>
            <a:round/>
            <a:headEnd len="med" w="med" type="none"/>
            <a:tailEnd len="med" w="med" type="none"/>
          </a:ln>
        </p:spPr>
      </p:cxnSp>
      <p:cxnSp>
        <p:nvCxnSpPr>
          <p:cNvPr id="556" name="Google Shape;556;p29"/>
          <p:cNvCxnSpPr/>
          <p:nvPr/>
        </p:nvCxnSpPr>
        <p:spPr>
          <a:xfrm>
            <a:off x="2586753" y="5259047"/>
            <a:ext cx="108300" cy="66000"/>
          </a:xfrm>
          <a:prstGeom prst="straightConnector1">
            <a:avLst/>
          </a:prstGeom>
          <a:noFill/>
          <a:ln cap="flat" cmpd="sng" w="25400">
            <a:solidFill>
              <a:srgbClr val="167D8D"/>
            </a:solidFill>
            <a:prstDash val="solid"/>
            <a:round/>
            <a:headEnd len="med" w="med" type="none"/>
            <a:tailEnd len="med" w="med" type="none"/>
          </a:ln>
        </p:spPr>
      </p:cxnSp>
      <p:cxnSp>
        <p:nvCxnSpPr>
          <p:cNvPr id="557" name="Google Shape;557;p29"/>
          <p:cNvCxnSpPr/>
          <p:nvPr/>
        </p:nvCxnSpPr>
        <p:spPr>
          <a:xfrm flipH="1" rot="10800000">
            <a:off x="2694912" y="5268595"/>
            <a:ext cx="108300" cy="56400"/>
          </a:xfrm>
          <a:prstGeom prst="straightConnector1">
            <a:avLst/>
          </a:prstGeom>
          <a:noFill/>
          <a:ln cap="flat" cmpd="sng" w="25400">
            <a:solidFill>
              <a:srgbClr val="167D8D"/>
            </a:solidFill>
            <a:prstDash val="solid"/>
            <a:round/>
            <a:headEnd len="med" w="med" type="none"/>
            <a:tailEnd len="med" w="med" type="none"/>
          </a:ln>
        </p:spPr>
      </p:cxnSp>
      <p:cxnSp>
        <p:nvCxnSpPr>
          <p:cNvPr id="558" name="Google Shape;558;p29"/>
          <p:cNvCxnSpPr/>
          <p:nvPr/>
        </p:nvCxnSpPr>
        <p:spPr>
          <a:xfrm flipH="1" rot="10800000">
            <a:off x="2803071" y="5212068"/>
            <a:ext cx="108300" cy="56400"/>
          </a:xfrm>
          <a:prstGeom prst="straightConnector1">
            <a:avLst/>
          </a:prstGeom>
          <a:noFill/>
          <a:ln cap="flat" cmpd="sng" w="25400">
            <a:solidFill>
              <a:srgbClr val="167D8D"/>
            </a:solidFill>
            <a:prstDash val="solid"/>
            <a:round/>
            <a:headEnd len="med" w="med" type="none"/>
            <a:tailEnd len="med" w="med" type="none"/>
          </a:ln>
        </p:spPr>
      </p:cxnSp>
      <p:cxnSp>
        <p:nvCxnSpPr>
          <p:cNvPr id="559" name="Google Shape;559;p29"/>
          <p:cNvCxnSpPr/>
          <p:nvPr/>
        </p:nvCxnSpPr>
        <p:spPr>
          <a:xfrm>
            <a:off x="2911231" y="5211941"/>
            <a:ext cx="108300" cy="108300"/>
          </a:xfrm>
          <a:prstGeom prst="straightConnector1">
            <a:avLst/>
          </a:prstGeom>
          <a:noFill/>
          <a:ln cap="flat" cmpd="sng" w="25400">
            <a:solidFill>
              <a:srgbClr val="167D8D"/>
            </a:solidFill>
            <a:prstDash val="solid"/>
            <a:round/>
            <a:headEnd len="med" w="med" type="none"/>
            <a:tailEnd len="med" w="med" type="none"/>
          </a:ln>
        </p:spPr>
      </p:cxnSp>
      <p:cxnSp>
        <p:nvCxnSpPr>
          <p:cNvPr id="560" name="Google Shape;560;p29"/>
          <p:cNvCxnSpPr/>
          <p:nvPr/>
        </p:nvCxnSpPr>
        <p:spPr>
          <a:xfrm flipH="1" rot="10800000">
            <a:off x="3019390" y="5296584"/>
            <a:ext cx="108300" cy="23700"/>
          </a:xfrm>
          <a:prstGeom prst="straightConnector1">
            <a:avLst/>
          </a:prstGeom>
          <a:noFill/>
          <a:ln cap="flat" cmpd="sng" w="25400">
            <a:solidFill>
              <a:srgbClr val="167D8D"/>
            </a:solidFill>
            <a:prstDash val="solid"/>
            <a:round/>
            <a:headEnd len="med" w="med" type="none"/>
            <a:tailEnd len="med" w="med" type="none"/>
          </a:ln>
        </p:spPr>
      </p:cxnSp>
      <p:cxnSp>
        <p:nvCxnSpPr>
          <p:cNvPr id="561" name="Google Shape;561;p29"/>
          <p:cNvCxnSpPr/>
          <p:nvPr/>
        </p:nvCxnSpPr>
        <p:spPr>
          <a:xfrm>
            <a:off x="3127549" y="5296731"/>
            <a:ext cx="108300" cy="51900"/>
          </a:xfrm>
          <a:prstGeom prst="straightConnector1">
            <a:avLst/>
          </a:prstGeom>
          <a:noFill/>
          <a:ln cap="flat" cmpd="sng" w="25400">
            <a:solidFill>
              <a:srgbClr val="167D8D"/>
            </a:solidFill>
            <a:prstDash val="solid"/>
            <a:round/>
            <a:headEnd len="med" w="med" type="none"/>
            <a:tailEnd len="med" w="med" type="none"/>
          </a:ln>
        </p:spPr>
      </p:cxnSp>
      <p:cxnSp>
        <p:nvCxnSpPr>
          <p:cNvPr id="562" name="Google Shape;562;p29"/>
          <p:cNvCxnSpPr/>
          <p:nvPr/>
        </p:nvCxnSpPr>
        <p:spPr>
          <a:xfrm flipH="1" rot="10800000">
            <a:off x="3235709" y="5240247"/>
            <a:ext cx="108300" cy="108300"/>
          </a:xfrm>
          <a:prstGeom prst="straightConnector1">
            <a:avLst/>
          </a:prstGeom>
          <a:noFill/>
          <a:ln cap="flat" cmpd="sng" w="25400">
            <a:solidFill>
              <a:srgbClr val="167D8D"/>
            </a:solidFill>
            <a:prstDash val="solid"/>
            <a:round/>
            <a:headEnd len="med" w="med" type="none"/>
            <a:tailEnd len="med" w="med" type="none"/>
          </a:ln>
        </p:spPr>
      </p:cxnSp>
      <p:cxnSp>
        <p:nvCxnSpPr>
          <p:cNvPr id="563" name="Google Shape;563;p29"/>
          <p:cNvCxnSpPr/>
          <p:nvPr/>
        </p:nvCxnSpPr>
        <p:spPr>
          <a:xfrm flipH="1" rot="10800000">
            <a:off x="3343868" y="5226105"/>
            <a:ext cx="108300" cy="14100"/>
          </a:xfrm>
          <a:prstGeom prst="straightConnector1">
            <a:avLst/>
          </a:prstGeom>
          <a:noFill/>
          <a:ln cap="flat" cmpd="sng" w="25400">
            <a:solidFill>
              <a:srgbClr val="167D8D"/>
            </a:solidFill>
            <a:prstDash val="solid"/>
            <a:round/>
            <a:headEnd len="med" w="med" type="none"/>
            <a:tailEnd len="med" w="med" type="none"/>
          </a:ln>
        </p:spPr>
      </p:cxnSp>
      <p:cxnSp>
        <p:nvCxnSpPr>
          <p:cNvPr id="564" name="Google Shape;564;p29"/>
          <p:cNvCxnSpPr/>
          <p:nvPr/>
        </p:nvCxnSpPr>
        <p:spPr>
          <a:xfrm flipH="1" rot="10800000">
            <a:off x="3452027" y="5046973"/>
            <a:ext cx="108300" cy="179100"/>
          </a:xfrm>
          <a:prstGeom prst="straightConnector1">
            <a:avLst/>
          </a:prstGeom>
          <a:noFill/>
          <a:ln cap="flat" cmpd="sng" w="25400">
            <a:solidFill>
              <a:srgbClr val="167D8D"/>
            </a:solidFill>
            <a:prstDash val="solid"/>
            <a:round/>
            <a:headEnd len="med" w="med" type="none"/>
            <a:tailEnd len="med" w="med" type="none"/>
          </a:ln>
        </p:spPr>
      </p:cxnSp>
      <p:cxnSp>
        <p:nvCxnSpPr>
          <p:cNvPr id="565" name="Google Shape;565;p29"/>
          <p:cNvCxnSpPr/>
          <p:nvPr/>
        </p:nvCxnSpPr>
        <p:spPr>
          <a:xfrm>
            <a:off x="3560187" y="5047072"/>
            <a:ext cx="108300" cy="14100"/>
          </a:xfrm>
          <a:prstGeom prst="straightConnector1">
            <a:avLst/>
          </a:prstGeom>
          <a:noFill/>
          <a:ln cap="flat" cmpd="sng" w="25400">
            <a:solidFill>
              <a:srgbClr val="167D8D"/>
            </a:solidFill>
            <a:prstDash val="solid"/>
            <a:round/>
            <a:headEnd len="med" w="med" type="none"/>
            <a:tailEnd len="med" w="med" type="none"/>
          </a:ln>
        </p:spPr>
      </p:cxnSp>
      <p:cxnSp>
        <p:nvCxnSpPr>
          <p:cNvPr id="566" name="Google Shape;566;p29"/>
          <p:cNvCxnSpPr/>
          <p:nvPr/>
        </p:nvCxnSpPr>
        <p:spPr>
          <a:xfrm>
            <a:off x="3668346" y="5061204"/>
            <a:ext cx="108300" cy="132000"/>
          </a:xfrm>
          <a:prstGeom prst="straightConnector1">
            <a:avLst/>
          </a:prstGeom>
          <a:noFill/>
          <a:ln cap="flat" cmpd="sng" w="25400">
            <a:solidFill>
              <a:srgbClr val="167D8D"/>
            </a:solidFill>
            <a:prstDash val="solid"/>
            <a:round/>
            <a:headEnd len="med" w="med" type="none"/>
            <a:tailEnd len="med" w="med" type="none"/>
          </a:ln>
        </p:spPr>
      </p:cxnSp>
      <p:cxnSp>
        <p:nvCxnSpPr>
          <p:cNvPr id="567" name="Google Shape;567;p29"/>
          <p:cNvCxnSpPr/>
          <p:nvPr/>
        </p:nvCxnSpPr>
        <p:spPr>
          <a:xfrm>
            <a:off x="3776505" y="5193099"/>
            <a:ext cx="108300" cy="108300"/>
          </a:xfrm>
          <a:prstGeom prst="straightConnector1">
            <a:avLst/>
          </a:prstGeom>
          <a:noFill/>
          <a:ln cap="flat" cmpd="sng" w="25400">
            <a:solidFill>
              <a:srgbClr val="167D8D"/>
            </a:solidFill>
            <a:prstDash val="solid"/>
            <a:round/>
            <a:headEnd len="med" w="med" type="none"/>
            <a:tailEnd len="med" w="med" type="none"/>
          </a:ln>
        </p:spPr>
      </p:cxnSp>
      <p:cxnSp>
        <p:nvCxnSpPr>
          <p:cNvPr id="568" name="Google Shape;568;p29"/>
          <p:cNvCxnSpPr/>
          <p:nvPr/>
        </p:nvCxnSpPr>
        <p:spPr>
          <a:xfrm flipH="1" rot="10800000">
            <a:off x="3884665" y="5292142"/>
            <a:ext cx="108300" cy="9300"/>
          </a:xfrm>
          <a:prstGeom prst="straightConnector1">
            <a:avLst/>
          </a:prstGeom>
          <a:noFill/>
          <a:ln cap="flat" cmpd="sng" w="25400">
            <a:solidFill>
              <a:srgbClr val="167D8D"/>
            </a:solidFill>
            <a:prstDash val="solid"/>
            <a:round/>
            <a:headEnd len="med" w="med" type="none"/>
            <a:tailEnd len="med" w="med" type="none"/>
          </a:ln>
        </p:spPr>
      </p:cxnSp>
      <p:cxnSp>
        <p:nvCxnSpPr>
          <p:cNvPr id="569" name="Google Shape;569;p29"/>
          <p:cNvCxnSpPr/>
          <p:nvPr/>
        </p:nvCxnSpPr>
        <p:spPr>
          <a:xfrm flipH="1" rot="10800000">
            <a:off x="3992824" y="5150721"/>
            <a:ext cx="108300" cy="141300"/>
          </a:xfrm>
          <a:prstGeom prst="straightConnector1">
            <a:avLst/>
          </a:prstGeom>
          <a:noFill/>
          <a:ln cap="flat" cmpd="sng" w="25400">
            <a:solidFill>
              <a:srgbClr val="167D8D"/>
            </a:solidFill>
            <a:prstDash val="solid"/>
            <a:round/>
            <a:headEnd len="med" w="med" type="none"/>
            <a:tailEnd len="med" w="med" type="none"/>
          </a:ln>
        </p:spPr>
      </p:cxnSp>
      <p:cxnSp>
        <p:nvCxnSpPr>
          <p:cNvPr id="570" name="Google Shape;570;p29"/>
          <p:cNvCxnSpPr/>
          <p:nvPr/>
        </p:nvCxnSpPr>
        <p:spPr>
          <a:xfrm flipH="1" rot="10800000">
            <a:off x="4100984" y="5089504"/>
            <a:ext cx="108300" cy="61200"/>
          </a:xfrm>
          <a:prstGeom prst="straightConnector1">
            <a:avLst/>
          </a:prstGeom>
          <a:noFill/>
          <a:ln cap="flat" cmpd="sng" w="25400">
            <a:solidFill>
              <a:srgbClr val="167D8D"/>
            </a:solidFill>
            <a:prstDash val="solid"/>
            <a:round/>
            <a:headEnd len="med" w="med" type="none"/>
            <a:tailEnd len="med" w="med" type="none"/>
          </a:ln>
        </p:spPr>
      </p:cxnSp>
      <p:cxnSp>
        <p:nvCxnSpPr>
          <p:cNvPr id="571" name="Google Shape;571;p29"/>
          <p:cNvCxnSpPr/>
          <p:nvPr/>
        </p:nvCxnSpPr>
        <p:spPr>
          <a:xfrm>
            <a:off x="4209143" y="5089467"/>
            <a:ext cx="108300" cy="70800"/>
          </a:xfrm>
          <a:prstGeom prst="straightConnector1">
            <a:avLst/>
          </a:prstGeom>
          <a:noFill/>
          <a:ln cap="flat" cmpd="sng" w="25400">
            <a:solidFill>
              <a:srgbClr val="167D8D"/>
            </a:solidFill>
            <a:prstDash val="solid"/>
            <a:round/>
            <a:headEnd len="med" w="med" type="none"/>
            <a:tailEnd len="med" w="med" type="none"/>
          </a:ln>
        </p:spPr>
      </p:cxnSp>
      <p:cxnSp>
        <p:nvCxnSpPr>
          <p:cNvPr id="572" name="Google Shape;572;p29"/>
          <p:cNvCxnSpPr/>
          <p:nvPr/>
        </p:nvCxnSpPr>
        <p:spPr>
          <a:xfrm>
            <a:off x="4317302" y="5160125"/>
            <a:ext cx="108300" cy="0"/>
          </a:xfrm>
          <a:prstGeom prst="straightConnector1">
            <a:avLst/>
          </a:prstGeom>
          <a:noFill/>
          <a:ln cap="flat" cmpd="sng" w="25400">
            <a:solidFill>
              <a:srgbClr val="167D8D"/>
            </a:solidFill>
            <a:prstDash val="solid"/>
            <a:round/>
            <a:headEnd len="med" w="med" type="none"/>
            <a:tailEnd len="med" w="med" type="none"/>
          </a:ln>
        </p:spPr>
      </p:cxnSp>
      <p:cxnSp>
        <p:nvCxnSpPr>
          <p:cNvPr id="573" name="Google Shape;573;p29"/>
          <p:cNvCxnSpPr/>
          <p:nvPr/>
        </p:nvCxnSpPr>
        <p:spPr>
          <a:xfrm>
            <a:off x="4425462" y="5160125"/>
            <a:ext cx="108300" cy="61200"/>
          </a:xfrm>
          <a:prstGeom prst="straightConnector1">
            <a:avLst/>
          </a:prstGeom>
          <a:noFill/>
          <a:ln cap="flat" cmpd="sng" w="25400">
            <a:solidFill>
              <a:srgbClr val="167D8D"/>
            </a:solidFill>
            <a:prstDash val="solid"/>
            <a:round/>
            <a:headEnd len="med" w="med" type="none"/>
            <a:tailEnd len="med" w="med" type="none"/>
          </a:ln>
        </p:spPr>
      </p:cxnSp>
      <p:cxnSp>
        <p:nvCxnSpPr>
          <p:cNvPr id="574" name="Google Shape;574;p29"/>
          <p:cNvCxnSpPr/>
          <p:nvPr/>
        </p:nvCxnSpPr>
        <p:spPr>
          <a:xfrm flipH="1" rot="10800000">
            <a:off x="4533621" y="5080063"/>
            <a:ext cx="108300" cy="141300"/>
          </a:xfrm>
          <a:prstGeom prst="straightConnector1">
            <a:avLst/>
          </a:prstGeom>
          <a:noFill/>
          <a:ln cap="flat" cmpd="sng" w="25400">
            <a:solidFill>
              <a:srgbClr val="167D8D"/>
            </a:solidFill>
            <a:prstDash val="solid"/>
            <a:round/>
            <a:headEnd len="med" w="med" type="none"/>
            <a:tailEnd len="med" w="med" type="none"/>
          </a:ln>
        </p:spPr>
      </p:cxnSp>
      <p:cxnSp>
        <p:nvCxnSpPr>
          <p:cNvPr id="575" name="Google Shape;575;p29"/>
          <p:cNvCxnSpPr/>
          <p:nvPr/>
        </p:nvCxnSpPr>
        <p:spPr>
          <a:xfrm>
            <a:off x="4641780" y="5080046"/>
            <a:ext cx="108300" cy="155400"/>
          </a:xfrm>
          <a:prstGeom prst="straightConnector1">
            <a:avLst/>
          </a:prstGeom>
          <a:noFill/>
          <a:ln cap="flat" cmpd="sng" w="25400">
            <a:solidFill>
              <a:srgbClr val="167D8D"/>
            </a:solidFill>
            <a:prstDash val="solid"/>
            <a:round/>
            <a:headEnd len="med" w="med" type="none"/>
            <a:tailEnd len="med" w="med" type="none"/>
          </a:ln>
        </p:spPr>
      </p:cxnSp>
      <p:cxnSp>
        <p:nvCxnSpPr>
          <p:cNvPr id="576" name="Google Shape;576;p29"/>
          <p:cNvCxnSpPr/>
          <p:nvPr/>
        </p:nvCxnSpPr>
        <p:spPr>
          <a:xfrm>
            <a:off x="4749940" y="5235494"/>
            <a:ext cx="108300" cy="66000"/>
          </a:xfrm>
          <a:prstGeom prst="straightConnector1">
            <a:avLst/>
          </a:prstGeom>
          <a:noFill/>
          <a:ln cap="flat" cmpd="sng" w="25400">
            <a:solidFill>
              <a:srgbClr val="167D8D"/>
            </a:solidFill>
            <a:prstDash val="solid"/>
            <a:round/>
            <a:headEnd len="med" w="med" type="none"/>
            <a:tailEnd len="med" w="med" type="none"/>
          </a:ln>
        </p:spPr>
      </p:cxnSp>
      <p:cxnSp>
        <p:nvCxnSpPr>
          <p:cNvPr id="577" name="Google Shape;577;p29"/>
          <p:cNvCxnSpPr/>
          <p:nvPr/>
        </p:nvCxnSpPr>
        <p:spPr>
          <a:xfrm>
            <a:off x="4858099" y="5301442"/>
            <a:ext cx="108300" cy="28200"/>
          </a:xfrm>
          <a:prstGeom prst="straightConnector1">
            <a:avLst/>
          </a:prstGeom>
          <a:noFill/>
          <a:ln cap="flat" cmpd="sng" w="25400">
            <a:solidFill>
              <a:srgbClr val="167D8D"/>
            </a:solidFill>
            <a:prstDash val="solid"/>
            <a:round/>
            <a:headEnd len="med" w="med" type="none"/>
            <a:tailEnd len="med" w="med" type="none"/>
          </a:ln>
        </p:spPr>
      </p:cxnSp>
      <p:cxnSp>
        <p:nvCxnSpPr>
          <p:cNvPr id="578" name="Google Shape;578;p29"/>
          <p:cNvCxnSpPr/>
          <p:nvPr/>
        </p:nvCxnSpPr>
        <p:spPr>
          <a:xfrm flipH="1" rot="10800000">
            <a:off x="4966258" y="5226205"/>
            <a:ext cx="108300" cy="103500"/>
          </a:xfrm>
          <a:prstGeom prst="straightConnector1">
            <a:avLst/>
          </a:prstGeom>
          <a:noFill/>
          <a:ln cap="flat" cmpd="sng" w="25400">
            <a:solidFill>
              <a:srgbClr val="167D8D"/>
            </a:solidFill>
            <a:prstDash val="solid"/>
            <a:round/>
            <a:headEnd len="med" w="med" type="none"/>
            <a:tailEnd len="med" w="med" type="none"/>
          </a:ln>
        </p:spPr>
      </p:cxnSp>
      <p:cxnSp>
        <p:nvCxnSpPr>
          <p:cNvPr id="579" name="Google Shape;579;p29"/>
          <p:cNvCxnSpPr/>
          <p:nvPr/>
        </p:nvCxnSpPr>
        <p:spPr>
          <a:xfrm>
            <a:off x="5074418" y="5226073"/>
            <a:ext cx="108300" cy="47100"/>
          </a:xfrm>
          <a:prstGeom prst="straightConnector1">
            <a:avLst/>
          </a:prstGeom>
          <a:noFill/>
          <a:ln cap="flat" cmpd="sng" w="25400">
            <a:solidFill>
              <a:srgbClr val="167D8D"/>
            </a:solidFill>
            <a:prstDash val="solid"/>
            <a:round/>
            <a:headEnd len="med" w="med" type="none"/>
            <a:tailEnd len="med" w="med" type="none"/>
          </a:ln>
        </p:spPr>
      </p:cxnSp>
      <p:cxnSp>
        <p:nvCxnSpPr>
          <p:cNvPr id="580" name="Google Shape;580;p29"/>
          <p:cNvCxnSpPr/>
          <p:nvPr/>
        </p:nvCxnSpPr>
        <p:spPr>
          <a:xfrm flipH="1" rot="10800000">
            <a:off x="5182577" y="5150779"/>
            <a:ext cx="108300" cy="122400"/>
          </a:xfrm>
          <a:prstGeom prst="straightConnector1">
            <a:avLst/>
          </a:prstGeom>
          <a:noFill/>
          <a:ln cap="flat" cmpd="sng" w="25400">
            <a:solidFill>
              <a:srgbClr val="167D8D"/>
            </a:solidFill>
            <a:prstDash val="solid"/>
            <a:round/>
            <a:headEnd len="med" w="med" type="none"/>
            <a:tailEnd len="med" w="med" type="none"/>
          </a:ln>
        </p:spPr>
      </p:cxnSp>
      <p:cxnSp>
        <p:nvCxnSpPr>
          <p:cNvPr id="581" name="Google Shape;581;p29"/>
          <p:cNvCxnSpPr/>
          <p:nvPr/>
        </p:nvCxnSpPr>
        <p:spPr>
          <a:xfrm>
            <a:off x="5290736" y="5150704"/>
            <a:ext cx="108300" cy="94200"/>
          </a:xfrm>
          <a:prstGeom prst="straightConnector1">
            <a:avLst/>
          </a:prstGeom>
          <a:noFill/>
          <a:ln cap="flat" cmpd="sng" w="25400">
            <a:solidFill>
              <a:srgbClr val="167D8D"/>
            </a:solidFill>
            <a:prstDash val="solid"/>
            <a:round/>
            <a:headEnd len="med" w="med" type="none"/>
            <a:tailEnd len="med" w="med" type="none"/>
          </a:ln>
        </p:spPr>
      </p:cxnSp>
      <p:cxnSp>
        <p:nvCxnSpPr>
          <p:cNvPr id="582" name="Google Shape;582;p29"/>
          <p:cNvCxnSpPr/>
          <p:nvPr/>
        </p:nvCxnSpPr>
        <p:spPr>
          <a:xfrm flipH="1" rot="10800000">
            <a:off x="5398896" y="5155515"/>
            <a:ext cx="108300" cy="89400"/>
          </a:xfrm>
          <a:prstGeom prst="straightConnector1">
            <a:avLst/>
          </a:prstGeom>
          <a:noFill/>
          <a:ln cap="flat" cmpd="sng" w="25400">
            <a:solidFill>
              <a:srgbClr val="167D8D"/>
            </a:solidFill>
            <a:prstDash val="solid"/>
            <a:round/>
            <a:headEnd len="med" w="med" type="none"/>
            <a:tailEnd len="med" w="med" type="none"/>
          </a:ln>
        </p:spPr>
      </p:cxnSp>
      <p:cxnSp>
        <p:nvCxnSpPr>
          <p:cNvPr id="583" name="Google Shape;583;p29"/>
          <p:cNvCxnSpPr/>
          <p:nvPr/>
        </p:nvCxnSpPr>
        <p:spPr>
          <a:xfrm>
            <a:off x="5507055" y="5155415"/>
            <a:ext cx="108300" cy="9300"/>
          </a:xfrm>
          <a:prstGeom prst="straightConnector1">
            <a:avLst/>
          </a:prstGeom>
          <a:noFill/>
          <a:ln cap="flat" cmpd="sng" w="25400">
            <a:solidFill>
              <a:srgbClr val="167D8D"/>
            </a:solidFill>
            <a:prstDash val="solid"/>
            <a:round/>
            <a:headEnd len="med" w="med" type="none"/>
            <a:tailEnd len="med" w="med" type="none"/>
          </a:ln>
        </p:spPr>
      </p:cxnSp>
      <p:cxnSp>
        <p:nvCxnSpPr>
          <p:cNvPr id="584" name="Google Shape;584;p29"/>
          <p:cNvCxnSpPr/>
          <p:nvPr/>
        </p:nvCxnSpPr>
        <p:spPr>
          <a:xfrm>
            <a:off x="5615214" y="5164836"/>
            <a:ext cx="108300" cy="0"/>
          </a:xfrm>
          <a:prstGeom prst="straightConnector1">
            <a:avLst/>
          </a:prstGeom>
          <a:noFill/>
          <a:ln cap="flat" cmpd="sng" w="25400">
            <a:solidFill>
              <a:srgbClr val="167D8D"/>
            </a:solidFill>
            <a:prstDash val="solid"/>
            <a:round/>
            <a:headEnd len="med" w="med" type="none"/>
            <a:tailEnd len="med" w="med" type="none"/>
          </a:ln>
        </p:spPr>
      </p:cxnSp>
      <p:cxnSp>
        <p:nvCxnSpPr>
          <p:cNvPr id="585" name="Google Shape;585;p29"/>
          <p:cNvCxnSpPr/>
          <p:nvPr/>
        </p:nvCxnSpPr>
        <p:spPr>
          <a:xfrm>
            <a:off x="5723374" y="5164836"/>
            <a:ext cx="108300" cy="94200"/>
          </a:xfrm>
          <a:prstGeom prst="straightConnector1">
            <a:avLst/>
          </a:prstGeom>
          <a:noFill/>
          <a:ln cap="flat" cmpd="sng" w="25400">
            <a:solidFill>
              <a:srgbClr val="167D8D"/>
            </a:solidFill>
            <a:prstDash val="solid"/>
            <a:round/>
            <a:headEnd len="med" w="med" type="none"/>
            <a:tailEnd len="med" w="med" type="none"/>
          </a:ln>
        </p:spPr>
      </p:cxnSp>
      <p:cxnSp>
        <p:nvCxnSpPr>
          <p:cNvPr id="586" name="Google Shape;586;p29"/>
          <p:cNvCxnSpPr/>
          <p:nvPr/>
        </p:nvCxnSpPr>
        <p:spPr>
          <a:xfrm flipH="1" rot="10800000">
            <a:off x="5831533" y="5254247"/>
            <a:ext cx="108300" cy="4800"/>
          </a:xfrm>
          <a:prstGeom prst="straightConnector1">
            <a:avLst/>
          </a:prstGeom>
          <a:noFill/>
          <a:ln cap="flat" cmpd="sng" w="25400">
            <a:solidFill>
              <a:srgbClr val="167D8D"/>
            </a:solidFill>
            <a:prstDash val="solid"/>
            <a:round/>
            <a:headEnd len="med" w="med" type="none"/>
            <a:tailEnd len="med" w="med" type="none"/>
          </a:ln>
        </p:spPr>
      </p:cxnSp>
      <p:cxnSp>
        <p:nvCxnSpPr>
          <p:cNvPr id="587" name="Google Shape;587;p29"/>
          <p:cNvCxnSpPr/>
          <p:nvPr/>
        </p:nvCxnSpPr>
        <p:spPr>
          <a:xfrm>
            <a:off x="5939692" y="5254336"/>
            <a:ext cx="108300" cy="47100"/>
          </a:xfrm>
          <a:prstGeom prst="straightConnector1">
            <a:avLst/>
          </a:prstGeom>
          <a:noFill/>
          <a:ln cap="flat" cmpd="sng" w="25400">
            <a:solidFill>
              <a:srgbClr val="167D8D"/>
            </a:solidFill>
            <a:prstDash val="solid"/>
            <a:round/>
            <a:headEnd len="med" w="med" type="none"/>
            <a:tailEnd len="med" w="med" type="none"/>
          </a:ln>
        </p:spPr>
      </p:cxnSp>
      <p:cxnSp>
        <p:nvCxnSpPr>
          <p:cNvPr id="588" name="Google Shape;588;p29"/>
          <p:cNvCxnSpPr/>
          <p:nvPr/>
        </p:nvCxnSpPr>
        <p:spPr>
          <a:xfrm flipH="1" rot="10800000">
            <a:off x="6047852" y="5287342"/>
            <a:ext cx="108300" cy="14100"/>
          </a:xfrm>
          <a:prstGeom prst="straightConnector1">
            <a:avLst/>
          </a:prstGeom>
          <a:noFill/>
          <a:ln cap="flat" cmpd="sng" w="25400">
            <a:solidFill>
              <a:srgbClr val="167D8D"/>
            </a:solidFill>
            <a:prstDash val="solid"/>
            <a:round/>
            <a:headEnd len="med" w="med" type="none"/>
            <a:tailEnd len="med" w="med" type="none"/>
          </a:ln>
        </p:spPr>
      </p:cxnSp>
      <p:cxnSp>
        <p:nvCxnSpPr>
          <p:cNvPr id="589" name="Google Shape;589;p29"/>
          <p:cNvCxnSpPr/>
          <p:nvPr/>
        </p:nvCxnSpPr>
        <p:spPr>
          <a:xfrm>
            <a:off x="6156011" y="5287310"/>
            <a:ext cx="108300" cy="14100"/>
          </a:xfrm>
          <a:prstGeom prst="straightConnector1">
            <a:avLst/>
          </a:prstGeom>
          <a:noFill/>
          <a:ln cap="flat" cmpd="sng" w="25400">
            <a:solidFill>
              <a:srgbClr val="167D8D"/>
            </a:solidFill>
            <a:prstDash val="solid"/>
            <a:round/>
            <a:headEnd len="med" w="med" type="none"/>
            <a:tailEnd len="med" w="med" type="none"/>
          </a:ln>
        </p:spPr>
      </p:cxnSp>
      <p:cxnSp>
        <p:nvCxnSpPr>
          <p:cNvPr id="590" name="Google Shape;590;p29"/>
          <p:cNvCxnSpPr/>
          <p:nvPr/>
        </p:nvCxnSpPr>
        <p:spPr>
          <a:xfrm>
            <a:off x="6264170" y="5301442"/>
            <a:ext cx="108300" cy="9300"/>
          </a:xfrm>
          <a:prstGeom prst="straightConnector1">
            <a:avLst/>
          </a:prstGeom>
          <a:noFill/>
          <a:ln cap="flat" cmpd="sng" w="25400">
            <a:solidFill>
              <a:srgbClr val="167D8D"/>
            </a:solidFill>
            <a:prstDash val="solid"/>
            <a:round/>
            <a:headEnd len="med" w="med" type="none"/>
            <a:tailEnd len="med" w="med" type="none"/>
          </a:ln>
        </p:spPr>
      </p:cxnSp>
      <p:cxnSp>
        <p:nvCxnSpPr>
          <p:cNvPr id="591" name="Google Shape;591;p29"/>
          <p:cNvCxnSpPr/>
          <p:nvPr/>
        </p:nvCxnSpPr>
        <p:spPr>
          <a:xfrm>
            <a:off x="6372330" y="5310863"/>
            <a:ext cx="108300" cy="14100"/>
          </a:xfrm>
          <a:prstGeom prst="straightConnector1">
            <a:avLst/>
          </a:prstGeom>
          <a:noFill/>
          <a:ln cap="flat" cmpd="sng" w="25400">
            <a:solidFill>
              <a:srgbClr val="167D8D"/>
            </a:solidFill>
            <a:prstDash val="solid"/>
            <a:round/>
            <a:headEnd len="med" w="med" type="none"/>
            <a:tailEnd len="med" w="med" type="none"/>
          </a:ln>
        </p:spPr>
      </p:cxnSp>
      <p:cxnSp>
        <p:nvCxnSpPr>
          <p:cNvPr id="592" name="Google Shape;592;p29"/>
          <p:cNvCxnSpPr/>
          <p:nvPr/>
        </p:nvCxnSpPr>
        <p:spPr>
          <a:xfrm>
            <a:off x="6480489" y="5324995"/>
            <a:ext cx="108300" cy="0"/>
          </a:xfrm>
          <a:prstGeom prst="straightConnector1">
            <a:avLst/>
          </a:prstGeom>
          <a:noFill/>
          <a:ln cap="flat" cmpd="sng" w="25400">
            <a:solidFill>
              <a:srgbClr val="167D8D"/>
            </a:solidFill>
            <a:prstDash val="solid"/>
            <a:round/>
            <a:headEnd len="med" w="med" type="none"/>
            <a:tailEnd len="med" w="med" type="none"/>
          </a:ln>
        </p:spPr>
      </p:cxnSp>
      <p:cxnSp>
        <p:nvCxnSpPr>
          <p:cNvPr id="593" name="Google Shape;593;p29"/>
          <p:cNvCxnSpPr/>
          <p:nvPr/>
        </p:nvCxnSpPr>
        <p:spPr>
          <a:xfrm flipH="1" rot="10800000">
            <a:off x="6588648" y="5235595"/>
            <a:ext cx="108300" cy="89400"/>
          </a:xfrm>
          <a:prstGeom prst="straightConnector1">
            <a:avLst/>
          </a:prstGeom>
          <a:noFill/>
          <a:ln cap="flat" cmpd="sng" w="25400">
            <a:solidFill>
              <a:srgbClr val="167D8D"/>
            </a:solidFill>
            <a:prstDash val="solid"/>
            <a:round/>
            <a:headEnd len="med" w="med" type="none"/>
            <a:tailEnd len="med" w="med" type="none"/>
          </a:ln>
        </p:spPr>
      </p:cxnSp>
      <p:cxnSp>
        <p:nvCxnSpPr>
          <p:cNvPr id="594" name="Google Shape;594;p29"/>
          <p:cNvCxnSpPr/>
          <p:nvPr/>
        </p:nvCxnSpPr>
        <p:spPr>
          <a:xfrm flipH="1" rot="10800000">
            <a:off x="6696808" y="5207294"/>
            <a:ext cx="108300" cy="28200"/>
          </a:xfrm>
          <a:prstGeom prst="straightConnector1">
            <a:avLst/>
          </a:prstGeom>
          <a:noFill/>
          <a:ln cap="flat" cmpd="sng" w="25400">
            <a:solidFill>
              <a:srgbClr val="167D8D"/>
            </a:solidFill>
            <a:prstDash val="solid"/>
            <a:round/>
            <a:headEnd len="med" w="med" type="none"/>
            <a:tailEnd len="med" w="med" type="none"/>
          </a:ln>
        </p:spPr>
      </p:cxnSp>
      <p:cxnSp>
        <p:nvCxnSpPr>
          <p:cNvPr id="595" name="Google Shape;595;p29"/>
          <p:cNvCxnSpPr/>
          <p:nvPr/>
        </p:nvCxnSpPr>
        <p:spPr>
          <a:xfrm>
            <a:off x="6804967" y="5207231"/>
            <a:ext cx="108300" cy="75300"/>
          </a:xfrm>
          <a:prstGeom prst="straightConnector1">
            <a:avLst/>
          </a:prstGeom>
          <a:noFill/>
          <a:ln cap="flat" cmpd="sng" w="25400">
            <a:solidFill>
              <a:srgbClr val="167D8D"/>
            </a:solidFill>
            <a:prstDash val="solid"/>
            <a:round/>
            <a:headEnd len="med" w="med" type="none"/>
            <a:tailEnd len="med" w="med" type="none"/>
          </a:ln>
        </p:spPr>
      </p:cxnSp>
      <p:cxnSp>
        <p:nvCxnSpPr>
          <p:cNvPr id="596" name="Google Shape;596;p29"/>
          <p:cNvCxnSpPr/>
          <p:nvPr/>
        </p:nvCxnSpPr>
        <p:spPr>
          <a:xfrm>
            <a:off x="6913126" y="5282600"/>
            <a:ext cx="108300" cy="28200"/>
          </a:xfrm>
          <a:prstGeom prst="straightConnector1">
            <a:avLst/>
          </a:prstGeom>
          <a:noFill/>
          <a:ln cap="flat" cmpd="sng" w="25400">
            <a:solidFill>
              <a:srgbClr val="167D8D"/>
            </a:solidFill>
            <a:prstDash val="solid"/>
            <a:round/>
            <a:headEnd len="med" w="med" type="none"/>
            <a:tailEnd len="med" w="med" type="none"/>
          </a:ln>
        </p:spPr>
      </p:cxnSp>
      <p:cxnSp>
        <p:nvCxnSpPr>
          <p:cNvPr id="597" name="Google Shape;597;p29"/>
          <p:cNvCxnSpPr/>
          <p:nvPr/>
        </p:nvCxnSpPr>
        <p:spPr>
          <a:xfrm flipH="1" rot="10800000">
            <a:off x="7021286" y="5291963"/>
            <a:ext cx="108300" cy="18900"/>
          </a:xfrm>
          <a:prstGeom prst="straightConnector1">
            <a:avLst/>
          </a:prstGeom>
          <a:noFill/>
          <a:ln cap="flat" cmpd="sng" w="25400">
            <a:solidFill>
              <a:srgbClr val="167D8D"/>
            </a:solidFill>
            <a:prstDash val="solid"/>
            <a:round/>
            <a:headEnd len="med" w="med" type="none"/>
            <a:tailEnd len="med" w="med" type="none"/>
          </a:ln>
        </p:spPr>
      </p:cxnSp>
      <p:cxnSp>
        <p:nvCxnSpPr>
          <p:cNvPr id="598" name="Google Shape;598;p29"/>
          <p:cNvCxnSpPr/>
          <p:nvPr/>
        </p:nvCxnSpPr>
        <p:spPr>
          <a:xfrm flipH="1" rot="10800000">
            <a:off x="7129445" y="5277921"/>
            <a:ext cx="108300" cy="14100"/>
          </a:xfrm>
          <a:prstGeom prst="straightConnector1">
            <a:avLst/>
          </a:prstGeom>
          <a:noFill/>
          <a:ln cap="flat" cmpd="sng" w="25400">
            <a:solidFill>
              <a:srgbClr val="167D8D"/>
            </a:solidFill>
            <a:prstDash val="solid"/>
            <a:round/>
            <a:headEnd len="med" w="med" type="none"/>
            <a:tailEnd len="med" w="med" type="none"/>
          </a:ln>
        </p:spPr>
      </p:cxnSp>
      <p:cxnSp>
        <p:nvCxnSpPr>
          <p:cNvPr id="599" name="Google Shape;599;p29"/>
          <p:cNvCxnSpPr/>
          <p:nvPr/>
        </p:nvCxnSpPr>
        <p:spPr>
          <a:xfrm>
            <a:off x="7237604" y="5277889"/>
            <a:ext cx="108300" cy="42300"/>
          </a:xfrm>
          <a:prstGeom prst="straightConnector1">
            <a:avLst/>
          </a:prstGeom>
          <a:noFill/>
          <a:ln cap="flat" cmpd="sng" w="25400">
            <a:solidFill>
              <a:srgbClr val="167D8D"/>
            </a:solidFill>
            <a:prstDash val="solid"/>
            <a:round/>
            <a:headEnd len="med" w="med" type="none"/>
            <a:tailEnd len="med" w="med" type="none"/>
          </a:ln>
        </p:spPr>
      </p:cxnSp>
      <p:cxnSp>
        <p:nvCxnSpPr>
          <p:cNvPr id="600" name="Google Shape;600;p29"/>
          <p:cNvCxnSpPr/>
          <p:nvPr/>
        </p:nvCxnSpPr>
        <p:spPr>
          <a:xfrm flipH="1" rot="10800000">
            <a:off x="7345764" y="5268384"/>
            <a:ext cx="108300" cy="51900"/>
          </a:xfrm>
          <a:prstGeom prst="straightConnector1">
            <a:avLst/>
          </a:prstGeom>
          <a:noFill/>
          <a:ln cap="flat" cmpd="sng" w="25400">
            <a:solidFill>
              <a:srgbClr val="167D8D"/>
            </a:solidFill>
            <a:prstDash val="solid"/>
            <a:round/>
            <a:headEnd len="med" w="med" type="none"/>
            <a:tailEnd len="med" w="med" type="none"/>
          </a:ln>
        </p:spPr>
      </p:cxnSp>
      <p:cxnSp>
        <p:nvCxnSpPr>
          <p:cNvPr id="601" name="Google Shape;601;p29"/>
          <p:cNvCxnSpPr/>
          <p:nvPr/>
        </p:nvCxnSpPr>
        <p:spPr>
          <a:xfrm flipH="1" rot="10800000">
            <a:off x="7453923" y="5240268"/>
            <a:ext cx="108300" cy="28200"/>
          </a:xfrm>
          <a:prstGeom prst="straightConnector1">
            <a:avLst/>
          </a:prstGeom>
          <a:noFill/>
          <a:ln cap="flat" cmpd="sng" w="25400">
            <a:solidFill>
              <a:srgbClr val="167D8D"/>
            </a:solidFill>
            <a:prstDash val="solid"/>
            <a:round/>
            <a:headEnd len="med" w="med" type="none"/>
            <a:tailEnd len="med" w="med" type="none"/>
          </a:ln>
        </p:spPr>
      </p:cxnSp>
      <p:cxnSp>
        <p:nvCxnSpPr>
          <p:cNvPr id="602" name="Google Shape;602;p29"/>
          <p:cNvCxnSpPr/>
          <p:nvPr/>
        </p:nvCxnSpPr>
        <p:spPr>
          <a:xfrm>
            <a:off x="7562082" y="5240205"/>
            <a:ext cx="108300" cy="75300"/>
          </a:xfrm>
          <a:prstGeom prst="straightConnector1">
            <a:avLst/>
          </a:prstGeom>
          <a:noFill/>
          <a:ln cap="flat" cmpd="sng" w="25400">
            <a:solidFill>
              <a:srgbClr val="167D8D"/>
            </a:solidFill>
            <a:prstDash val="solid"/>
            <a:round/>
            <a:headEnd len="med" w="med" type="none"/>
            <a:tailEnd len="med" w="med" type="none"/>
          </a:ln>
        </p:spPr>
      </p:cxnSp>
      <p:cxnSp>
        <p:nvCxnSpPr>
          <p:cNvPr id="603" name="Google Shape;603;p29"/>
          <p:cNvCxnSpPr/>
          <p:nvPr/>
        </p:nvCxnSpPr>
        <p:spPr>
          <a:xfrm>
            <a:off x="7670242" y="5315573"/>
            <a:ext cx="108300" cy="33000"/>
          </a:xfrm>
          <a:prstGeom prst="straightConnector1">
            <a:avLst/>
          </a:prstGeom>
          <a:noFill/>
          <a:ln cap="flat" cmpd="sng" w="25400">
            <a:solidFill>
              <a:srgbClr val="167D8D"/>
            </a:solidFill>
            <a:prstDash val="solid"/>
            <a:round/>
            <a:headEnd len="med" w="med" type="none"/>
            <a:tailEnd len="med" w="med" type="none"/>
          </a:ln>
        </p:spPr>
      </p:cxnSp>
      <p:cxnSp>
        <p:nvCxnSpPr>
          <p:cNvPr id="604" name="Google Shape;604;p29"/>
          <p:cNvCxnSpPr/>
          <p:nvPr/>
        </p:nvCxnSpPr>
        <p:spPr>
          <a:xfrm flipH="1" rot="10800000">
            <a:off x="7778401" y="5287347"/>
            <a:ext cx="108300" cy="61200"/>
          </a:xfrm>
          <a:prstGeom prst="straightConnector1">
            <a:avLst/>
          </a:prstGeom>
          <a:noFill/>
          <a:ln cap="flat" cmpd="sng" w="25400">
            <a:solidFill>
              <a:srgbClr val="167D8D"/>
            </a:solidFill>
            <a:prstDash val="solid"/>
            <a:round/>
            <a:headEnd len="med" w="med" type="none"/>
            <a:tailEnd len="med" w="med" type="none"/>
          </a:ln>
        </p:spPr>
      </p:cxnSp>
      <p:cxnSp>
        <p:nvCxnSpPr>
          <p:cNvPr id="605" name="Google Shape;605;p29"/>
          <p:cNvCxnSpPr/>
          <p:nvPr/>
        </p:nvCxnSpPr>
        <p:spPr>
          <a:xfrm>
            <a:off x="7886560" y="5287310"/>
            <a:ext cx="108300" cy="37800"/>
          </a:xfrm>
          <a:prstGeom prst="straightConnector1">
            <a:avLst/>
          </a:prstGeom>
          <a:noFill/>
          <a:ln cap="flat" cmpd="sng" w="25400">
            <a:solidFill>
              <a:srgbClr val="167D8D"/>
            </a:solidFill>
            <a:prstDash val="solid"/>
            <a:round/>
            <a:headEnd len="med" w="med" type="none"/>
            <a:tailEnd len="med" w="med" type="none"/>
          </a:ln>
        </p:spPr>
      </p:cxnSp>
      <p:cxnSp>
        <p:nvCxnSpPr>
          <p:cNvPr id="606" name="Google Shape;606;p29"/>
          <p:cNvCxnSpPr/>
          <p:nvPr/>
        </p:nvCxnSpPr>
        <p:spPr>
          <a:xfrm flipH="1" rot="10800000">
            <a:off x="7994720" y="5258995"/>
            <a:ext cx="108300" cy="66000"/>
          </a:xfrm>
          <a:prstGeom prst="straightConnector1">
            <a:avLst/>
          </a:prstGeom>
          <a:noFill/>
          <a:ln cap="flat" cmpd="sng" w="25400">
            <a:solidFill>
              <a:srgbClr val="167D8D"/>
            </a:solidFill>
            <a:prstDash val="solid"/>
            <a:round/>
            <a:headEnd len="med" w="med" type="none"/>
            <a:tailEnd len="med" w="med" type="none"/>
          </a:ln>
        </p:spPr>
      </p:cxnSp>
      <p:cxnSp>
        <p:nvCxnSpPr>
          <p:cNvPr id="607" name="Google Shape;607;p29"/>
          <p:cNvCxnSpPr/>
          <p:nvPr/>
        </p:nvCxnSpPr>
        <p:spPr>
          <a:xfrm>
            <a:off x="8102879" y="5259047"/>
            <a:ext cx="108300" cy="9300"/>
          </a:xfrm>
          <a:prstGeom prst="straightConnector1">
            <a:avLst/>
          </a:prstGeom>
          <a:noFill/>
          <a:ln cap="flat" cmpd="sng" w="25400">
            <a:solidFill>
              <a:srgbClr val="167D8D"/>
            </a:solidFill>
            <a:prstDash val="solid"/>
            <a:round/>
            <a:headEnd len="med" w="med" type="none"/>
            <a:tailEnd len="med" w="med" type="none"/>
          </a:ln>
        </p:spPr>
      </p:cxnSp>
      <p:cxnSp>
        <p:nvCxnSpPr>
          <p:cNvPr id="608" name="Google Shape;608;p29"/>
          <p:cNvCxnSpPr/>
          <p:nvPr/>
        </p:nvCxnSpPr>
        <p:spPr>
          <a:xfrm>
            <a:off x="8211038" y="5268468"/>
            <a:ext cx="108300" cy="42300"/>
          </a:xfrm>
          <a:prstGeom prst="straightConnector1">
            <a:avLst/>
          </a:prstGeom>
          <a:noFill/>
          <a:ln cap="flat" cmpd="sng" w="25400">
            <a:solidFill>
              <a:srgbClr val="167D8D"/>
            </a:solidFill>
            <a:prstDash val="solid"/>
            <a:round/>
            <a:headEnd len="med" w="med" type="none"/>
            <a:tailEnd len="med" w="med" type="none"/>
          </a:ln>
        </p:spPr>
      </p:cxnSp>
      <p:cxnSp>
        <p:nvCxnSpPr>
          <p:cNvPr id="609" name="Google Shape;609;p29"/>
          <p:cNvCxnSpPr/>
          <p:nvPr/>
        </p:nvCxnSpPr>
        <p:spPr>
          <a:xfrm flipH="1" rot="10800000">
            <a:off x="8319198" y="5296763"/>
            <a:ext cx="108300" cy="14100"/>
          </a:xfrm>
          <a:prstGeom prst="straightConnector1">
            <a:avLst/>
          </a:prstGeom>
          <a:noFill/>
          <a:ln cap="flat" cmpd="sng" w="25400">
            <a:solidFill>
              <a:srgbClr val="167D8D"/>
            </a:solidFill>
            <a:prstDash val="solid"/>
            <a:round/>
            <a:headEnd len="med" w="med" type="none"/>
            <a:tailEnd len="med" w="med" type="none"/>
          </a:ln>
        </p:spPr>
      </p:cxnSp>
      <p:cxnSp>
        <p:nvCxnSpPr>
          <p:cNvPr id="610" name="Google Shape;610;p29"/>
          <p:cNvCxnSpPr/>
          <p:nvPr/>
        </p:nvCxnSpPr>
        <p:spPr>
          <a:xfrm>
            <a:off x="8427357" y="5296731"/>
            <a:ext cx="108300" cy="42300"/>
          </a:xfrm>
          <a:prstGeom prst="straightConnector1">
            <a:avLst/>
          </a:prstGeom>
          <a:noFill/>
          <a:ln cap="flat" cmpd="sng" w="25400">
            <a:solidFill>
              <a:srgbClr val="167D8D"/>
            </a:solidFill>
            <a:prstDash val="solid"/>
            <a:round/>
            <a:headEnd len="med" w="med" type="none"/>
            <a:tailEnd len="med" w="med" type="none"/>
          </a:ln>
        </p:spPr>
      </p:cxnSp>
      <p:cxnSp>
        <p:nvCxnSpPr>
          <p:cNvPr id="611" name="Google Shape;611;p29"/>
          <p:cNvCxnSpPr/>
          <p:nvPr/>
        </p:nvCxnSpPr>
        <p:spPr>
          <a:xfrm flipH="1" rot="10800000">
            <a:off x="8535516" y="5169626"/>
            <a:ext cx="108300" cy="169500"/>
          </a:xfrm>
          <a:prstGeom prst="straightConnector1">
            <a:avLst/>
          </a:prstGeom>
          <a:noFill/>
          <a:ln cap="flat" cmpd="sng" w="25400">
            <a:solidFill>
              <a:srgbClr val="167D8D"/>
            </a:solidFill>
            <a:prstDash val="solid"/>
            <a:round/>
            <a:headEnd len="med" w="med" type="none"/>
            <a:tailEnd len="med" w="med" type="none"/>
          </a:ln>
        </p:spPr>
      </p:cxnSp>
      <p:cxnSp>
        <p:nvCxnSpPr>
          <p:cNvPr id="612" name="Google Shape;612;p29"/>
          <p:cNvCxnSpPr/>
          <p:nvPr/>
        </p:nvCxnSpPr>
        <p:spPr>
          <a:xfrm>
            <a:off x="8643676" y="5169547"/>
            <a:ext cx="108300" cy="113100"/>
          </a:xfrm>
          <a:prstGeom prst="straightConnector1">
            <a:avLst/>
          </a:prstGeom>
          <a:noFill/>
          <a:ln cap="flat" cmpd="sng" w="25400">
            <a:solidFill>
              <a:srgbClr val="167D8D"/>
            </a:solidFill>
            <a:prstDash val="solid"/>
            <a:round/>
            <a:headEnd len="med" w="med" type="none"/>
            <a:tailEnd len="med" w="med" type="none"/>
          </a:ln>
        </p:spPr>
      </p:cxnSp>
      <p:cxnSp>
        <p:nvCxnSpPr>
          <p:cNvPr id="613" name="Google Shape;613;p29"/>
          <p:cNvCxnSpPr/>
          <p:nvPr/>
        </p:nvCxnSpPr>
        <p:spPr>
          <a:xfrm flipH="1" rot="10800000">
            <a:off x="8751835" y="5211800"/>
            <a:ext cx="108300" cy="70800"/>
          </a:xfrm>
          <a:prstGeom prst="straightConnector1">
            <a:avLst/>
          </a:prstGeom>
          <a:noFill/>
          <a:ln cap="flat" cmpd="sng" w="25400">
            <a:solidFill>
              <a:srgbClr val="167D8D"/>
            </a:solidFill>
            <a:prstDash val="solid"/>
            <a:round/>
            <a:headEnd len="med" w="med" type="none"/>
            <a:tailEnd len="med" w="med" type="none"/>
          </a:ln>
        </p:spPr>
      </p:cxnSp>
      <p:cxnSp>
        <p:nvCxnSpPr>
          <p:cNvPr id="614" name="Google Shape;614;p29"/>
          <p:cNvCxnSpPr/>
          <p:nvPr/>
        </p:nvCxnSpPr>
        <p:spPr>
          <a:xfrm>
            <a:off x="8859995" y="5211941"/>
            <a:ext cx="108300" cy="18900"/>
          </a:xfrm>
          <a:prstGeom prst="straightConnector1">
            <a:avLst/>
          </a:prstGeom>
          <a:noFill/>
          <a:ln cap="flat" cmpd="sng" w="25400">
            <a:solidFill>
              <a:srgbClr val="167D8D"/>
            </a:solidFill>
            <a:prstDash val="solid"/>
            <a:round/>
            <a:headEnd len="med" w="med" type="none"/>
            <a:tailEnd len="med" w="med" type="none"/>
          </a:ln>
        </p:spPr>
      </p:cxnSp>
      <p:cxnSp>
        <p:nvCxnSpPr>
          <p:cNvPr id="615" name="Google Shape;615;p29"/>
          <p:cNvCxnSpPr/>
          <p:nvPr/>
        </p:nvCxnSpPr>
        <p:spPr>
          <a:xfrm flipH="1" rot="10800000">
            <a:off x="8968154" y="5192984"/>
            <a:ext cx="108300" cy="37800"/>
          </a:xfrm>
          <a:prstGeom prst="straightConnector1">
            <a:avLst/>
          </a:prstGeom>
          <a:noFill/>
          <a:ln cap="flat" cmpd="sng" w="25400">
            <a:solidFill>
              <a:srgbClr val="167D8D"/>
            </a:solidFill>
            <a:prstDash val="solid"/>
            <a:round/>
            <a:headEnd len="med" w="med" type="none"/>
            <a:tailEnd len="med" w="med" type="none"/>
          </a:ln>
        </p:spPr>
      </p:cxnSp>
      <p:cxnSp>
        <p:nvCxnSpPr>
          <p:cNvPr id="616" name="Google Shape;616;p29"/>
          <p:cNvCxnSpPr/>
          <p:nvPr/>
        </p:nvCxnSpPr>
        <p:spPr>
          <a:xfrm>
            <a:off x="9076313" y="5193099"/>
            <a:ext cx="108300" cy="89400"/>
          </a:xfrm>
          <a:prstGeom prst="straightConnector1">
            <a:avLst/>
          </a:prstGeom>
          <a:noFill/>
          <a:ln cap="flat" cmpd="sng" w="25400">
            <a:solidFill>
              <a:srgbClr val="167D8D"/>
            </a:solidFill>
            <a:prstDash val="solid"/>
            <a:round/>
            <a:headEnd len="med" w="med" type="none"/>
            <a:tailEnd len="med" w="med" type="none"/>
          </a:ln>
        </p:spPr>
      </p:cxnSp>
      <p:cxnSp>
        <p:nvCxnSpPr>
          <p:cNvPr id="617" name="Google Shape;617;p29"/>
          <p:cNvCxnSpPr/>
          <p:nvPr/>
        </p:nvCxnSpPr>
        <p:spPr>
          <a:xfrm flipH="1" rot="10800000">
            <a:off x="9184473" y="5197700"/>
            <a:ext cx="108300" cy="84900"/>
          </a:xfrm>
          <a:prstGeom prst="straightConnector1">
            <a:avLst/>
          </a:prstGeom>
          <a:noFill/>
          <a:ln cap="flat" cmpd="sng" w="25400">
            <a:solidFill>
              <a:srgbClr val="167D8D"/>
            </a:solidFill>
            <a:prstDash val="solid"/>
            <a:round/>
            <a:headEnd len="med" w="med" type="none"/>
            <a:tailEnd len="med" w="med" type="none"/>
          </a:ln>
        </p:spPr>
      </p:cxnSp>
      <p:cxnSp>
        <p:nvCxnSpPr>
          <p:cNvPr id="618" name="Google Shape;618;p29"/>
          <p:cNvCxnSpPr/>
          <p:nvPr/>
        </p:nvCxnSpPr>
        <p:spPr>
          <a:xfrm flipH="1" rot="10800000">
            <a:off x="9292632" y="4839910"/>
            <a:ext cx="108300" cy="357900"/>
          </a:xfrm>
          <a:prstGeom prst="straightConnector1">
            <a:avLst/>
          </a:prstGeom>
          <a:noFill/>
          <a:ln cap="flat" cmpd="sng" w="25400">
            <a:solidFill>
              <a:srgbClr val="167D8D"/>
            </a:solidFill>
            <a:prstDash val="solid"/>
            <a:round/>
            <a:headEnd len="med" w="med" type="none"/>
            <a:tailEnd len="med" w="med" type="none"/>
          </a:ln>
        </p:spPr>
      </p:cxnSp>
      <p:cxnSp>
        <p:nvCxnSpPr>
          <p:cNvPr id="619" name="Google Shape;619;p29"/>
          <p:cNvCxnSpPr/>
          <p:nvPr/>
        </p:nvCxnSpPr>
        <p:spPr>
          <a:xfrm>
            <a:off x="9400791" y="4839808"/>
            <a:ext cx="108300" cy="117900"/>
          </a:xfrm>
          <a:prstGeom prst="straightConnector1">
            <a:avLst/>
          </a:prstGeom>
          <a:noFill/>
          <a:ln cap="flat" cmpd="sng" w="25400">
            <a:solidFill>
              <a:srgbClr val="167D8D"/>
            </a:solidFill>
            <a:prstDash val="solid"/>
            <a:round/>
            <a:headEnd len="med" w="med" type="none"/>
            <a:tailEnd len="med" w="med" type="none"/>
          </a:ln>
        </p:spPr>
      </p:cxnSp>
      <p:cxnSp>
        <p:nvCxnSpPr>
          <p:cNvPr id="620" name="Google Shape;620;p29"/>
          <p:cNvCxnSpPr/>
          <p:nvPr/>
        </p:nvCxnSpPr>
        <p:spPr>
          <a:xfrm>
            <a:off x="9508951" y="4957572"/>
            <a:ext cx="108300" cy="66000"/>
          </a:xfrm>
          <a:prstGeom prst="straightConnector1">
            <a:avLst/>
          </a:prstGeom>
          <a:noFill/>
          <a:ln cap="flat" cmpd="sng" w="25400">
            <a:solidFill>
              <a:srgbClr val="167D8D"/>
            </a:solidFill>
            <a:prstDash val="solid"/>
            <a:round/>
            <a:headEnd len="med" w="med" type="none"/>
            <a:tailEnd len="med" w="med" type="none"/>
          </a:ln>
        </p:spPr>
      </p:cxnSp>
      <p:cxnSp>
        <p:nvCxnSpPr>
          <p:cNvPr id="621" name="Google Shape;621;p29"/>
          <p:cNvCxnSpPr/>
          <p:nvPr/>
        </p:nvCxnSpPr>
        <p:spPr>
          <a:xfrm>
            <a:off x="9617110" y="5023520"/>
            <a:ext cx="108300" cy="197700"/>
          </a:xfrm>
          <a:prstGeom prst="straightConnector1">
            <a:avLst/>
          </a:prstGeom>
          <a:noFill/>
          <a:ln cap="flat" cmpd="sng" w="25400">
            <a:solidFill>
              <a:srgbClr val="167D8D"/>
            </a:solidFill>
            <a:prstDash val="solid"/>
            <a:round/>
            <a:headEnd len="med" w="med" type="none"/>
            <a:tailEnd len="med" w="med" type="none"/>
          </a:ln>
        </p:spPr>
      </p:cxnSp>
      <p:cxnSp>
        <p:nvCxnSpPr>
          <p:cNvPr id="622" name="Google Shape;622;p29"/>
          <p:cNvCxnSpPr/>
          <p:nvPr/>
        </p:nvCxnSpPr>
        <p:spPr>
          <a:xfrm flipH="1" rot="10800000">
            <a:off x="9725269" y="5202463"/>
            <a:ext cx="108300" cy="18900"/>
          </a:xfrm>
          <a:prstGeom prst="straightConnector1">
            <a:avLst/>
          </a:prstGeom>
          <a:noFill/>
          <a:ln cap="flat" cmpd="sng" w="25400">
            <a:solidFill>
              <a:srgbClr val="167D8D"/>
            </a:solidFill>
            <a:prstDash val="solid"/>
            <a:round/>
            <a:headEnd len="med" w="med" type="none"/>
            <a:tailEnd len="med" w="med" type="none"/>
          </a:ln>
        </p:spPr>
      </p:cxnSp>
      <p:cxnSp>
        <p:nvCxnSpPr>
          <p:cNvPr id="623" name="Google Shape;623;p29"/>
          <p:cNvCxnSpPr/>
          <p:nvPr/>
        </p:nvCxnSpPr>
        <p:spPr>
          <a:xfrm>
            <a:off x="9833429" y="5202520"/>
            <a:ext cx="108300" cy="70800"/>
          </a:xfrm>
          <a:prstGeom prst="straightConnector1">
            <a:avLst/>
          </a:prstGeom>
          <a:noFill/>
          <a:ln cap="flat" cmpd="sng" w="25400">
            <a:solidFill>
              <a:srgbClr val="167D8D"/>
            </a:solidFill>
            <a:prstDash val="solid"/>
            <a:round/>
            <a:headEnd len="med" w="med" type="none"/>
            <a:tailEnd len="med" w="med" type="none"/>
          </a:ln>
        </p:spPr>
      </p:cxnSp>
      <p:cxnSp>
        <p:nvCxnSpPr>
          <p:cNvPr id="624" name="Google Shape;624;p29"/>
          <p:cNvCxnSpPr/>
          <p:nvPr/>
        </p:nvCxnSpPr>
        <p:spPr>
          <a:xfrm flipH="1" rot="10800000">
            <a:off x="9941588" y="5169679"/>
            <a:ext cx="108300" cy="103500"/>
          </a:xfrm>
          <a:prstGeom prst="straightConnector1">
            <a:avLst/>
          </a:prstGeom>
          <a:noFill/>
          <a:ln cap="flat" cmpd="sng" w="25400">
            <a:solidFill>
              <a:srgbClr val="167D8D"/>
            </a:solidFill>
            <a:prstDash val="solid"/>
            <a:round/>
            <a:headEnd len="med" w="med" type="none"/>
            <a:tailEnd len="med" w="med" type="none"/>
          </a:ln>
        </p:spPr>
      </p:cxnSp>
      <p:cxnSp>
        <p:nvCxnSpPr>
          <p:cNvPr id="625" name="Google Shape;625;p29"/>
          <p:cNvCxnSpPr/>
          <p:nvPr/>
        </p:nvCxnSpPr>
        <p:spPr>
          <a:xfrm flipH="1" rot="10800000">
            <a:off x="10049747" y="5160247"/>
            <a:ext cx="108300" cy="9300"/>
          </a:xfrm>
          <a:prstGeom prst="straightConnector1">
            <a:avLst/>
          </a:prstGeom>
          <a:noFill/>
          <a:ln cap="flat" cmpd="sng" w="25400">
            <a:solidFill>
              <a:srgbClr val="167D8D"/>
            </a:solidFill>
            <a:prstDash val="solid"/>
            <a:round/>
            <a:headEnd len="med" w="med" type="none"/>
            <a:tailEnd len="med" w="med" type="none"/>
          </a:ln>
        </p:spPr>
      </p:cxnSp>
      <p:cxnSp>
        <p:nvCxnSpPr>
          <p:cNvPr id="626" name="Google Shape;626;p29"/>
          <p:cNvCxnSpPr/>
          <p:nvPr/>
        </p:nvCxnSpPr>
        <p:spPr>
          <a:xfrm flipH="1" rot="10800000">
            <a:off x="10157907" y="5037725"/>
            <a:ext cx="108300" cy="122400"/>
          </a:xfrm>
          <a:prstGeom prst="straightConnector1">
            <a:avLst/>
          </a:prstGeom>
          <a:noFill/>
          <a:ln cap="flat" cmpd="sng" w="25400">
            <a:solidFill>
              <a:srgbClr val="167D8D"/>
            </a:solidFill>
            <a:prstDash val="solid"/>
            <a:round/>
            <a:headEnd len="med" w="med" type="none"/>
            <a:tailEnd len="med" w="med" type="none"/>
          </a:ln>
        </p:spPr>
      </p:cxnSp>
      <p:cxnSp>
        <p:nvCxnSpPr>
          <p:cNvPr id="627" name="Google Shape;627;p29"/>
          <p:cNvCxnSpPr/>
          <p:nvPr/>
        </p:nvCxnSpPr>
        <p:spPr>
          <a:xfrm>
            <a:off x="10266066" y="5037651"/>
            <a:ext cx="108300" cy="9300"/>
          </a:xfrm>
          <a:prstGeom prst="straightConnector1">
            <a:avLst/>
          </a:prstGeom>
          <a:noFill/>
          <a:ln cap="flat" cmpd="sng" w="25400">
            <a:solidFill>
              <a:srgbClr val="167D8D"/>
            </a:solidFill>
            <a:prstDash val="solid"/>
            <a:round/>
            <a:headEnd len="med" w="med" type="none"/>
            <a:tailEnd len="med" w="med" type="none"/>
          </a:ln>
        </p:spPr>
      </p:cxnSp>
      <p:cxnSp>
        <p:nvCxnSpPr>
          <p:cNvPr id="628" name="Google Shape;628;p29"/>
          <p:cNvCxnSpPr/>
          <p:nvPr/>
        </p:nvCxnSpPr>
        <p:spPr>
          <a:xfrm flipH="1" rot="10800000">
            <a:off x="10374225" y="4966972"/>
            <a:ext cx="108300" cy="80100"/>
          </a:xfrm>
          <a:prstGeom prst="straightConnector1">
            <a:avLst/>
          </a:prstGeom>
          <a:noFill/>
          <a:ln cap="flat" cmpd="sng" w="25400">
            <a:solidFill>
              <a:srgbClr val="167D8D"/>
            </a:solidFill>
            <a:prstDash val="solid"/>
            <a:round/>
            <a:headEnd len="med" w="med" type="none"/>
            <a:tailEnd len="med" w="med" type="none"/>
          </a:ln>
        </p:spPr>
      </p:cxnSp>
      <p:cxnSp>
        <p:nvCxnSpPr>
          <p:cNvPr id="629" name="Google Shape;629;p29"/>
          <p:cNvCxnSpPr/>
          <p:nvPr/>
        </p:nvCxnSpPr>
        <p:spPr>
          <a:xfrm>
            <a:off x="10482385" y="4966993"/>
            <a:ext cx="108300" cy="179100"/>
          </a:xfrm>
          <a:prstGeom prst="straightConnector1">
            <a:avLst/>
          </a:prstGeom>
          <a:noFill/>
          <a:ln cap="flat" cmpd="sng" w="25400">
            <a:solidFill>
              <a:srgbClr val="167D8D"/>
            </a:solidFill>
            <a:prstDash val="solid"/>
            <a:round/>
            <a:headEnd len="med" w="med" type="none"/>
            <a:tailEnd len="med" w="med" type="none"/>
          </a:ln>
        </p:spPr>
      </p:cxnSp>
      <p:cxnSp>
        <p:nvCxnSpPr>
          <p:cNvPr id="630" name="Google Shape;630;p29"/>
          <p:cNvCxnSpPr/>
          <p:nvPr/>
        </p:nvCxnSpPr>
        <p:spPr>
          <a:xfrm flipH="1" rot="10800000">
            <a:off x="10590544" y="5079994"/>
            <a:ext cx="108300" cy="66000"/>
          </a:xfrm>
          <a:prstGeom prst="straightConnector1">
            <a:avLst/>
          </a:prstGeom>
          <a:noFill/>
          <a:ln cap="flat" cmpd="sng" w="25400">
            <a:solidFill>
              <a:srgbClr val="167D8D"/>
            </a:solidFill>
            <a:prstDash val="solid"/>
            <a:round/>
            <a:headEnd len="med" w="med" type="none"/>
            <a:tailEnd len="med" w="med" type="none"/>
          </a:ln>
        </p:spPr>
      </p:cxnSp>
      <p:cxnSp>
        <p:nvCxnSpPr>
          <p:cNvPr id="631" name="Google Shape;631;p29"/>
          <p:cNvCxnSpPr/>
          <p:nvPr/>
        </p:nvCxnSpPr>
        <p:spPr>
          <a:xfrm>
            <a:off x="10698703" y="5080046"/>
            <a:ext cx="108300" cy="61200"/>
          </a:xfrm>
          <a:prstGeom prst="straightConnector1">
            <a:avLst/>
          </a:prstGeom>
          <a:noFill/>
          <a:ln cap="flat" cmpd="sng" w="25400">
            <a:solidFill>
              <a:srgbClr val="167D8D"/>
            </a:solidFill>
            <a:prstDash val="solid"/>
            <a:round/>
            <a:headEnd len="med" w="med" type="none"/>
            <a:tailEnd len="med" w="med" type="none"/>
          </a:ln>
        </p:spPr>
      </p:cxnSp>
      <p:cxnSp>
        <p:nvCxnSpPr>
          <p:cNvPr id="632" name="Google Shape;632;p29"/>
          <p:cNvCxnSpPr/>
          <p:nvPr/>
        </p:nvCxnSpPr>
        <p:spPr>
          <a:xfrm>
            <a:off x="10806863" y="5141283"/>
            <a:ext cx="108300" cy="9300"/>
          </a:xfrm>
          <a:prstGeom prst="straightConnector1">
            <a:avLst/>
          </a:prstGeom>
          <a:noFill/>
          <a:ln cap="flat" cmpd="sng" w="25400">
            <a:solidFill>
              <a:srgbClr val="167D8D"/>
            </a:solidFill>
            <a:prstDash val="solid"/>
            <a:round/>
            <a:headEnd len="med" w="med" type="none"/>
            <a:tailEnd len="med" w="med" type="none"/>
          </a:ln>
        </p:spPr>
      </p:cxnSp>
      <p:cxnSp>
        <p:nvCxnSpPr>
          <p:cNvPr id="633" name="Google Shape;633;p29"/>
          <p:cNvCxnSpPr/>
          <p:nvPr/>
        </p:nvCxnSpPr>
        <p:spPr>
          <a:xfrm flipH="1" rot="10800000">
            <a:off x="10915022" y="5094304"/>
            <a:ext cx="108300" cy="56400"/>
          </a:xfrm>
          <a:prstGeom prst="straightConnector1">
            <a:avLst/>
          </a:prstGeom>
          <a:noFill/>
          <a:ln cap="flat" cmpd="sng" w="25400">
            <a:solidFill>
              <a:srgbClr val="167D8D"/>
            </a:solidFill>
            <a:prstDash val="solid"/>
            <a:round/>
            <a:headEnd len="med" w="med" type="none"/>
            <a:tailEnd len="med" w="med" type="none"/>
          </a:ln>
        </p:spPr>
      </p:cxnSp>
      <p:cxnSp>
        <p:nvCxnSpPr>
          <p:cNvPr id="634" name="Google Shape;634;p29"/>
          <p:cNvCxnSpPr/>
          <p:nvPr/>
        </p:nvCxnSpPr>
        <p:spPr>
          <a:xfrm>
            <a:off x="11023181" y="5094178"/>
            <a:ext cx="108300" cy="23700"/>
          </a:xfrm>
          <a:prstGeom prst="straightConnector1">
            <a:avLst/>
          </a:prstGeom>
          <a:noFill/>
          <a:ln cap="flat" cmpd="sng" w="25400">
            <a:solidFill>
              <a:srgbClr val="167D8D"/>
            </a:solidFill>
            <a:prstDash val="solid"/>
            <a:round/>
            <a:headEnd len="med" w="med" type="none"/>
            <a:tailEnd len="med" w="med" type="none"/>
          </a:ln>
        </p:spPr>
      </p:cxnSp>
      <p:cxnSp>
        <p:nvCxnSpPr>
          <p:cNvPr id="635" name="Google Shape;635;p29"/>
          <p:cNvCxnSpPr/>
          <p:nvPr/>
        </p:nvCxnSpPr>
        <p:spPr>
          <a:xfrm>
            <a:off x="11131341" y="5117731"/>
            <a:ext cx="108300" cy="42300"/>
          </a:xfrm>
          <a:prstGeom prst="straightConnector1">
            <a:avLst/>
          </a:prstGeom>
          <a:noFill/>
          <a:ln cap="flat" cmpd="sng" w="25400">
            <a:solidFill>
              <a:srgbClr val="167D8D"/>
            </a:solidFill>
            <a:prstDash val="solid"/>
            <a:round/>
            <a:headEnd len="med" w="med" type="none"/>
            <a:tailEnd len="med" w="med" type="none"/>
          </a:ln>
        </p:spPr>
      </p:cxnSp>
      <p:sp>
        <p:nvSpPr>
          <p:cNvPr id="636" name="Google Shape;636;p29"/>
          <p:cNvSpPr txBox="1"/>
          <p:nvPr/>
        </p:nvSpPr>
        <p:spPr>
          <a:xfrm>
            <a:off x="1155700" y="54991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2019</a:t>
            </a:r>
            <a:endParaRPr sz="1500">
              <a:solidFill>
                <a:srgbClr val="58717A"/>
              </a:solidFill>
            </a:endParaRPr>
          </a:p>
        </p:txBody>
      </p:sp>
      <p:sp>
        <p:nvSpPr>
          <p:cNvPr id="637" name="Google Shape;637;p29"/>
          <p:cNvSpPr txBox="1"/>
          <p:nvPr/>
        </p:nvSpPr>
        <p:spPr>
          <a:xfrm>
            <a:off x="2453612" y="54991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2020</a:t>
            </a:r>
            <a:endParaRPr sz="1500">
              <a:solidFill>
                <a:srgbClr val="58717A"/>
              </a:solidFill>
            </a:endParaRPr>
          </a:p>
        </p:txBody>
      </p:sp>
      <p:sp>
        <p:nvSpPr>
          <p:cNvPr id="638" name="Google Shape;638;p29"/>
          <p:cNvSpPr txBox="1"/>
          <p:nvPr/>
        </p:nvSpPr>
        <p:spPr>
          <a:xfrm>
            <a:off x="3751524" y="54991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2021</a:t>
            </a:r>
            <a:endParaRPr sz="1500">
              <a:solidFill>
                <a:srgbClr val="58717A"/>
              </a:solidFill>
            </a:endParaRPr>
          </a:p>
        </p:txBody>
      </p:sp>
      <p:sp>
        <p:nvSpPr>
          <p:cNvPr id="639" name="Google Shape;639;p29"/>
          <p:cNvSpPr txBox="1"/>
          <p:nvPr/>
        </p:nvSpPr>
        <p:spPr>
          <a:xfrm>
            <a:off x="5049436" y="54991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2022</a:t>
            </a:r>
            <a:endParaRPr sz="1500">
              <a:solidFill>
                <a:srgbClr val="58717A"/>
              </a:solidFill>
            </a:endParaRPr>
          </a:p>
        </p:txBody>
      </p:sp>
      <p:sp>
        <p:nvSpPr>
          <p:cNvPr id="640" name="Google Shape;640;p29"/>
          <p:cNvSpPr txBox="1"/>
          <p:nvPr/>
        </p:nvSpPr>
        <p:spPr>
          <a:xfrm>
            <a:off x="6347348" y="54991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2023</a:t>
            </a:r>
            <a:endParaRPr sz="1500">
              <a:solidFill>
                <a:srgbClr val="58717A"/>
              </a:solidFill>
            </a:endParaRPr>
          </a:p>
        </p:txBody>
      </p:sp>
      <p:sp>
        <p:nvSpPr>
          <p:cNvPr id="641" name="Google Shape;641;p29"/>
          <p:cNvSpPr txBox="1"/>
          <p:nvPr/>
        </p:nvSpPr>
        <p:spPr>
          <a:xfrm>
            <a:off x="7645260" y="54991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2024</a:t>
            </a:r>
            <a:endParaRPr sz="1500">
              <a:solidFill>
                <a:srgbClr val="58717A"/>
              </a:solidFill>
            </a:endParaRPr>
          </a:p>
        </p:txBody>
      </p:sp>
      <p:sp>
        <p:nvSpPr>
          <p:cNvPr id="642" name="Google Shape;642;p29"/>
          <p:cNvSpPr txBox="1"/>
          <p:nvPr/>
        </p:nvSpPr>
        <p:spPr>
          <a:xfrm>
            <a:off x="8943173" y="54991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2025</a:t>
            </a:r>
            <a:endParaRPr sz="1500">
              <a:solidFill>
                <a:srgbClr val="58717A"/>
              </a:solidFill>
            </a:endParaRPr>
          </a:p>
        </p:txBody>
      </p:sp>
      <p:sp>
        <p:nvSpPr>
          <p:cNvPr id="643" name="Google Shape;643;p29"/>
          <p:cNvSpPr txBox="1"/>
          <p:nvPr/>
        </p:nvSpPr>
        <p:spPr>
          <a:xfrm>
            <a:off x="10241085" y="54991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2026</a:t>
            </a:r>
            <a:endParaRPr sz="1500">
              <a:solidFill>
                <a:srgbClr val="58717A"/>
              </a:solidFill>
            </a:endParaRPr>
          </a:p>
        </p:txBody>
      </p:sp>
      <p:sp>
        <p:nvSpPr>
          <p:cNvPr id="644" name="Google Shape;644;p29"/>
          <p:cNvSpPr txBox="1"/>
          <p:nvPr/>
        </p:nvSpPr>
        <p:spPr>
          <a:xfrm>
            <a:off x="762000" y="5918200"/>
            <a:ext cx="10668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73541"/>
                </a:solidFill>
              </a:rPr>
              <a:t>Use PRs as the primary activity measure; commit counts depend on merge workflow.</a:t>
            </a:r>
            <a:endParaRPr sz="1600">
              <a:solidFill>
                <a:srgbClr val="173541"/>
              </a:solidFill>
            </a:endParaRPr>
          </a:p>
        </p:txBody>
      </p:sp>
      <p:sp>
        <p:nvSpPr>
          <p:cNvPr id="645" name="Google Shape;645;p29"/>
          <p:cNvSpPr txBox="1"/>
          <p:nvPr/>
        </p:nvSpPr>
        <p:spPr>
          <a:xfrm>
            <a:off x="762000" y="6273800"/>
            <a:ext cx="106680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58717A"/>
                </a:solidFill>
                <a:hlinkClick r:id="rId3">
                  <a:extLst>
                    <a:ext uri="{A12FA001-AC4F-418D-AE19-62706E023703}">
                      <ahyp:hlinkClr val="tx"/>
                    </a:ext>
                  </a:extLst>
                </a:hlinkClick>
              </a:rPr>
              <a:t>Git main history at b9725744cd31; 30 Sep 2026. Known bots excluded. UTC committer dates; Jan 2019–Aug 2026.</a:t>
            </a:r>
            <a:endParaRPr sz="1100">
              <a:solidFill>
                <a:srgbClr val="58717A"/>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650" name="Shape 650"/>
        <p:cNvGrpSpPr/>
        <p:nvPr/>
      </p:nvGrpSpPr>
      <p:grpSpPr>
        <a:xfrm>
          <a:off x="0" y="0"/>
          <a:ext cx="0" cy="0"/>
          <a:chOff x="0" y="0"/>
          <a:chExt cx="0" cy="0"/>
        </a:xfrm>
      </p:grpSpPr>
      <p:sp>
        <p:nvSpPr>
          <p:cNvPr id="651" name="Google Shape;651;p30"/>
          <p:cNvSpPr txBox="1"/>
          <p:nvPr/>
        </p:nvSpPr>
        <p:spPr>
          <a:xfrm>
            <a:off x="762000" y="469900"/>
            <a:ext cx="10668000" cy="1016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Development activity over time</a:t>
            </a:r>
            <a:endParaRPr b="1" i="0" sz="3200" u="none" cap="none" strike="noStrike">
              <a:solidFill>
                <a:srgbClr val="173541"/>
              </a:solidFill>
            </a:endParaRPr>
          </a:p>
        </p:txBody>
      </p:sp>
      <p:sp>
        <p:nvSpPr>
          <p:cNvPr id="652" name="Google Shape;652;p30"/>
          <p:cNvSpPr txBox="1"/>
          <p:nvPr/>
        </p:nvSpPr>
        <p:spPr>
          <a:xfrm>
            <a:off x="762000" y="1524000"/>
            <a:ext cx="106680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300">
                <a:solidFill>
                  <a:srgbClr val="167D8D"/>
                </a:solidFill>
              </a:rPr>
              <a:t>Monthly human PR activity, January 2019–August 2026</a:t>
            </a:r>
            <a:endParaRPr b="1" sz="2300">
              <a:solidFill>
                <a:srgbClr val="167D8D"/>
              </a:solidFill>
            </a:endParaRPr>
          </a:p>
        </p:txBody>
      </p:sp>
      <p:sp>
        <p:nvSpPr>
          <p:cNvPr id="653" name="Google Shape;653;p30"/>
          <p:cNvSpPr txBox="1"/>
          <p:nvPr/>
        </p:nvSpPr>
        <p:spPr>
          <a:xfrm>
            <a:off x="1397000" y="2184400"/>
            <a:ext cx="17781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C57335"/>
                </a:solidFill>
              </a:rPr>
              <a:t>Opened</a:t>
            </a:r>
            <a:endParaRPr sz="1700">
              <a:solidFill>
                <a:srgbClr val="C57335"/>
              </a:solidFill>
            </a:endParaRPr>
          </a:p>
        </p:txBody>
      </p:sp>
      <p:sp>
        <p:nvSpPr>
          <p:cNvPr id="654" name="Google Shape;654;p30"/>
          <p:cNvSpPr txBox="1"/>
          <p:nvPr/>
        </p:nvSpPr>
        <p:spPr>
          <a:xfrm>
            <a:off x="3365500" y="2184400"/>
            <a:ext cx="17781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167D8D"/>
                </a:solidFill>
              </a:rPr>
              <a:t>Merged</a:t>
            </a:r>
            <a:endParaRPr sz="1700">
              <a:solidFill>
                <a:srgbClr val="167D8D"/>
              </a:solidFill>
            </a:endParaRPr>
          </a:p>
        </p:txBody>
      </p:sp>
      <p:cxnSp>
        <p:nvCxnSpPr>
          <p:cNvPr id="655" name="Google Shape;655;p30"/>
          <p:cNvCxnSpPr/>
          <p:nvPr/>
        </p:nvCxnSpPr>
        <p:spPr>
          <a:xfrm>
            <a:off x="1397000" y="5397500"/>
            <a:ext cx="9842400" cy="0"/>
          </a:xfrm>
          <a:prstGeom prst="straightConnector1">
            <a:avLst/>
          </a:prstGeom>
          <a:noFill/>
          <a:ln cap="flat" cmpd="sng" w="7625">
            <a:solidFill>
              <a:srgbClr val="BAC9CC"/>
            </a:solidFill>
            <a:prstDash val="solid"/>
            <a:round/>
            <a:headEnd len="med" w="med" type="none"/>
            <a:tailEnd len="med" w="med" type="none"/>
          </a:ln>
        </p:spPr>
      </p:cxnSp>
      <p:sp>
        <p:nvSpPr>
          <p:cNvPr id="656" name="Google Shape;656;p30"/>
          <p:cNvSpPr txBox="1"/>
          <p:nvPr/>
        </p:nvSpPr>
        <p:spPr>
          <a:xfrm>
            <a:off x="736600" y="5245100"/>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0</a:t>
            </a:r>
            <a:endParaRPr sz="1500">
              <a:solidFill>
                <a:srgbClr val="58717A"/>
              </a:solidFill>
            </a:endParaRPr>
          </a:p>
        </p:txBody>
      </p:sp>
      <p:cxnSp>
        <p:nvCxnSpPr>
          <p:cNvPr id="657" name="Google Shape;657;p30"/>
          <p:cNvCxnSpPr/>
          <p:nvPr/>
        </p:nvCxnSpPr>
        <p:spPr>
          <a:xfrm>
            <a:off x="1397000" y="4491567"/>
            <a:ext cx="9842400" cy="0"/>
          </a:xfrm>
          <a:prstGeom prst="straightConnector1">
            <a:avLst/>
          </a:prstGeom>
          <a:noFill/>
          <a:ln cap="flat" cmpd="sng" w="7625">
            <a:solidFill>
              <a:srgbClr val="BAC9CC"/>
            </a:solidFill>
            <a:prstDash val="solid"/>
            <a:round/>
            <a:headEnd len="med" w="med" type="none"/>
            <a:tailEnd len="med" w="med" type="none"/>
          </a:ln>
        </p:spPr>
      </p:cxnSp>
      <p:sp>
        <p:nvSpPr>
          <p:cNvPr id="658" name="Google Shape;658;p30"/>
          <p:cNvSpPr txBox="1"/>
          <p:nvPr/>
        </p:nvSpPr>
        <p:spPr>
          <a:xfrm>
            <a:off x="736600" y="4339167"/>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50</a:t>
            </a:r>
            <a:endParaRPr sz="1500">
              <a:solidFill>
                <a:srgbClr val="58717A"/>
              </a:solidFill>
            </a:endParaRPr>
          </a:p>
        </p:txBody>
      </p:sp>
      <p:cxnSp>
        <p:nvCxnSpPr>
          <p:cNvPr id="659" name="Google Shape;659;p30"/>
          <p:cNvCxnSpPr/>
          <p:nvPr/>
        </p:nvCxnSpPr>
        <p:spPr>
          <a:xfrm>
            <a:off x="1397000" y="3585633"/>
            <a:ext cx="9842400" cy="0"/>
          </a:xfrm>
          <a:prstGeom prst="straightConnector1">
            <a:avLst/>
          </a:prstGeom>
          <a:noFill/>
          <a:ln cap="flat" cmpd="sng" w="7625">
            <a:solidFill>
              <a:srgbClr val="BAC9CC"/>
            </a:solidFill>
            <a:prstDash val="solid"/>
            <a:round/>
            <a:headEnd len="med" w="med" type="none"/>
            <a:tailEnd len="med" w="med" type="none"/>
          </a:ln>
        </p:spPr>
      </p:cxnSp>
      <p:sp>
        <p:nvSpPr>
          <p:cNvPr id="660" name="Google Shape;660;p30"/>
          <p:cNvSpPr txBox="1"/>
          <p:nvPr/>
        </p:nvSpPr>
        <p:spPr>
          <a:xfrm>
            <a:off x="736600" y="3433233"/>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100</a:t>
            </a:r>
            <a:endParaRPr sz="1500">
              <a:solidFill>
                <a:srgbClr val="58717A"/>
              </a:solidFill>
            </a:endParaRPr>
          </a:p>
        </p:txBody>
      </p:sp>
      <p:cxnSp>
        <p:nvCxnSpPr>
          <p:cNvPr id="661" name="Google Shape;661;p30"/>
          <p:cNvCxnSpPr/>
          <p:nvPr/>
        </p:nvCxnSpPr>
        <p:spPr>
          <a:xfrm>
            <a:off x="1397000" y="2679700"/>
            <a:ext cx="9842400" cy="0"/>
          </a:xfrm>
          <a:prstGeom prst="straightConnector1">
            <a:avLst/>
          </a:prstGeom>
          <a:noFill/>
          <a:ln cap="flat" cmpd="sng" w="7625">
            <a:solidFill>
              <a:srgbClr val="BAC9CC"/>
            </a:solidFill>
            <a:prstDash val="solid"/>
            <a:round/>
            <a:headEnd len="med" w="med" type="none"/>
            <a:tailEnd len="med" w="med" type="none"/>
          </a:ln>
        </p:spPr>
      </p:cxnSp>
      <p:sp>
        <p:nvSpPr>
          <p:cNvPr id="662" name="Google Shape;662;p30"/>
          <p:cNvSpPr txBox="1"/>
          <p:nvPr/>
        </p:nvSpPr>
        <p:spPr>
          <a:xfrm>
            <a:off x="736600" y="2527300"/>
            <a:ext cx="6096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150</a:t>
            </a:r>
            <a:endParaRPr sz="1500">
              <a:solidFill>
                <a:srgbClr val="58717A"/>
              </a:solidFill>
            </a:endParaRPr>
          </a:p>
        </p:txBody>
      </p:sp>
      <p:cxnSp>
        <p:nvCxnSpPr>
          <p:cNvPr id="663" name="Google Shape;663;p30"/>
          <p:cNvCxnSpPr/>
          <p:nvPr/>
        </p:nvCxnSpPr>
        <p:spPr>
          <a:xfrm flipH="1" rot="10800000">
            <a:off x="1397000" y="5288900"/>
            <a:ext cx="108300" cy="108600"/>
          </a:xfrm>
          <a:prstGeom prst="straightConnector1">
            <a:avLst/>
          </a:prstGeom>
          <a:noFill/>
          <a:ln cap="flat" cmpd="sng" w="25400">
            <a:solidFill>
              <a:srgbClr val="C57335"/>
            </a:solidFill>
            <a:prstDash val="solid"/>
            <a:round/>
            <a:headEnd len="med" w="med" type="none"/>
            <a:tailEnd len="med" w="med" type="none"/>
          </a:ln>
        </p:spPr>
      </p:cxnSp>
      <p:cxnSp>
        <p:nvCxnSpPr>
          <p:cNvPr id="664" name="Google Shape;664;p30"/>
          <p:cNvCxnSpPr/>
          <p:nvPr/>
        </p:nvCxnSpPr>
        <p:spPr>
          <a:xfrm flipH="1" rot="10800000">
            <a:off x="1505159" y="4926388"/>
            <a:ext cx="108300" cy="362400"/>
          </a:xfrm>
          <a:prstGeom prst="straightConnector1">
            <a:avLst/>
          </a:prstGeom>
          <a:noFill/>
          <a:ln cap="flat" cmpd="sng" w="25400">
            <a:solidFill>
              <a:srgbClr val="C57335"/>
            </a:solidFill>
            <a:prstDash val="solid"/>
            <a:round/>
            <a:headEnd len="med" w="med" type="none"/>
            <a:tailEnd len="med" w="med" type="none"/>
          </a:ln>
        </p:spPr>
      </p:cxnSp>
      <p:cxnSp>
        <p:nvCxnSpPr>
          <p:cNvPr id="665" name="Google Shape;665;p30"/>
          <p:cNvCxnSpPr/>
          <p:nvPr/>
        </p:nvCxnSpPr>
        <p:spPr>
          <a:xfrm>
            <a:off x="1613319" y="4926415"/>
            <a:ext cx="108300" cy="90600"/>
          </a:xfrm>
          <a:prstGeom prst="straightConnector1">
            <a:avLst/>
          </a:prstGeom>
          <a:noFill/>
          <a:ln cap="flat" cmpd="sng" w="25400">
            <a:solidFill>
              <a:srgbClr val="C57335"/>
            </a:solidFill>
            <a:prstDash val="solid"/>
            <a:round/>
            <a:headEnd len="med" w="med" type="none"/>
            <a:tailEnd len="med" w="med" type="none"/>
          </a:ln>
        </p:spPr>
      </p:cxnSp>
      <p:cxnSp>
        <p:nvCxnSpPr>
          <p:cNvPr id="666" name="Google Shape;666;p30"/>
          <p:cNvCxnSpPr/>
          <p:nvPr/>
        </p:nvCxnSpPr>
        <p:spPr>
          <a:xfrm flipH="1" rot="10800000">
            <a:off x="1721478" y="4799508"/>
            <a:ext cx="108300" cy="217500"/>
          </a:xfrm>
          <a:prstGeom prst="straightConnector1">
            <a:avLst/>
          </a:prstGeom>
          <a:noFill/>
          <a:ln cap="flat" cmpd="sng" w="25400">
            <a:solidFill>
              <a:srgbClr val="C57335"/>
            </a:solidFill>
            <a:prstDash val="solid"/>
            <a:round/>
            <a:headEnd len="med" w="med" type="none"/>
            <a:tailEnd len="med" w="med" type="none"/>
          </a:ln>
        </p:spPr>
      </p:cxnSp>
      <p:cxnSp>
        <p:nvCxnSpPr>
          <p:cNvPr id="667" name="Google Shape;667;p30"/>
          <p:cNvCxnSpPr/>
          <p:nvPr/>
        </p:nvCxnSpPr>
        <p:spPr>
          <a:xfrm>
            <a:off x="1829637" y="4799584"/>
            <a:ext cx="108300" cy="36300"/>
          </a:xfrm>
          <a:prstGeom prst="straightConnector1">
            <a:avLst/>
          </a:prstGeom>
          <a:noFill/>
          <a:ln cap="flat" cmpd="sng" w="25400">
            <a:solidFill>
              <a:srgbClr val="C57335"/>
            </a:solidFill>
            <a:prstDash val="solid"/>
            <a:round/>
            <a:headEnd len="med" w="med" type="none"/>
            <a:tailEnd len="med" w="med" type="none"/>
          </a:ln>
        </p:spPr>
      </p:cxnSp>
      <p:cxnSp>
        <p:nvCxnSpPr>
          <p:cNvPr id="668" name="Google Shape;668;p30"/>
          <p:cNvCxnSpPr/>
          <p:nvPr/>
        </p:nvCxnSpPr>
        <p:spPr>
          <a:xfrm>
            <a:off x="1937797" y="4835821"/>
            <a:ext cx="108300" cy="380400"/>
          </a:xfrm>
          <a:prstGeom prst="straightConnector1">
            <a:avLst/>
          </a:prstGeom>
          <a:noFill/>
          <a:ln cap="flat" cmpd="sng" w="25400">
            <a:solidFill>
              <a:srgbClr val="C57335"/>
            </a:solidFill>
            <a:prstDash val="solid"/>
            <a:round/>
            <a:headEnd len="med" w="med" type="none"/>
            <a:tailEnd len="med" w="med" type="none"/>
          </a:ln>
        </p:spPr>
      </p:cxnSp>
      <p:cxnSp>
        <p:nvCxnSpPr>
          <p:cNvPr id="669" name="Google Shape;669;p30"/>
          <p:cNvCxnSpPr/>
          <p:nvPr/>
        </p:nvCxnSpPr>
        <p:spPr>
          <a:xfrm flipH="1" rot="10800000">
            <a:off x="2045956" y="4799613"/>
            <a:ext cx="108300" cy="416700"/>
          </a:xfrm>
          <a:prstGeom prst="straightConnector1">
            <a:avLst/>
          </a:prstGeom>
          <a:noFill/>
          <a:ln cap="flat" cmpd="sng" w="25400">
            <a:solidFill>
              <a:srgbClr val="C57335"/>
            </a:solidFill>
            <a:prstDash val="solid"/>
            <a:round/>
            <a:headEnd len="med" w="med" type="none"/>
            <a:tailEnd len="med" w="med" type="none"/>
          </a:ln>
        </p:spPr>
      </p:cxnSp>
      <p:cxnSp>
        <p:nvCxnSpPr>
          <p:cNvPr id="670" name="Google Shape;670;p30"/>
          <p:cNvCxnSpPr/>
          <p:nvPr/>
        </p:nvCxnSpPr>
        <p:spPr>
          <a:xfrm>
            <a:off x="2154115" y="4799584"/>
            <a:ext cx="108300" cy="108600"/>
          </a:xfrm>
          <a:prstGeom prst="straightConnector1">
            <a:avLst/>
          </a:prstGeom>
          <a:noFill/>
          <a:ln cap="flat" cmpd="sng" w="25400">
            <a:solidFill>
              <a:srgbClr val="C57335"/>
            </a:solidFill>
            <a:prstDash val="solid"/>
            <a:round/>
            <a:headEnd len="med" w="med" type="none"/>
            <a:tailEnd len="med" w="med" type="none"/>
          </a:ln>
        </p:spPr>
      </p:cxnSp>
      <p:cxnSp>
        <p:nvCxnSpPr>
          <p:cNvPr id="671" name="Google Shape;671;p30"/>
          <p:cNvCxnSpPr/>
          <p:nvPr/>
        </p:nvCxnSpPr>
        <p:spPr>
          <a:xfrm flipH="1" rot="10800000">
            <a:off x="2262275" y="4690796"/>
            <a:ext cx="108300" cy="217500"/>
          </a:xfrm>
          <a:prstGeom prst="straightConnector1">
            <a:avLst/>
          </a:prstGeom>
          <a:noFill/>
          <a:ln cap="flat" cmpd="sng" w="25400">
            <a:solidFill>
              <a:srgbClr val="C57335"/>
            </a:solidFill>
            <a:prstDash val="solid"/>
            <a:round/>
            <a:headEnd len="med" w="med" type="none"/>
            <a:tailEnd len="med" w="med" type="none"/>
          </a:ln>
        </p:spPr>
      </p:cxnSp>
      <p:cxnSp>
        <p:nvCxnSpPr>
          <p:cNvPr id="672" name="Google Shape;672;p30"/>
          <p:cNvCxnSpPr/>
          <p:nvPr/>
        </p:nvCxnSpPr>
        <p:spPr>
          <a:xfrm>
            <a:off x="2370434" y="4690872"/>
            <a:ext cx="108300" cy="525300"/>
          </a:xfrm>
          <a:prstGeom prst="straightConnector1">
            <a:avLst/>
          </a:prstGeom>
          <a:noFill/>
          <a:ln cap="flat" cmpd="sng" w="25400">
            <a:solidFill>
              <a:srgbClr val="C57335"/>
            </a:solidFill>
            <a:prstDash val="solid"/>
            <a:round/>
            <a:headEnd len="med" w="med" type="none"/>
            <a:tailEnd len="med" w="med" type="none"/>
          </a:ln>
        </p:spPr>
      </p:cxnSp>
      <p:cxnSp>
        <p:nvCxnSpPr>
          <p:cNvPr id="673" name="Google Shape;673;p30"/>
          <p:cNvCxnSpPr/>
          <p:nvPr/>
        </p:nvCxnSpPr>
        <p:spPr>
          <a:xfrm flipH="1" rot="10800000">
            <a:off x="2478593" y="4908213"/>
            <a:ext cx="108300" cy="308100"/>
          </a:xfrm>
          <a:prstGeom prst="straightConnector1">
            <a:avLst/>
          </a:prstGeom>
          <a:noFill/>
          <a:ln cap="flat" cmpd="sng" w="25400">
            <a:solidFill>
              <a:srgbClr val="C57335"/>
            </a:solidFill>
            <a:prstDash val="solid"/>
            <a:round/>
            <a:headEnd len="med" w="med" type="none"/>
            <a:tailEnd len="med" w="med" type="none"/>
          </a:ln>
        </p:spPr>
      </p:cxnSp>
      <p:cxnSp>
        <p:nvCxnSpPr>
          <p:cNvPr id="674" name="Google Shape;674;p30"/>
          <p:cNvCxnSpPr/>
          <p:nvPr/>
        </p:nvCxnSpPr>
        <p:spPr>
          <a:xfrm>
            <a:off x="2586753" y="4908296"/>
            <a:ext cx="108300" cy="344400"/>
          </a:xfrm>
          <a:prstGeom prst="straightConnector1">
            <a:avLst/>
          </a:prstGeom>
          <a:noFill/>
          <a:ln cap="flat" cmpd="sng" w="25400">
            <a:solidFill>
              <a:srgbClr val="C57335"/>
            </a:solidFill>
            <a:prstDash val="solid"/>
            <a:round/>
            <a:headEnd len="med" w="med" type="none"/>
            <a:tailEnd len="med" w="med" type="none"/>
          </a:ln>
        </p:spPr>
      </p:cxnSp>
      <p:cxnSp>
        <p:nvCxnSpPr>
          <p:cNvPr id="675" name="Google Shape;675;p30"/>
          <p:cNvCxnSpPr/>
          <p:nvPr/>
        </p:nvCxnSpPr>
        <p:spPr>
          <a:xfrm flipH="1" rot="10800000">
            <a:off x="2694912" y="4962751"/>
            <a:ext cx="108300" cy="289800"/>
          </a:xfrm>
          <a:prstGeom prst="straightConnector1">
            <a:avLst/>
          </a:prstGeom>
          <a:noFill/>
          <a:ln cap="flat" cmpd="sng" w="25400">
            <a:solidFill>
              <a:srgbClr val="C57335"/>
            </a:solidFill>
            <a:prstDash val="solid"/>
            <a:round/>
            <a:headEnd len="med" w="med" type="none"/>
            <a:tailEnd len="med" w="med" type="none"/>
          </a:ln>
        </p:spPr>
      </p:cxnSp>
      <p:cxnSp>
        <p:nvCxnSpPr>
          <p:cNvPr id="676" name="Google Shape;676;p30"/>
          <p:cNvCxnSpPr/>
          <p:nvPr/>
        </p:nvCxnSpPr>
        <p:spPr>
          <a:xfrm flipH="1" rot="10800000">
            <a:off x="2803071" y="4926352"/>
            <a:ext cx="108300" cy="36300"/>
          </a:xfrm>
          <a:prstGeom prst="straightConnector1">
            <a:avLst/>
          </a:prstGeom>
          <a:noFill/>
          <a:ln cap="flat" cmpd="sng" w="25400">
            <a:solidFill>
              <a:srgbClr val="C57335"/>
            </a:solidFill>
            <a:prstDash val="solid"/>
            <a:round/>
            <a:headEnd len="med" w="med" type="none"/>
            <a:tailEnd len="med" w="med" type="none"/>
          </a:ln>
        </p:spPr>
      </p:cxnSp>
      <p:cxnSp>
        <p:nvCxnSpPr>
          <p:cNvPr id="677" name="Google Shape;677;p30"/>
          <p:cNvCxnSpPr/>
          <p:nvPr/>
        </p:nvCxnSpPr>
        <p:spPr>
          <a:xfrm>
            <a:off x="2911231" y="4926415"/>
            <a:ext cx="108300" cy="271800"/>
          </a:xfrm>
          <a:prstGeom prst="straightConnector1">
            <a:avLst/>
          </a:prstGeom>
          <a:noFill/>
          <a:ln cap="flat" cmpd="sng" w="25400">
            <a:solidFill>
              <a:srgbClr val="C57335"/>
            </a:solidFill>
            <a:prstDash val="solid"/>
            <a:round/>
            <a:headEnd len="med" w="med" type="none"/>
            <a:tailEnd len="med" w="med" type="none"/>
          </a:ln>
        </p:spPr>
      </p:cxnSp>
      <p:cxnSp>
        <p:nvCxnSpPr>
          <p:cNvPr id="678" name="Google Shape;678;p30"/>
          <p:cNvCxnSpPr/>
          <p:nvPr/>
        </p:nvCxnSpPr>
        <p:spPr>
          <a:xfrm flipH="1" rot="10800000">
            <a:off x="3019390" y="5053295"/>
            <a:ext cx="108300" cy="144900"/>
          </a:xfrm>
          <a:prstGeom prst="straightConnector1">
            <a:avLst/>
          </a:prstGeom>
          <a:noFill/>
          <a:ln cap="flat" cmpd="sng" w="25400">
            <a:solidFill>
              <a:srgbClr val="C57335"/>
            </a:solidFill>
            <a:prstDash val="solid"/>
            <a:round/>
            <a:headEnd len="med" w="med" type="none"/>
            <a:tailEnd len="med" w="med" type="none"/>
          </a:ln>
        </p:spPr>
      </p:cxnSp>
      <p:cxnSp>
        <p:nvCxnSpPr>
          <p:cNvPr id="679" name="Google Shape;679;p30"/>
          <p:cNvCxnSpPr/>
          <p:nvPr/>
        </p:nvCxnSpPr>
        <p:spPr>
          <a:xfrm>
            <a:off x="3127549" y="5053245"/>
            <a:ext cx="108300" cy="289800"/>
          </a:xfrm>
          <a:prstGeom prst="straightConnector1">
            <a:avLst/>
          </a:prstGeom>
          <a:noFill/>
          <a:ln cap="flat" cmpd="sng" w="25400">
            <a:solidFill>
              <a:srgbClr val="C57335"/>
            </a:solidFill>
            <a:prstDash val="solid"/>
            <a:round/>
            <a:headEnd len="med" w="med" type="none"/>
            <a:tailEnd len="med" w="med" type="none"/>
          </a:ln>
        </p:spPr>
      </p:cxnSp>
      <p:cxnSp>
        <p:nvCxnSpPr>
          <p:cNvPr id="680" name="Google Shape;680;p30"/>
          <p:cNvCxnSpPr/>
          <p:nvPr/>
        </p:nvCxnSpPr>
        <p:spPr>
          <a:xfrm flipH="1" rot="10800000">
            <a:off x="3235709" y="4835844"/>
            <a:ext cx="108300" cy="507300"/>
          </a:xfrm>
          <a:prstGeom prst="straightConnector1">
            <a:avLst/>
          </a:prstGeom>
          <a:noFill/>
          <a:ln cap="flat" cmpd="sng" w="25400">
            <a:solidFill>
              <a:srgbClr val="C57335"/>
            </a:solidFill>
            <a:prstDash val="solid"/>
            <a:round/>
            <a:headEnd len="med" w="med" type="none"/>
            <a:tailEnd len="med" w="med" type="none"/>
          </a:ln>
        </p:spPr>
      </p:cxnSp>
      <p:cxnSp>
        <p:nvCxnSpPr>
          <p:cNvPr id="681" name="Google Shape;681;p30"/>
          <p:cNvCxnSpPr/>
          <p:nvPr/>
        </p:nvCxnSpPr>
        <p:spPr>
          <a:xfrm flipH="1" rot="10800000">
            <a:off x="3343868" y="4817821"/>
            <a:ext cx="108300" cy="18000"/>
          </a:xfrm>
          <a:prstGeom prst="straightConnector1">
            <a:avLst/>
          </a:prstGeom>
          <a:noFill/>
          <a:ln cap="flat" cmpd="sng" w="25400">
            <a:solidFill>
              <a:srgbClr val="C57335"/>
            </a:solidFill>
            <a:prstDash val="solid"/>
            <a:round/>
            <a:headEnd len="med" w="med" type="none"/>
            <a:tailEnd len="med" w="med" type="none"/>
          </a:ln>
        </p:spPr>
      </p:cxnSp>
      <p:cxnSp>
        <p:nvCxnSpPr>
          <p:cNvPr id="682" name="Google Shape;682;p30"/>
          <p:cNvCxnSpPr/>
          <p:nvPr/>
        </p:nvCxnSpPr>
        <p:spPr>
          <a:xfrm flipH="1" rot="10800000">
            <a:off x="3452027" y="4183503"/>
            <a:ext cx="108300" cy="634200"/>
          </a:xfrm>
          <a:prstGeom prst="straightConnector1">
            <a:avLst/>
          </a:prstGeom>
          <a:noFill/>
          <a:ln cap="flat" cmpd="sng" w="25400">
            <a:solidFill>
              <a:srgbClr val="C57335"/>
            </a:solidFill>
            <a:prstDash val="solid"/>
            <a:round/>
            <a:headEnd len="med" w="med" type="none"/>
            <a:tailEnd len="med" w="med" type="none"/>
          </a:ln>
        </p:spPr>
      </p:cxnSp>
      <p:cxnSp>
        <p:nvCxnSpPr>
          <p:cNvPr id="683" name="Google Shape;683;p30"/>
          <p:cNvCxnSpPr/>
          <p:nvPr/>
        </p:nvCxnSpPr>
        <p:spPr>
          <a:xfrm>
            <a:off x="3560187" y="4183549"/>
            <a:ext cx="108300" cy="199200"/>
          </a:xfrm>
          <a:prstGeom prst="straightConnector1">
            <a:avLst/>
          </a:prstGeom>
          <a:noFill/>
          <a:ln cap="flat" cmpd="sng" w="25400">
            <a:solidFill>
              <a:srgbClr val="C57335"/>
            </a:solidFill>
            <a:prstDash val="solid"/>
            <a:round/>
            <a:headEnd len="med" w="med" type="none"/>
            <a:tailEnd len="med" w="med" type="none"/>
          </a:ln>
        </p:spPr>
      </p:cxnSp>
      <p:cxnSp>
        <p:nvCxnSpPr>
          <p:cNvPr id="684" name="Google Shape;684;p30"/>
          <p:cNvCxnSpPr/>
          <p:nvPr/>
        </p:nvCxnSpPr>
        <p:spPr>
          <a:xfrm>
            <a:off x="3668346" y="4382855"/>
            <a:ext cx="108300" cy="271800"/>
          </a:xfrm>
          <a:prstGeom prst="straightConnector1">
            <a:avLst/>
          </a:prstGeom>
          <a:noFill/>
          <a:ln cap="flat" cmpd="sng" w="25400">
            <a:solidFill>
              <a:srgbClr val="C57335"/>
            </a:solidFill>
            <a:prstDash val="solid"/>
            <a:round/>
            <a:headEnd len="med" w="med" type="none"/>
            <a:tailEnd len="med" w="med" type="none"/>
          </a:ln>
        </p:spPr>
      </p:cxnSp>
      <p:cxnSp>
        <p:nvCxnSpPr>
          <p:cNvPr id="685" name="Google Shape;685;p30"/>
          <p:cNvCxnSpPr/>
          <p:nvPr/>
        </p:nvCxnSpPr>
        <p:spPr>
          <a:xfrm>
            <a:off x="3776505" y="4654635"/>
            <a:ext cx="108300" cy="416700"/>
          </a:xfrm>
          <a:prstGeom prst="straightConnector1">
            <a:avLst/>
          </a:prstGeom>
          <a:noFill/>
          <a:ln cap="flat" cmpd="sng" w="25400">
            <a:solidFill>
              <a:srgbClr val="C57335"/>
            </a:solidFill>
            <a:prstDash val="solid"/>
            <a:round/>
            <a:headEnd len="med" w="med" type="none"/>
            <a:tailEnd len="med" w="med" type="none"/>
          </a:ln>
        </p:spPr>
      </p:cxnSp>
      <p:cxnSp>
        <p:nvCxnSpPr>
          <p:cNvPr id="686" name="Google Shape;686;p30"/>
          <p:cNvCxnSpPr/>
          <p:nvPr/>
        </p:nvCxnSpPr>
        <p:spPr>
          <a:xfrm>
            <a:off x="3884665" y="5071364"/>
            <a:ext cx="108300" cy="54300"/>
          </a:xfrm>
          <a:prstGeom prst="straightConnector1">
            <a:avLst/>
          </a:prstGeom>
          <a:noFill/>
          <a:ln cap="flat" cmpd="sng" w="25400">
            <a:solidFill>
              <a:srgbClr val="C57335"/>
            </a:solidFill>
            <a:prstDash val="solid"/>
            <a:round/>
            <a:headEnd len="med" w="med" type="none"/>
            <a:tailEnd len="med" w="med" type="none"/>
          </a:ln>
        </p:spPr>
      </p:cxnSp>
      <p:cxnSp>
        <p:nvCxnSpPr>
          <p:cNvPr id="687" name="Google Shape;687;p30"/>
          <p:cNvCxnSpPr/>
          <p:nvPr/>
        </p:nvCxnSpPr>
        <p:spPr>
          <a:xfrm flipH="1" rot="10800000">
            <a:off x="3992824" y="4400920"/>
            <a:ext cx="108300" cy="724800"/>
          </a:xfrm>
          <a:prstGeom prst="straightConnector1">
            <a:avLst/>
          </a:prstGeom>
          <a:noFill/>
          <a:ln cap="flat" cmpd="sng" w="25400">
            <a:solidFill>
              <a:srgbClr val="C57335"/>
            </a:solidFill>
            <a:prstDash val="solid"/>
            <a:round/>
            <a:headEnd len="med" w="med" type="none"/>
            <a:tailEnd len="med" w="med" type="none"/>
          </a:ln>
        </p:spPr>
      </p:cxnSp>
      <p:cxnSp>
        <p:nvCxnSpPr>
          <p:cNvPr id="688" name="Google Shape;688;p30"/>
          <p:cNvCxnSpPr/>
          <p:nvPr/>
        </p:nvCxnSpPr>
        <p:spPr>
          <a:xfrm flipH="1" rot="10800000">
            <a:off x="4100984" y="4292373"/>
            <a:ext cx="108300" cy="108600"/>
          </a:xfrm>
          <a:prstGeom prst="straightConnector1">
            <a:avLst/>
          </a:prstGeom>
          <a:noFill/>
          <a:ln cap="flat" cmpd="sng" w="25400">
            <a:solidFill>
              <a:srgbClr val="C57335"/>
            </a:solidFill>
            <a:prstDash val="solid"/>
            <a:round/>
            <a:headEnd len="med" w="med" type="none"/>
            <a:tailEnd len="med" w="med" type="none"/>
          </a:ln>
        </p:spPr>
      </p:cxnSp>
      <p:cxnSp>
        <p:nvCxnSpPr>
          <p:cNvPr id="689" name="Google Shape;689;p30"/>
          <p:cNvCxnSpPr/>
          <p:nvPr/>
        </p:nvCxnSpPr>
        <p:spPr>
          <a:xfrm>
            <a:off x="4209143" y="4292261"/>
            <a:ext cx="108300" cy="18000"/>
          </a:xfrm>
          <a:prstGeom prst="straightConnector1">
            <a:avLst/>
          </a:prstGeom>
          <a:noFill/>
          <a:ln cap="flat" cmpd="sng" w="25400">
            <a:solidFill>
              <a:srgbClr val="C57335"/>
            </a:solidFill>
            <a:prstDash val="solid"/>
            <a:round/>
            <a:headEnd len="med" w="med" type="none"/>
            <a:tailEnd len="med" w="med" type="none"/>
          </a:ln>
        </p:spPr>
      </p:cxnSp>
      <p:cxnSp>
        <p:nvCxnSpPr>
          <p:cNvPr id="690" name="Google Shape;690;p30"/>
          <p:cNvCxnSpPr/>
          <p:nvPr/>
        </p:nvCxnSpPr>
        <p:spPr>
          <a:xfrm>
            <a:off x="4317302" y="4310380"/>
            <a:ext cx="108300" cy="163200"/>
          </a:xfrm>
          <a:prstGeom prst="straightConnector1">
            <a:avLst/>
          </a:prstGeom>
          <a:noFill/>
          <a:ln cap="flat" cmpd="sng" w="25400">
            <a:solidFill>
              <a:srgbClr val="C57335"/>
            </a:solidFill>
            <a:prstDash val="solid"/>
            <a:round/>
            <a:headEnd len="med" w="med" type="none"/>
            <a:tailEnd len="med" w="med" type="none"/>
          </a:ln>
        </p:spPr>
      </p:cxnSp>
      <p:cxnSp>
        <p:nvCxnSpPr>
          <p:cNvPr id="691" name="Google Shape;691;p30"/>
          <p:cNvCxnSpPr/>
          <p:nvPr/>
        </p:nvCxnSpPr>
        <p:spPr>
          <a:xfrm>
            <a:off x="4425462" y="4473448"/>
            <a:ext cx="108300" cy="126900"/>
          </a:xfrm>
          <a:prstGeom prst="straightConnector1">
            <a:avLst/>
          </a:prstGeom>
          <a:noFill/>
          <a:ln cap="flat" cmpd="sng" w="25400">
            <a:solidFill>
              <a:srgbClr val="C57335"/>
            </a:solidFill>
            <a:prstDash val="solid"/>
            <a:round/>
            <a:headEnd len="med" w="med" type="none"/>
            <a:tailEnd len="med" w="med" type="none"/>
          </a:ln>
        </p:spPr>
      </p:cxnSp>
      <p:cxnSp>
        <p:nvCxnSpPr>
          <p:cNvPr id="692" name="Google Shape;692;p30"/>
          <p:cNvCxnSpPr/>
          <p:nvPr/>
        </p:nvCxnSpPr>
        <p:spPr>
          <a:xfrm flipH="1" rot="10800000">
            <a:off x="4533621" y="4110979"/>
            <a:ext cx="108300" cy="489300"/>
          </a:xfrm>
          <a:prstGeom prst="straightConnector1">
            <a:avLst/>
          </a:prstGeom>
          <a:noFill/>
          <a:ln cap="flat" cmpd="sng" w="25400">
            <a:solidFill>
              <a:srgbClr val="C57335"/>
            </a:solidFill>
            <a:prstDash val="solid"/>
            <a:round/>
            <a:headEnd len="med" w="med" type="none"/>
            <a:tailEnd len="med" w="med" type="none"/>
          </a:ln>
        </p:spPr>
      </p:cxnSp>
      <p:cxnSp>
        <p:nvCxnSpPr>
          <p:cNvPr id="693" name="Google Shape;693;p30"/>
          <p:cNvCxnSpPr/>
          <p:nvPr/>
        </p:nvCxnSpPr>
        <p:spPr>
          <a:xfrm>
            <a:off x="4641780" y="4111075"/>
            <a:ext cx="108300" cy="688500"/>
          </a:xfrm>
          <a:prstGeom prst="straightConnector1">
            <a:avLst/>
          </a:prstGeom>
          <a:noFill/>
          <a:ln cap="flat" cmpd="sng" w="25400">
            <a:solidFill>
              <a:srgbClr val="C57335"/>
            </a:solidFill>
            <a:prstDash val="solid"/>
            <a:round/>
            <a:headEnd len="med" w="med" type="none"/>
            <a:tailEnd len="med" w="med" type="none"/>
          </a:ln>
        </p:spPr>
      </p:cxnSp>
      <p:cxnSp>
        <p:nvCxnSpPr>
          <p:cNvPr id="694" name="Google Shape;694;p30"/>
          <p:cNvCxnSpPr/>
          <p:nvPr/>
        </p:nvCxnSpPr>
        <p:spPr>
          <a:xfrm>
            <a:off x="4749940" y="4799584"/>
            <a:ext cx="108300" cy="326100"/>
          </a:xfrm>
          <a:prstGeom prst="straightConnector1">
            <a:avLst/>
          </a:prstGeom>
          <a:noFill/>
          <a:ln cap="flat" cmpd="sng" w="25400">
            <a:solidFill>
              <a:srgbClr val="C57335"/>
            </a:solidFill>
            <a:prstDash val="solid"/>
            <a:round/>
            <a:headEnd len="med" w="med" type="none"/>
            <a:tailEnd len="med" w="med" type="none"/>
          </a:ln>
        </p:spPr>
      </p:cxnSp>
      <p:cxnSp>
        <p:nvCxnSpPr>
          <p:cNvPr id="695" name="Google Shape;695;p30"/>
          <p:cNvCxnSpPr/>
          <p:nvPr/>
        </p:nvCxnSpPr>
        <p:spPr>
          <a:xfrm flipH="1" rot="10800000">
            <a:off x="4858099" y="5035120"/>
            <a:ext cx="108300" cy="90600"/>
          </a:xfrm>
          <a:prstGeom prst="straightConnector1">
            <a:avLst/>
          </a:prstGeom>
          <a:noFill/>
          <a:ln cap="flat" cmpd="sng" w="25400">
            <a:solidFill>
              <a:srgbClr val="C57335"/>
            </a:solidFill>
            <a:prstDash val="solid"/>
            <a:round/>
            <a:headEnd len="med" w="med" type="none"/>
            <a:tailEnd len="med" w="med" type="none"/>
          </a:ln>
        </p:spPr>
      </p:cxnSp>
      <p:cxnSp>
        <p:nvCxnSpPr>
          <p:cNvPr id="696" name="Google Shape;696;p30"/>
          <p:cNvCxnSpPr/>
          <p:nvPr/>
        </p:nvCxnSpPr>
        <p:spPr>
          <a:xfrm flipH="1" rot="10800000">
            <a:off x="4966258" y="4763327"/>
            <a:ext cx="108300" cy="271800"/>
          </a:xfrm>
          <a:prstGeom prst="straightConnector1">
            <a:avLst/>
          </a:prstGeom>
          <a:noFill/>
          <a:ln cap="flat" cmpd="sng" w="25400">
            <a:solidFill>
              <a:srgbClr val="C57335"/>
            </a:solidFill>
            <a:prstDash val="solid"/>
            <a:round/>
            <a:headEnd len="med" w="med" type="none"/>
            <a:tailEnd len="med" w="med" type="none"/>
          </a:ln>
        </p:spPr>
      </p:cxnSp>
      <p:cxnSp>
        <p:nvCxnSpPr>
          <p:cNvPr id="697" name="Google Shape;697;p30"/>
          <p:cNvCxnSpPr/>
          <p:nvPr/>
        </p:nvCxnSpPr>
        <p:spPr>
          <a:xfrm>
            <a:off x="5074418" y="4763347"/>
            <a:ext cx="108300" cy="199200"/>
          </a:xfrm>
          <a:prstGeom prst="straightConnector1">
            <a:avLst/>
          </a:prstGeom>
          <a:noFill/>
          <a:ln cap="flat" cmpd="sng" w="25400">
            <a:solidFill>
              <a:srgbClr val="C57335"/>
            </a:solidFill>
            <a:prstDash val="solid"/>
            <a:round/>
            <a:headEnd len="med" w="med" type="none"/>
            <a:tailEnd len="med" w="med" type="none"/>
          </a:ln>
        </p:spPr>
      </p:cxnSp>
      <p:cxnSp>
        <p:nvCxnSpPr>
          <p:cNvPr id="698" name="Google Shape;698;p30"/>
          <p:cNvCxnSpPr/>
          <p:nvPr/>
        </p:nvCxnSpPr>
        <p:spPr>
          <a:xfrm flipH="1" rot="10800000">
            <a:off x="5182577" y="4636552"/>
            <a:ext cx="108300" cy="326100"/>
          </a:xfrm>
          <a:prstGeom prst="straightConnector1">
            <a:avLst/>
          </a:prstGeom>
          <a:noFill/>
          <a:ln cap="flat" cmpd="sng" w="25400">
            <a:solidFill>
              <a:srgbClr val="C57335"/>
            </a:solidFill>
            <a:prstDash val="solid"/>
            <a:round/>
            <a:headEnd len="med" w="med" type="none"/>
            <a:tailEnd len="med" w="med" type="none"/>
          </a:ln>
        </p:spPr>
      </p:cxnSp>
      <p:cxnSp>
        <p:nvCxnSpPr>
          <p:cNvPr id="699" name="Google Shape;699;p30"/>
          <p:cNvCxnSpPr/>
          <p:nvPr/>
        </p:nvCxnSpPr>
        <p:spPr>
          <a:xfrm>
            <a:off x="5290736" y="4636516"/>
            <a:ext cx="108300" cy="90600"/>
          </a:xfrm>
          <a:prstGeom prst="straightConnector1">
            <a:avLst/>
          </a:prstGeom>
          <a:noFill/>
          <a:ln cap="flat" cmpd="sng" w="25400">
            <a:solidFill>
              <a:srgbClr val="C57335"/>
            </a:solidFill>
            <a:prstDash val="solid"/>
            <a:round/>
            <a:headEnd len="med" w="med" type="none"/>
            <a:tailEnd len="med" w="med" type="none"/>
          </a:ln>
        </p:spPr>
      </p:cxnSp>
      <p:cxnSp>
        <p:nvCxnSpPr>
          <p:cNvPr id="700" name="Google Shape;700;p30"/>
          <p:cNvCxnSpPr/>
          <p:nvPr/>
        </p:nvCxnSpPr>
        <p:spPr>
          <a:xfrm flipH="1" rot="10800000">
            <a:off x="5398896" y="4364709"/>
            <a:ext cx="108300" cy="362400"/>
          </a:xfrm>
          <a:prstGeom prst="straightConnector1">
            <a:avLst/>
          </a:prstGeom>
          <a:noFill/>
          <a:ln cap="flat" cmpd="sng" w="25400">
            <a:solidFill>
              <a:srgbClr val="C57335"/>
            </a:solidFill>
            <a:prstDash val="solid"/>
            <a:round/>
            <a:headEnd len="med" w="med" type="none"/>
            <a:tailEnd len="med" w="med" type="none"/>
          </a:ln>
        </p:spPr>
      </p:cxnSp>
      <p:cxnSp>
        <p:nvCxnSpPr>
          <p:cNvPr id="701" name="Google Shape;701;p30"/>
          <p:cNvCxnSpPr/>
          <p:nvPr/>
        </p:nvCxnSpPr>
        <p:spPr>
          <a:xfrm>
            <a:off x="5507055" y="4364736"/>
            <a:ext cx="108300" cy="72600"/>
          </a:xfrm>
          <a:prstGeom prst="straightConnector1">
            <a:avLst/>
          </a:prstGeom>
          <a:noFill/>
          <a:ln cap="flat" cmpd="sng" w="25400">
            <a:solidFill>
              <a:srgbClr val="C57335"/>
            </a:solidFill>
            <a:prstDash val="solid"/>
            <a:round/>
            <a:headEnd len="med" w="med" type="none"/>
            <a:tailEnd len="med" w="med" type="none"/>
          </a:ln>
        </p:spPr>
      </p:cxnSp>
      <p:cxnSp>
        <p:nvCxnSpPr>
          <p:cNvPr id="702" name="Google Shape;702;p30"/>
          <p:cNvCxnSpPr/>
          <p:nvPr/>
        </p:nvCxnSpPr>
        <p:spPr>
          <a:xfrm>
            <a:off x="5615214" y="4437211"/>
            <a:ext cx="108300" cy="36300"/>
          </a:xfrm>
          <a:prstGeom prst="straightConnector1">
            <a:avLst/>
          </a:prstGeom>
          <a:noFill/>
          <a:ln cap="flat" cmpd="sng" w="25400">
            <a:solidFill>
              <a:srgbClr val="C57335"/>
            </a:solidFill>
            <a:prstDash val="solid"/>
            <a:round/>
            <a:headEnd len="med" w="med" type="none"/>
            <a:tailEnd len="med" w="med" type="none"/>
          </a:ln>
        </p:spPr>
      </p:cxnSp>
      <p:cxnSp>
        <p:nvCxnSpPr>
          <p:cNvPr id="703" name="Google Shape;703;p30"/>
          <p:cNvCxnSpPr/>
          <p:nvPr/>
        </p:nvCxnSpPr>
        <p:spPr>
          <a:xfrm>
            <a:off x="5723374" y="4473448"/>
            <a:ext cx="108300" cy="453000"/>
          </a:xfrm>
          <a:prstGeom prst="straightConnector1">
            <a:avLst/>
          </a:prstGeom>
          <a:noFill/>
          <a:ln cap="flat" cmpd="sng" w="25400">
            <a:solidFill>
              <a:srgbClr val="C57335"/>
            </a:solidFill>
            <a:prstDash val="solid"/>
            <a:round/>
            <a:headEnd len="med" w="med" type="none"/>
            <a:tailEnd len="med" w="med" type="none"/>
          </a:ln>
        </p:spPr>
      </p:cxnSp>
      <p:cxnSp>
        <p:nvCxnSpPr>
          <p:cNvPr id="704" name="Google Shape;704;p30"/>
          <p:cNvCxnSpPr/>
          <p:nvPr/>
        </p:nvCxnSpPr>
        <p:spPr>
          <a:xfrm flipH="1" rot="10800000">
            <a:off x="5831533" y="4872115"/>
            <a:ext cx="108300" cy="54300"/>
          </a:xfrm>
          <a:prstGeom prst="straightConnector1">
            <a:avLst/>
          </a:prstGeom>
          <a:noFill/>
          <a:ln cap="flat" cmpd="sng" w="25400">
            <a:solidFill>
              <a:srgbClr val="C57335"/>
            </a:solidFill>
            <a:prstDash val="solid"/>
            <a:round/>
            <a:headEnd len="med" w="med" type="none"/>
            <a:tailEnd len="med" w="med" type="none"/>
          </a:ln>
        </p:spPr>
      </p:cxnSp>
      <p:cxnSp>
        <p:nvCxnSpPr>
          <p:cNvPr id="705" name="Google Shape;705;p30"/>
          <p:cNvCxnSpPr/>
          <p:nvPr/>
        </p:nvCxnSpPr>
        <p:spPr>
          <a:xfrm>
            <a:off x="5939692" y="4872059"/>
            <a:ext cx="108300" cy="217500"/>
          </a:xfrm>
          <a:prstGeom prst="straightConnector1">
            <a:avLst/>
          </a:prstGeom>
          <a:noFill/>
          <a:ln cap="flat" cmpd="sng" w="25400">
            <a:solidFill>
              <a:srgbClr val="C57335"/>
            </a:solidFill>
            <a:prstDash val="solid"/>
            <a:round/>
            <a:headEnd len="med" w="med" type="none"/>
            <a:tailEnd len="med" w="med" type="none"/>
          </a:ln>
        </p:spPr>
      </p:cxnSp>
      <p:cxnSp>
        <p:nvCxnSpPr>
          <p:cNvPr id="706" name="Google Shape;706;p30"/>
          <p:cNvCxnSpPr/>
          <p:nvPr/>
        </p:nvCxnSpPr>
        <p:spPr>
          <a:xfrm flipH="1" rot="10800000">
            <a:off x="6047852" y="4980883"/>
            <a:ext cx="108300" cy="108600"/>
          </a:xfrm>
          <a:prstGeom prst="straightConnector1">
            <a:avLst/>
          </a:prstGeom>
          <a:noFill/>
          <a:ln cap="flat" cmpd="sng" w="25400">
            <a:solidFill>
              <a:srgbClr val="C57335"/>
            </a:solidFill>
            <a:prstDash val="solid"/>
            <a:round/>
            <a:headEnd len="med" w="med" type="none"/>
            <a:tailEnd len="med" w="med" type="none"/>
          </a:ln>
        </p:spPr>
      </p:cxnSp>
      <p:cxnSp>
        <p:nvCxnSpPr>
          <p:cNvPr id="707" name="Google Shape;707;p30"/>
          <p:cNvCxnSpPr/>
          <p:nvPr/>
        </p:nvCxnSpPr>
        <p:spPr>
          <a:xfrm>
            <a:off x="6156011" y="4980771"/>
            <a:ext cx="108300" cy="126900"/>
          </a:xfrm>
          <a:prstGeom prst="straightConnector1">
            <a:avLst/>
          </a:prstGeom>
          <a:noFill/>
          <a:ln cap="flat" cmpd="sng" w="25400">
            <a:solidFill>
              <a:srgbClr val="C57335"/>
            </a:solidFill>
            <a:prstDash val="solid"/>
            <a:round/>
            <a:headEnd len="med" w="med" type="none"/>
            <a:tailEnd len="med" w="med" type="none"/>
          </a:ln>
        </p:spPr>
      </p:cxnSp>
      <p:cxnSp>
        <p:nvCxnSpPr>
          <p:cNvPr id="708" name="Google Shape;708;p30"/>
          <p:cNvCxnSpPr/>
          <p:nvPr/>
        </p:nvCxnSpPr>
        <p:spPr>
          <a:xfrm flipH="1" rot="10800000">
            <a:off x="6264170" y="4962701"/>
            <a:ext cx="108300" cy="144900"/>
          </a:xfrm>
          <a:prstGeom prst="straightConnector1">
            <a:avLst/>
          </a:prstGeom>
          <a:noFill/>
          <a:ln cap="flat" cmpd="sng" w="25400">
            <a:solidFill>
              <a:srgbClr val="C57335"/>
            </a:solidFill>
            <a:prstDash val="solid"/>
            <a:round/>
            <a:headEnd len="med" w="med" type="none"/>
            <a:tailEnd len="med" w="med" type="none"/>
          </a:ln>
        </p:spPr>
      </p:cxnSp>
      <p:cxnSp>
        <p:nvCxnSpPr>
          <p:cNvPr id="709" name="Google Shape;709;p30"/>
          <p:cNvCxnSpPr/>
          <p:nvPr/>
        </p:nvCxnSpPr>
        <p:spPr>
          <a:xfrm>
            <a:off x="6372330" y="4962652"/>
            <a:ext cx="108300" cy="217500"/>
          </a:xfrm>
          <a:prstGeom prst="straightConnector1">
            <a:avLst/>
          </a:prstGeom>
          <a:noFill/>
          <a:ln cap="flat" cmpd="sng" w="25400">
            <a:solidFill>
              <a:srgbClr val="C57335"/>
            </a:solidFill>
            <a:prstDash val="solid"/>
            <a:round/>
            <a:headEnd len="med" w="med" type="none"/>
            <a:tailEnd len="med" w="med" type="none"/>
          </a:ln>
        </p:spPr>
      </p:cxnSp>
      <p:cxnSp>
        <p:nvCxnSpPr>
          <p:cNvPr id="710" name="Google Shape;710;p30"/>
          <p:cNvCxnSpPr/>
          <p:nvPr/>
        </p:nvCxnSpPr>
        <p:spPr>
          <a:xfrm flipH="1" rot="10800000">
            <a:off x="6480489" y="5035176"/>
            <a:ext cx="108300" cy="144900"/>
          </a:xfrm>
          <a:prstGeom prst="straightConnector1">
            <a:avLst/>
          </a:prstGeom>
          <a:noFill/>
          <a:ln cap="flat" cmpd="sng" w="25400">
            <a:solidFill>
              <a:srgbClr val="C57335"/>
            </a:solidFill>
            <a:prstDash val="solid"/>
            <a:round/>
            <a:headEnd len="med" w="med" type="none"/>
            <a:tailEnd len="med" w="med" type="none"/>
          </a:ln>
        </p:spPr>
      </p:cxnSp>
      <p:cxnSp>
        <p:nvCxnSpPr>
          <p:cNvPr id="711" name="Google Shape;711;p30"/>
          <p:cNvCxnSpPr/>
          <p:nvPr/>
        </p:nvCxnSpPr>
        <p:spPr>
          <a:xfrm flipH="1" rot="10800000">
            <a:off x="6588648" y="4672727"/>
            <a:ext cx="108300" cy="362400"/>
          </a:xfrm>
          <a:prstGeom prst="straightConnector1">
            <a:avLst/>
          </a:prstGeom>
          <a:noFill/>
          <a:ln cap="flat" cmpd="sng" w="25400">
            <a:solidFill>
              <a:srgbClr val="C57335"/>
            </a:solidFill>
            <a:prstDash val="solid"/>
            <a:round/>
            <a:headEnd len="med" w="med" type="none"/>
            <a:tailEnd len="med" w="med" type="none"/>
          </a:ln>
        </p:spPr>
      </p:cxnSp>
      <p:cxnSp>
        <p:nvCxnSpPr>
          <p:cNvPr id="712" name="Google Shape;712;p30"/>
          <p:cNvCxnSpPr/>
          <p:nvPr/>
        </p:nvCxnSpPr>
        <p:spPr>
          <a:xfrm flipH="1" rot="10800000">
            <a:off x="6696808" y="4545853"/>
            <a:ext cx="108300" cy="126900"/>
          </a:xfrm>
          <a:prstGeom prst="straightConnector1">
            <a:avLst/>
          </a:prstGeom>
          <a:noFill/>
          <a:ln cap="flat" cmpd="sng" w="25400">
            <a:solidFill>
              <a:srgbClr val="C57335"/>
            </a:solidFill>
            <a:prstDash val="solid"/>
            <a:round/>
            <a:headEnd len="med" w="med" type="none"/>
            <a:tailEnd len="med" w="med" type="none"/>
          </a:ln>
        </p:spPr>
      </p:cxnSp>
      <p:cxnSp>
        <p:nvCxnSpPr>
          <p:cNvPr id="713" name="Google Shape;713;p30"/>
          <p:cNvCxnSpPr/>
          <p:nvPr/>
        </p:nvCxnSpPr>
        <p:spPr>
          <a:xfrm>
            <a:off x="6804967" y="4545923"/>
            <a:ext cx="108300" cy="471000"/>
          </a:xfrm>
          <a:prstGeom prst="straightConnector1">
            <a:avLst/>
          </a:prstGeom>
          <a:noFill/>
          <a:ln cap="flat" cmpd="sng" w="25400">
            <a:solidFill>
              <a:srgbClr val="C57335"/>
            </a:solidFill>
            <a:prstDash val="solid"/>
            <a:round/>
            <a:headEnd len="med" w="med" type="none"/>
            <a:tailEnd len="med" w="med" type="none"/>
          </a:ln>
        </p:spPr>
      </p:cxnSp>
      <p:cxnSp>
        <p:nvCxnSpPr>
          <p:cNvPr id="714" name="Google Shape;714;p30"/>
          <p:cNvCxnSpPr/>
          <p:nvPr/>
        </p:nvCxnSpPr>
        <p:spPr>
          <a:xfrm>
            <a:off x="6913126" y="5017008"/>
            <a:ext cx="108300" cy="54300"/>
          </a:xfrm>
          <a:prstGeom prst="straightConnector1">
            <a:avLst/>
          </a:prstGeom>
          <a:noFill/>
          <a:ln cap="flat" cmpd="sng" w="25400">
            <a:solidFill>
              <a:srgbClr val="C57335"/>
            </a:solidFill>
            <a:prstDash val="solid"/>
            <a:round/>
            <a:headEnd len="med" w="med" type="none"/>
            <a:tailEnd len="med" w="med" type="none"/>
          </a:ln>
        </p:spPr>
      </p:cxnSp>
      <p:cxnSp>
        <p:nvCxnSpPr>
          <p:cNvPr id="715" name="Google Shape;715;p30"/>
          <p:cNvCxnSpPr/>
          <p:nvPr/>
        </p:nvCxnSpPr>
        <p:spPr>
          <a:xfrm flipH="1" rot="10800000">
            <a:off x="7021286" y="5035064"/>
            <a:ext cx="108300" cy="36300"/>
          </a:xfrm>
          <a:prstGeom prst="straightConnector1">
            <a:avLst/>
          </a:prstGeom>
          <a:noFill/>
          <a:ln cap="flat" cmpd="sng" w="25400">
            <a:solidFill>
              <a:srgbClr val="C57335"/>
            </a:solidFill>
            <a:prstDash val="solid"/>
            <a:round/>
            <a:headEnd len="med" w="med" type="none"/>
            <a:tailEnd len="med" w="med" type="none"/>
          </a:ln>
        </p:spPr>
      </p:cxnSp>
      <p:cxnSp>
        <p:nvCxnSpPr>
          <p:cNvPr id="716" name="Google Shape;716;p30"/>
          <p:cNvCxnSpPr/>
          <p:nvPr/>
        </p:nvCxnSpPr>
        <p:spPr>
          <a:xfrm>
            <a:off x="7129445" y="5035127"/>
            <a:ext cx="108300" cy="0"/>
          </a:xfrm>
          <a:prstGeom prst="straightConnector1">
            <a:avLst/>
          </a:prstGeom>
          <a:noFill/>
          <a:ln cap="flat" cmpd="sng" w="25400">
            <a:solidFill>
              <a:srgbClr val="C57335"/>
            </a:solidFill>
            <a:prstDash val="solid"/>
            <a:round/>
            <a:headEnd len="med" w="med" type="none"/>
            <a:tailEnd len="med" w="med" type="none"/>
          </a:ln>
        </p:spPr>
      </p:cxnSp>
      <p:cxnSp>
        <p:nvCxnSpPr>
          <p:cNvPr id="717" name="Google Shape;717;p30"/>
          <p:cNvCxnSpPr/>
          <p:nvPr/>
        </p:nvCxnSpPr>
        <p:spPr>
          <a:xfrm flipH="1" rot="10800000">
            <a:off x="7237604" y="4908227"/>
            <a:ext cx="108300" cy="126900"/>
          </a:xfrm>
          <a:prstGeom prst="straightConnector1">
            <a:avLst/>
          </a:prstGeom>
          <a:noFill/>
          <a:ln cap="flat" cmpd="sng" w="25400">
            <a:solidFill>
              <a:srgbClr val="C57335"/>
            </a:solidFill>
            <a:prstDash val="solid"/>
            <a:round/>
            <a:headEnd len="med" w="med" type="none"/>
            <a:tailEnd len="med" w="med" type="none"/>
          </a:ln>
        </p:spPr>
      </p:cxnSp>
      <p:cxnSp>
        <p:nvCxnSpPr>
          <p:cNvPr id="718" name="Google Shape;718;p30"/>
          <p:cNvCxnSpPr/>
          <p:nvPr/>
        </p:nvCxnSpPr>
        <p:spPr>
          <a:xfrm>
            <a:off x="7345764" y="4908296"/>
            <a:ext cx="108300" cy="36300"/>
          </a:xfrm>
          <a:prstGeom prst="straightConnector1">
            <a:avLst/>
          </a:prstGeom>
          <a:noFill/>
          <a:ln cap="flat" cmpd="sng" w="25400">
            <a:solidFill>
              <a:srgbClr val="C57335"/>
            </a:solidFill>
            <a:prstDash val="solid"/>
            <a:round/>
            <a:headEnd len="med" w="med" type="none"/>
            <a:tailEnd len="med" w="med" type="none"/>
          </a:ln>
        </p:spPr>
      </p:cxnSp>
      <p:cxnSp>
        <p:nvCxnSpPr>
          <p:cNvPr id="719" name="Google Shape;719;p30"/>
          <p:cNvCxnSpPr/>
          <p:nvPr/>
        </p:nvCxnSpPr>
        <p:spPr>
          <a:xfrm flipH="1" rot="10800000">
            <a:off x="7453923" y="4636433"/>
            <a:ext cx="108300" cy="308100"/>
          </a:xfrm>
          <a:prstGeom prst="straightConnector1">
            <a:avLst/>
          </a:prstGeom>
          <a:noFill/>
          <a:ln cap="flat" cmpd="sng" w="25400">
            <a:solidFill>
              <a:srgbClr val="C57335"/>
            </a:solidFill>
            <a:prstDash val="solid"/>
            <a:round/>
            <a:headEnd len="med" w="med" type="none"/>
            <a:tailEnd len="med" w="med" type="none"/>
          </a:ln>
        </p:spPr>
      </p:cxnSp>
      <p:cxnSp>
        <p:nvCxnSpPr>
          <p:cNvPr id="720" name="Google Shape;720;p30"/>
          <p:cNvCxnSpPr/>
          <p:nvPr/>
        </p:nvCxnSpPr>
        <p:spPr>
          <a:xfrm>
            <a:off x="7562082" y="4636516"/>
            <a:ext cx="108300" cy="416700"/>
          </a:xfrm>
          <a:prstGeom prst="straightConnector1">
            <a:avLst/>
          </a:prstGeom>
          <a:noFill/>
          <a:ln cap="flat" cmpd="sng" w="25400">
            <a:solidFill>
              <a:srgbClr val="C57335"/>
            </a:solidFill>
            <a:prstDash val="solid"/>
            <a:round/>
            <a:headEnd len="med" w="med" type="none"/>
            <a:tailEnd len="med" w="med" type="none"/>
          </a:ln>
        </p:spPr>
      </p:cxnSp>
      <p:cxnSp>
        <p:nvCxnSpPr>
          <p:cNvPr id="721" name="Google Shape;721;p30"/>
          <p:cNvCxnSpPr/>
          <p:nvPr/>
        </p:nvCxnSpPr>
        <p:spPr>
          <a:xfrm>
            <a:off x="7670242" y="5053245"/>
            <a:ext cx="108300" cy="144900"/>
          </a:xfrm>
          <a:prstGeom prst="straightConnector1">
            <a:avLst/>
          </a:prstGeom>
          <a:noFill/>
          <a:ln cap="flat" cmpd="sng" w="25400">
            <a:solidFill>
              <a:srgbClr val="C57335"/>
            </a:solidFill>
            <a:prstDash val="solid"/>
            <a:round/>
            <a:headEnd len="med" w="med" type="none"/>
            <a:tailEnd len="med" w="med" type="none"/>
          </a:ln>
        </p:spPr>
      </p:cxnSp>
      <p:cxnSp>
        <p:nvCxnSpPr>
          <p:cNvPr id="722" name="Google Shape;722;p30"/>
          <p:cNvCxnSpPr/>
          <p:nvPr/>
        </p:nvCxnSpPr>
        <p:spPr>
          <a:xfrm flipH="1" rot="10800000">
            <a:off x="7778401" y="5053295"/>
            <a:ext cx="108300" cy="144900"/>
          </a:xfrm>
          <a:prstGeom prst="straightConnector1">
            <a:avLst/>
          </a:prstGeom>
          <a:noFill/>
          <a:ln cap="flat" cmpd="sng" w="25400">
            <a:solidFill>
              <a:srgbClr val="C57335"/>
            </a:solidFill>
            <a:prstDash val="solid"/>
            <a:round/>
            <a:headEnd len="med" w="med" type="none"/>
            <a:tailEnd len="med" w="med" type="none"/>
          </a:ln>
        </p:spPr>
      </p:cxnSp>
      <p:cxnSp>
        <p:nvCxnSpPr>
          <p:cNvPr id="723" name="Google Shape;723;p30"/>
          <p:cNvCxnSpPr/>
          <p:nvPr/>
        </p:nvCxnSpPr>
        <p:spPr>
          <a:xfrm>
            <a:off x="7886560" y="5053245"/>
            <a:ext cx="108300" cy="36300"/>
          </a:xfrm>
          <a:prstGeom prst="straightConnector1">
            <a:avLst/>
          </a:prstGeom>
          <a:noFill/>
          <a:ln cap="flat" cmpd="sng" w="25400">
            <a:solidFill>
              <a:srgbClr val="C57335"/>
            </a:solidFill>
            <a:prstDash val="solid"/>
            <a:round/>
            <a:headEnd len="med" w="med" type="none"/>
            <a:tailEnd len="med" w="med" type="none"/>
          </a:ln>
        </p:spPr>
      </p:cxnSp>
      <p:cxnSp>
        <p:nvCxnSpPr>
          <p:cNvPr id="724" name="Google Shape;724;p30"/>
          <p:cNvCxnSpPr/>
          <p:nvPr/>
        </p:nvCxnSpPr>
        <p:spPr>
          <a:xfrm flipH="1" rot="10800000">
            <a:off x="7994720" y="4853983"/>
            <a:ext cx="108300" cy="235500"/>
          </a:xfrm>
          <a:prstGeom prst="straightConnector1">
            <a:avLst/>
          </a:prstGeom>
          <a:noFill/>
          <a:ln cap="flat" cmpd="sng" w="25400">
            <a:solidFill>
              <a:srgbClr val="C57335"/>
            </a:solidFill>
            <a:prstDash val="solid"/>
            <a:round/>
            <a:headEnd len="med" w="med" type="none"/>
            <a:tailEnd len="med" w="med" type="none"/>
          </a:ln>
        </p:spPr>
      </p:cxnSp>
      <p:cxnSp>
        <p:nvCxnSpPr>
          <p:cNvPr id="725" name="Google Shape;725;p30"/>
          <p:cNvCxnSpPr/>
          <p:nvPr/>
        </p:nvCxnSpPr>
        <p:spPr>
          <a:xfrm>
            <a:off x="8102879" y="4853940"/>
            <a:ext cx="108300" cy="108600"/>
          </a:xfrm>
          <a:prstGeom prst="straightConnector1">
            <a:avLst/>
          </a:prstGeom>
          <a:noFill/>
          <a:ln cap="flat" cmpd="sng" w="25400">
            <a:solidFill>
              <a:srgbClr val="C57335"/>
            </a:solidFill>
            <a:prstDash val="solid"/>
            <a:round/>
            <a:headEnd len="med" w="med" type="none"/>
            <a:tailEnd len="med" w="med" type="none"/>
          </a:ln>
        </p:spPr>
      </p:cxnSp>
      <p:cxnSp>
        <p:nvCxnSpPr>
          <p:cNvPr id="726" name="Google Shape;726;p30"/>
          <p:cNvCxnSpPr/>
          <p:nvPr/>
        </p:nvCxnSpPr>
        <p:spPr>
          <a:xfrm>
            <a:off x="8211038" y="4962652"/>
            <a:ext cx="108300" cy="0"/>
          </a:xfrm>
          <a:prstGeom prst="straightConnector1">
            <a:avLst/>
          </a:prstGeom>
          <a:noFill/>
          <a:ln cap="flat" cmpd="sng" w="25400">
            <a:solidFill>
              <a:srgbClr val="C57335"/>
            </a:solidFill>
            <a:prstDash val="solid"/>
            <a:round/>
            <a:headEnd len="med" w="med" type="none"/>
            <a:tailEnd len="med" w="med" type="none"/>
          </a:ln>
        </p:spPr>
      </p:cxnSp>
      <p:cxnSp>
        <p:nvCxnSpPr>
          <p:cNvPr id="727" name="Google Shape;727;p30"/>
          <p:cNvCxnSpPr/>
          <p:nvPr/>
        </p:nvCxnSpPr>
        <p:spPr>
          <a:xfrm>
            <a:off x="8319198" y="4962652"/>
            <a:ext cx="108300" cy="72600"/>
          </a:xfrm>
          <a:prstGeom prst="straightConnector1">
            <a:avLst/>
          </a:prstGeom>
          <a:noFill/>
          <a:ln cap="flat" cmpd="sng" w="25400">
            <a:solidFill>
              <a:srgbClr val="C57335"/>
            </a:solidFill>
            <a:prstDash val="solid"/>
            <a:round/>
            <a:headEnd len="med" w="med" type="none"/>
            <a:tailEnd len="med" w="med" type="none"/>
          </a:ln>
        </p:spPr>
      </p:cxnSp>
      <p:cxnSp>
        <p:nvCxnSpPr>
          <p:cNvPr id="728" name="Google Shape;728;p30"/>
          <p:cNvCxnSpPr/>
          <p:nvPr/>
        </p:nvCxnSpPr>
        <p:spPr>
          <a:xfrm>
            <a:off x="8427357" y="5035127"/>
            <a:ext cx="108300" cy="72600"/>
          </a:xfrm>
          <a:prstGeom prst="straightConnector1">
            <a:avLst/>
          </a:prstGeom>
          <a:noFill/>
          <a:ln cap="flat" cmpd="sng" w="25400">
            <a:solidFill>
              <a:srgbClr val="C57335"/>
            </a:solidFill>
            <a:prstDash val="solid"/>
            <a:round/>
            <a:headEnd len="med" w="med" type="none"/>
            <a:tailEnd len="med" w="med" type="none"/>
          </a:ln>
        </p:spPr>
      </p:cxnSp>
      <p:cxnSp>
        <p:nvCxnSpPr>
          <p:cNvPr id="729" name="Google Shape;729;p30"/>
          <p:cNvCxnSpPr/>
          <p:nvPr/>
        </p:nvCxnSpPr>
        <p:spPr>
          <a:xfrm flipH="1" rot="10800000">
            <a:off x="8535516" y="4546001"/>
            <a:ext cx="108300" cy="561600"/>
          </a:xfrm>
          <a:prstGeom prst="straightConnector1">
            <a:avLst/>
          </a:prstGeom>
          <a:noFill/>
          <a:ln cap="flat" cmpd="sng" w="25400">
            <a:solidFill>
              <a:srgbClr val="C57335"/>
            </a:solidFill>
            <a:prstDash val="solid"/>
            <a:round/>
            <a:headEnd len="med" w="med" type="none"/>
            <a:tailEnd len="med" w="med" type="none"/>
          </a:ln>
        </p:spPr>
      </p:cxnSp>
      <p:cxnSp>
        <p:nvCxnSpPr>
          <p:cNvPr id="730" name="Google Shape;730;p30"/>
          <p:cNvCxnSpPr/>
          <p:nvPr/>
        </p:nvCxnSpPr>
        <p:spPr>
          <a:xfrm>
            <a:off x="8643676" y="4545923"/>
            <a:ext cx="108300" cy="398700"/>
          </a:xfrm>
          <a:prstGeom prst="straightConnector1">
            <a:avLst/>
          </a:prstGeom>
          <a:noFill/>
          <a:ln cap="flat" cmpd="sng" w="25400">
            <a:solidFill>
              <a:srgbClr val="C57335"/>
            </a:solidFill>
            <a:prstDash val="solid"/>
            <a:round/>
            <a:headEnd len="med" w="med" type="none"/>
            <a:tailEnd len="med" w="med" type="none"/>
          </a:ln>
        </p:spPr>
      </p:cxnSp>
      <p:cxnSp>
        <p:nvCxnSpPr>
          <p:cNvPr id="731" name="Google Shape;731;p30"/>
          <p:cNvCxnSpPr/>
          <p:nvPr/>
        </p:nvCxnSpPr>
        <p:spPr>
          <a:xfrm flipH="1" rot="10800000">
            <a:off x="8751835" y="4473533"/>
            <a:ext cx="108300" cy="471000"/>
          </a:xfrm>
          <a:prstGeom prst="straightConnector1">
            <a:avLst/>
          </a:prstGeom>
          <a:noFill/>
          <a:ln cap="flat" cmpd="sng" w="25400">
            <a:solidFill>
              <a:srgbClr val="C57335"/>
            </a:solidFill>
            <a:prstDash val="solid"/>
            <a:round/>
            <a:headEnd len="med" w="med" type="none"/>
            <a:tailEnd len="med" w="med" type="none"/>
          </a:ln>
        </p:spPr>
      </p:cxnSp>
      <p:cxnSp>
        <p:nvCxnSpPr>
          <p:cNvPr id="732" name="Google Shape;732;p30"/>
          <p:cNvCxnSpPr/>
          <p:nvPr/>
        </p:nvCxnSpPr>
        <p:spPr>
          <a:xfrm>
            <a:off x="8859995" y="4473448"/>
            <a:ext cx="108300" cy="253800"/>
          </a:xfrm>
          <a:prstGeom prst="straightConnector1">
            <a:avLst/>
          </a:prstGeom>
          <a:noFill/>
          <a:ln cap="flat" cmpd="sng" w="25400">
            <a:solidFill>
              <a:srgbClr val="C57335"/>
            </a:solidFill>
            <a:prstDash val="solid"/>
            <a:round/>
            <a:headEnd len="med" w="med" type="none"/>
            <a:tailEnd len="med" w="med" type="none"/>
          </a:ln>
        </p:spPr>
      </p:cxnSp>
      <p:cxnSp>
        <p:nvCxnSpPr>
          <p:cNvPr id="733" name="Google Shape;733;p30"/>
          <p:cNvCxnSpPr/>
          <p:nvPr/>
        </p:nvCxnSpPr>
        <p:spPr>
          <a:xfrm>
            <a:off x="8968154" y="4727109"/>
            <a:ext cx="108300" cy="0"/>
          </a:xfrm>
          <a:prstGeom prst="straightConnector1">
            <a:avLst/>
          </a:prstGeom>
          <a:noFill/>
          <a:ln cap="flat" cmpd="sng" w="25400">
            <a:solidFill>
              <a:srgbClr val="C57335"/>
            </a:solidFill>
            <a:prstDash val="solid"/>
            <a:round/>
            <a:headEnd len="med" w="med" type="none"/>
            <a:tailEnd len="med" w="med" type="none"/>
          </a:ln>
        </p:spPr>
      </p:cxnSp>
      <p:cxnSp>
        <p:nvCxnSpPr>
          <p:cNvPr id="734" name="Google Shape;734;p30"/>
          <p:cNvCxnSpPr/>
          <p:nvPr/>
        </p:nvCxnSpPr>
        <p:spPr>
          <a:xfrm>
            <a:off x="9076313" y="4727109"/>
            <a:ext cx="108300" cy="126900"/>
          </a:xfrm>
          <a:prstGeom prst="straightConnector1">
            <a:avLst/>
          </a:prstGeom>
          <a:noFill/>
          <a:ln cap="flat" cmpd="sng" w="25400">
            <a:solidFill>
              <a:srgbClr val="C57335"/>
            </a:solidFill>
            <a:prstDash val="solid"/>
            <a:round/>
            <a:headEnd len="med" w="med" type="none"/>
            <a:tailEnd len="med" w="med" type="none"/>
          </a:ln>
        </p:spPr>
      </p:cxnSp>
      <p:cxnSp>
        <p:nvCxnSpPr>
          <p:cNvPr id="735" name="Google Shape;735;p30"/>
          <p:cNvCxnSpPr/>
          <p:nvPr/>
        </p:nvCxnSpPr>
        <p:spPr>
          <a:xfrm flipH="1" rot="10800000">
            <a:off x="9184473" y="4618440"/>
            <a:ext cx="108300" cy="235500"/>
          </a:xfrm>
          <a:prstGeom prst="straightConnector1">
            <a:avLst/>
          </a:prstGeom>
          <a:noFill/>
          <a:ln cap="flat" cmpd="sng" w="25400">
            <a:solidFill>
              <a:srgbClr val="C57335"/>
            </a:solidFill>
            <a:prstDash val="solid"/>
            <a:round/>
            <a:headEnd len="med" w="med" type="none"/>
            <a:tailEnd len="med" w="med" type="none"/>
          </a:ln>
        </p:spPr>
      </p:cxnSp>
      <p:cxnSp>
        <p:nvCxnSpPr>
          <p:cNvPr id="736" name="Google Shape;736;p30"/>
          <p:cNvCxnSpPr/>
          <p:nvPr/>
        </p:nvCxnSpPr>
        <p:spPr>
          <a:xfrm flipH="1" rot="10800000">
            <a:off x="9292632" y="3005897"/>
            <a:ext cx="108300" cy="1612500"/>
          </a:xfrm>
          <a:prstGeom prst="straightConnector1">
            <a:avLst/>
          </a:prstGeom>
          <a:noFill/>
          <a:ln cap="flat" cmpd="sng" w="25400">
            <a:solidFill>
              <a:srgbClr val="C57335"/>
            </a:solidFill>
            <a:prstDash val="solid"/>
            <a:round/>
            <a:headEnd len="med" w="med" type="none"/>
            <a:tailEnd len="med" w="med" type="none"/>
          </a:ln>
        </p:spPr>
      </p:cxnSp>
      <p:cxnSp>
        <p:nvCxnSpPr>
          <p:cNvPr id="737" name="Google Shape;737;p30"/>
          <p:cNvCxnSpPr/>
          <p:nvPr/>
        </p:nvCxnSpPr>
        <p:spPr>
          <a:xfrm>
            <a:off x="9400791" y="3005836"/>
            <a:ext cx="108300" cy="489300"/>
          </a:xfrm>
          <a:prstGeom prst="straightConnector1">
            <a:avLst/>
          </a:prstGeom>
          <a:noFill/>
          <a:ln cap="flat" cmpd="sng" w="25400">
            <a:solidFill>
              <a:srgbClr val="C57335"/>
            </a:solidFill>
            <a:prstDash val="solid"/>
            <a:round/>
            <a:headEnd len="med" w="med" type="none"/>
            <a:tailEnd len="med" w="med" type="none"/>
          </a:ln>
        </p:spPr>
      </p:cxnSp>
      <p:cxnSp>
        <p:nvCxnSpPr>
          <p:cNvPr id="738" name="Google Shape;738;p30"/>
          <p:cNvCxnSpPr/>
          <p:nvPr/>
        </p:nvCxnSpPr>
        <p:spPr>
          <a:xfrm>
            <a:off x="9508951" y="3495040"/>
            <a:ext cx="108300" cy="471000"/>
          </a:xfrm>
          <a:prstGeom prst="straightConnector1">
            <a:avLst/>
          </a:prstGeom>
          <a:noFill/>
          <a:ln cap="flat" cmpd="sng" w="25400">
            <a:solidFill>
              <a:srgbClr val="C57335"/>
            </a:solidFill>
            <a:prstDash val="solid"/>
            <a:round/>
            <a:headEnd len="med" w="med" type="none"/>
            <a:tailEnd len="med" w="med" type="none"/>
          </a:ln>
        </p:spPr>
      </p:cxnSp>
      <p:cxnSp>
        <p:nvCxnSpPr>
          <p:cNvPr id="739" name="Google Shape;739;p30"/>
          <p:cNvCxnSpPr/>
          <p:nvPr/>
        </p:nvCxnSpPr>
        <p:spPr>
          <a:xfrm>
            <a:off x="9617110" y="3966125"/>
            <a:ext cx="108300" cy="869700"/>
          </a:xfrm>
          <a:prstGeom prst="straightConnector1">
            <a:avLst/>
          </a:prstGeom>
          <a:noFill/>
          <a:ln cap="flat" cmpd="sng" w="25400">
            <a:solidFill>
              <a:srgbClr val="C57335"/>
            </a:solidFill>
            <a:prstDash val="solid"/>
            <a:round/>
            <a:headEnd len="med" w="med" type="none"/>
            <a:tailEnd len="med" w="med" type="none"/>
          </a:ln>
        </p:spPr>
      </p:cxnSp>
      <p:cxnSp>
        <p:nvCxnSpPr>
          <p:cNvPr id="740" name="Google Shape;740;p30"/>
          <p:cNvCxnSpPr/>
          <p:nvPr/>
        </p:nvCxnSpPr>
        <p:spPr>
          <a:xfrm flipH="1" rot="10800000">
            <a:off x="9725269" y="4763221"/>
            <a:ext cx="108300" cy="72600"/>
          </a:xfrm>
          <a:prstGeom prst="straightConnector1">
            <a:avLst/>
          </a:prstGeom>
          <a:noFill/>
          <a:ln cap="flat" cmpd="sng" w="25400">
            <a:solidFill>
              <a:srgbClr val="C57335"/>
            </a:solidFill>
            <a:prstDash val="solid"/>
            <a:round/>
            <a:headEnd len="med" w="med" type="none"/>
            <a:tailEnd len="med" w="med" type="none"/>
          </a:ln>
        </p:spPr>
      </p:cxnSp>
      <p:cxnSp>
        <p:nvCxnSpPr>
          <p:cNvPr id="741" name="Google Shape;741;p30"/>
          <p:cNvCxnSpPr/>
          <p:nvPr/>
        </p:nvCxnSpPr>
        <p:spPr>
          <a:xfrm flipH="1" rot="10800000">
            <a:off x="9833429" y="4745347"/>
            <a:ext cx="108300" cy="18000"/>
          </a:xfrm>
          <a:prstGeom prst="straightConnector1">
            <a:avLst/>
          </a:prstGeom>
          <a:noFill/>
          <a:ln cap="flat" cmpd="sng" w="25400">
            <a:solidFill>
              <a:srgbClr val="C57335"/>
            </a:solidFill>
            <a:prstDash val="solid"/>
            <a:round/>
            <a:headEnd len="med" w="med" type="none"/>
            <a:tailEnd len="med" w="med" type="none"/>
          </a:ln>
        </p:spPr>
      </p:cxnSp>
      <p:cxnSp>
        <p:nvCxnSpPr>
          <p:cNvPr id="742" name="Google Shape;742;p30"/>
          <p:cNvCxnSpPr/>
          <p:nvPr/>
        </p:nvCxnSpPr>
        <p:spPr>
          <a:xfrm flipH="1" rot="10800000">
            <a:off x="9941588" y="4509728"/>
            <a:ext cx="108300" cy="235500"/>
          </a:xfrm>
          <a:prstGeom prst="straightConnector1">
            <a:avLst/>
          </a:prstGeom>
          <a:noFill/>
          <a:ln cap="flat" cmpd="sng" w="25400">
            <a:solidFill>
              <a:srgbClr val="C57335"/>
            </a:solidFill>
            <a:prstDash val="solid"/>
            <a:round/>
            <a:headEnd len="med" w="med" type="none"/>
            <a:tailEnd len="med" w="med" type="none"/>
          </a:ln>
        </p:spPr>
      </p:cxnSp>
      <p:cxnSp>
        <p:nvCxnSpPr>
          <p:cNvPr id="743" name="Google Shape;743;p30"/>
          <p:cNvCxnSpPr/>
          <p:nvPr/>
        </p:nvCxnSpPr>
        <p:spPr>
          <a:xfrm>
            <a:off x="10049747" y="4509685"/>
            <a:ext cx="108300" cy="108600"/>
          </a:xfrm>
          <a:prstGeom prst="straightConnector1">
            <a:avLst/>
          </a:prstGeom>
          <a:noFill/>
          <a:ln cap="flat" cmpd="sng" w="25400">
            <a:solidFill>
              <a:srgbClr val="C57335"/>
            </a:solidFill>
            <a:prstDash val="solid"/>
            <a:round/>
            <a:headEnd len="med" w="med" type="none"/>
            <a:tailEnd len="med" w="med" type="none"/>
          </a:ln>
        </p:spPr>
      </p:cxnSp>
      <p:cxnSp>
        <p:nvCxnSpPr>
          <p:cNvPr id="744" name="Google Shape;744;p30"/>
          <p:cNvCxnSpPr/>
          <p:nvPr/>
        </p:nvCxnSpPr>
        <p:spPr>
          <a:xfrm flipH="1" rot="10800000">
            <a:off x="10157907" y="3966197"/>
            <a:ext cx="108300" cy="652200"/>
          </a:xfrm>
          <a:prstGeom prst="straightConnector1">
            <a:avLst/>
          </a:prstGeom>
          <a:noFill/>
          <a:ln cap="flat" cmpd="sng" w="25400">
            <a:solidFill>
              <a:srgbClr val="C57335"/>
            </a:solidFill>
            <a:prstDash val="solid"/>
            <a:round/>
            <a:headEnd len="med" w="med" type="none"/>
            <a:tailEnd len="med" w="med" type="none"/>
          </a:ln>
        </p:spPr>
      </p:cxnSp>
      <p:cxnSp>
        <p:nvCxnSpPr>
          <p:cNvPr id="745" name="Google Shape;745;p30"/>
          <p:cNvCxnSpPr/>
          <p:nvPr/>
        </p:nvCxnSpPr>
        <p:spPr>
          <a:xfrm>
            <a:off x="10266066" y="3966125"/>
            <a:ext cx="108300" cy="235500"/>
          </a:xfrm>
          <a:prstGeom prst="straightConnector1">
            <a:avLst/>
          </a:prstGeom>
          <a:noFill/>
          <a:ln cap="flat" cmpd="sng" w="25400">
            <a:solidFill>
              <a:srgbClr val="C57335"/>
            </a:solidFill>
            <a:prstDash val="solid"/>
            <a:round/>
            <a:headEnd len="med" w="med" type="none"/>
            <a:tailEnd len="med" w="med" type="none"/>
          </a:ln>
        </p:spPr>
      </p:cxnSp>
      <p:cxnSp>
        <p:nvCxnSpPr>
          <p:cNvPr id="746" name="Google Shape;746;p30"/>
          <p:cNvCxnSpPr/>
          <p:nvPr/>
        </p:nvCxnSpPr>
        <p:spPr>
          <a:xfrm flipH="1" rot="10800000">
            <a:off x="10374225" y="3458868"/>
            <a:ext cx="108300" cy="742800"/>
          </a:xfrm>
          <a:prstGeom prst="straightConnector1">
            <a:avLst/>
          </a:prstGeom>
          <a:noFill/>
          <a:ln cap="flat" cmpd="sng" w="25400">
            <a:solidFill>
              <a:srgbClr val="C57335"/>
            </a:solidFill>
            <a:prstDash val="solid"/>
            <a:round/>
            <a:headEnd len="med" w="med" type="none"/>
            <a:tailEnd len="med" w="med" type="none"/>
          </a:ln>
        </p:spPr>
      </p:cxnSp>
      <p:cxnSp>
        <p:nvCxnSpPr>
          <p:cNvPr id="747" name="Google Shape;747;p30"/>
          <p:cNvCxnSpPr/>
          <p:nvPr/>
        </p:nvCxnSpPr>
        <p:spPr>
          <a:xfrm>
            <a:off x="10482385" y="3458803"/>
            <a:ext cx="108300" cy="634200"/>
          </a:xfrm>
          <a:prstGeom prst="straightConnector1">
            <a:avLst/>
          </a:prstGeom>
          <a:noFill/>
          <a:ln cap="flat" cmpd="sng" w="25400">
            <a:solidFill>
              <a:srgbClr val="C57335"/>
            </a:solidFill>
            <a:prstDash val="solid"/>
            <a:round/>
            <a:headEnd len="med" w="med" type="none"/>
            <a:tailEnd len="med" w="med" type="none"/>
          </a:ln>
        </p:spPr>
      </p:cxnSp>
      <p:cxnSp>
        <p:nvCxnSpPr>
          <p:cNvPr id="748" name="Google Shape;748;p30"/>
          <p:cNvCxnSpPr/>
          <p:nvPr/>
        </p:nvCxnSpPr>
        <p:spPr>
          <a:xfrm flipH="1" rot="10800000">
            <a:off x="10590544" y="3857456"/>
            <a:ext cx="108300" cy="235500"/>
          </a:xfrm>
          <a:prstGeom prst="straightConnector1">
            <a:avLst/>
          </a:prstGeom>
          <a:noFill/>
          <a:ln cap="flat" cmpd="sng" w="25400">
            <a:solidFill>
              <a:srgbClr val="C57335"/>
            </a:solidFill>
            <a:prstDash val="solid"/>
            <a:round/>
            <a:headEnd len="med" w="med" type="none"/>
            <a:tailEnd len="med" w="med" type="none"/>
          </a:ln>
        </p:spPr>
      </p:cxnSp>
      <p:cxnSp>
        <p:nvCxnSpPr>
          <p:cNvPr id="749" name="Google Shape;749;p30"/>
          <p:cNvCxnSpPr/>
          <p:nvPr/>
        </p:nvCxnSpPr>
        <p:spPr>
          <a:xfrm>
            <a:off x="10698703" y="3857413"/>
            <a:ext cx="108300" cy="543600"/>
          </a:xfrm>
          <a:prstGeom prst="straightConnector1">
            <a:avLst/>
          </a:prstGeom>
          <a:noFill/>
          <a:ln cap="flat" cmpd="sng" w="25400">
            <a:solidFill>
              <a:srgbClr val="C57335"/>
            </a:solidFill>
            <a:prstDash val="solid"/>
            <a:round/>
            <a:headEnd len="med" w="med" type="none"/>
            <a:tailEnd len="med" w="med" type="none"/>
          </a:ln>
        </p:spPr>
      </p:cxnSp>
      <p:cxnSp>
        <p:nvCxnSpPr>
          <p:cNvPr id="750" name="Google Shape;750;p30"/>
          <p:cNvCxnSpPr/>
          <p:nvPr/>
        </p:nvCxnSpPr>
        <p:spPr>
          <a:xfrm flipH="1" rot="10800000">
            <a:off x="10806863" y="4201773"/>
            <a:ext cx="108300" cy="199200"/>
          </a:xfrm>
          <a:prstGeom prst="straightConnector1">
            <a:avLst/>
          </a:prstGeom>
          <a:noFill/>
          <a:ln cap="flat" cmpd="sng" w="25400">
            <a:solidFill>
              <a:srgbClr val="C57335"/>
            </a:solidFill>
            <a:prstDash val="solid"/>
            <a:round/>
            <a:headEnd len="med" w="med" type="none"/>
            <a:tailEnd len="med" w="med" type="none"/>
          </a:ln>
        </p:spPr>
      </p:cxnSp>
      <p:cxnSp>
        <p:nvCxnSpPr>
          <p:cNvPr id="751" name="Google Shape;751;p30"/>
          <p:cNvCxnSpPr/>
          <p:nvPr/>
        </p:nvCxnSpPr>
        <p:spPr>
          <a:xfrm flipH="1" rot="10800000">
            <a:off x="10915022" y="4111068"/>
            <a:ext cx="108300" cy="90600"/>
          </a:xfrm>
          <a:prstGeom prst="straightConnector1">
            <a:avLst/>
          </a:prstGeom>
          <a:noFill/>
          <a:ln cap="flat" cmpd="sng" w="25400">
            <a:solidFill>
              <a:srgbClr val="C57335"/>
            </a:solidFill>
            <a:prstDash val="solid"/>
            <a:round/>
            <a:headEnd len="med" w="med" type="none"/>
            <a:tailEnd len="med" w="med" type="none"/>
          </a:ln>
        </p:spPr>
      </p:cxnSp>
      <p:cxnSp>
        <p:nvCxnSpPr>
          <p:cNvPr id="752" name="Google Shape;752;p30"/>
          <p:cNvCxnSpPr/>
          <p:nvPr/>
        </p:nvCxnSpPr>
        <p:spPr>
          <a:xfrm>
            <a:off x="11023181" y="4111075"/>
            <a:ext cx="108300" cy="72600"/>
          </a:xfrm>
          <a:prstGeom prst="straightConnector1">
            <a:avLst/>
          </a:prstGeom>
          <a:noFill/>
          <a:ln cap="flat" cmpd="sng" w="25400">
            <a:solidFill>
              <a:srgbClr val="C57335"/>
            </a:solidFill>
            <a:prstDash val="solid"/>
            <a:round/>
            <a:headEnd len="med" w="med" type="none"/>
            <a:tailEnd len="med" w="med" type="none"/>
          </a:ln>
        </p:spPr>
      </p:cxnSp>
      <p:cxnSp>
        <p:nvCxnSpPr>
          <p:cNvPr id="753" name="Google Shape;753;p30"/>
          <p:cNvCxnSpPr/>
          <p:nvPr/>
        </p:nvCxnSpPr>
        <p:spPr>
          <a:xfrm>
            <a:off x="11131341" y="4183549"/>
            <a:ext cx="108300" cy="217500"/>
          </a:xfrm>
          <a:prstGeom prst="straightConnector1">
            <a:avLst/>
          </a:prstGeom>
          <a:noFill/>
          <a:ln cap="flat" cmpd="sng" w="25400">
            <a:solidFill>
              <a:srgbClr val="C57335"/>
            </a:solidFill>
            <a:prstDash val="solid"/>
            <a:round/>
            <a:headEnd len="med" w="med" type="none"/>
            <a:tailEnd len="med" w="med" type="none"/>
          </a:ln>
        </p:spPr>
      </p:cxnSp>
      <p:cxnSp>
        <p:nvCxnSpPr>
          <p:cNvPr id="754" name="Google Shape;754;p30"/>
          <p:cNvCxnSpPr/>
          <p:nvPr/>
        </p:nvCxnSpPr>
        <p:spPr>
          <a:xfrm flipH="1" rot="10800000">
            <a:off x="1397000" y="5288900"/>
            <a:ext cx="108300" cy="108600"/>
          </a:xfrm>
          <a:prstGeom prst="straightConnector1">
            <a:avLst/>
          </a:prstGeom>
          <a:noFill/>
          <a:ln cap="flat" cmpd="sng" w="25400">
            <a:solidFill>
              <a:srgbClr val="167D8D"/>
            </a:solidFill>
            <a:prstDash val="solid"/>
            <a:round/>
            <a:headEnd len="med" w="med" type="none"/>
            <a:tailEnd len="med" w="med" type="none"/>
          </a:ln>
        </p:spPr>
      </p:cxnSp>
      <p:cxnSp>
        <p:nvCxnSpPr>
          <p:cNvPr id="755" name="Google Shape;755;p30"/>
          <p:cNvCxnSpPr/>
          <p:nvPr/>
        </p:nvCxnSpPr>
        <p:spPr>
          <a:xfrm flipH="1" rot="10800000">
            <a:off x="1505159" y="5016988"/>
            <a:ext cx="108300" cy="271800"/>
          </a:xfrm>
          <a:prstGeom prst="straightConnector1">
            <a:avLst/>
          </a:prstGeom>
          <a:noFill/>
          <a:ln cap="flat" cmpd="sng" w="25400">
            <a:solidFill>
              <a:srgbClr val="167D8D"/>
            </a:solidFill>
            <a:prstDash val="solid"/>
            <a:round/>
            <a:headEnd len="med" w="med" type="none"/>
            <a:tailEnd len="med" w="med" type="none"/>
          </a:ln>
        </p:spPr>
      </p:cxnSp>
      <p:cxnSp>
        <p:nvCxnSpPr>
          <p:cNvPr id="756" name="Google Shape;756;p30"/>
          <p:cNvCxnSpPr/>
          <p:nvPr/>
        </p:nvCxnSpPr>
        <p:spPr>
          <a:xfrm>
            <a:off x="1613319" y="5017008"/>
            <a:ext cx="108300" cy="90600"/>
          </a:xfrm>
          <a:prstGeom prst="straightConnector1">
            <a:avLst/>
          </a:prstGeom>
          <a:noFill/>
          <a:ln cap="flat" cmpd="sng" w="25400">
            <a:solidFill>
              <a:srgbClr val="167D8D"/>
            </a:solidFill>
            <a:prstDash val="solid"/>
            <a:round/>
            <a:headEnd len="med" w="med" type="none"/>
            <a:tailEnd len="med" w="med" type="none"/>
          </a:ln>
        </p:spPr>
      </p:cxnSp>
      <p:cxnSp>
        <p:nvCxnSpPr>
          <p:cNvPr id="757" name="Google Shape;757;p30"/>
          <p:cNvCxnSpPr/>
          <p:nvPr/>
        </p:nvCxnSpPr>
        <p:spPr>
          <a:xfrm flipH="1" rot="10800000">
            <a:off x="1721478" y="4926401"/>
            <a:ext cx="108300" cy="181200"/>
          </a:xfrm>
          <a:prstGeom prst="straightConnector1">
            <a:avLst/>
          </a:prstGeom>
          <a:noFill/>
          <a:ln cap="flat" cmpd="sng" w="25400">
            <a:solidFill>
              <a:srgbClr val="167D8D"/>
            </a:solidFill>
            <a:prstDash val="solid"/>
            <a:round/>
            <a:headEnd len="med" w="med" type="none"/>
            <a:tailEnd len="med" w="med" type="none"/>
          </a:ln>
        </p:spPr>
      </p:cxnSp>
      <p:cxnSp>
        <p:nvCxnSpPr>
          <p:cNvPr id="758" name="Google Shape;758;p30"/>
          <p:cNvCxnSpPr/>
          <p:nvPr/>
        </p:nvCxnSpPr>
        <p:spPr>
          <a:xfrm>
            <a:off x="1829637" y="4926415"/>
            <a:ext cx="108300" cy="18000"/>
          </a:xfrm>
          <a:prstGeom prst="straightConnector1">
            <a:avLst/>
          </a:prstGeom>
          <a:noFill/>
          <a:ln cap="flat" cmpd="sng" w="25400">
            <a:solidFill>
              <a:srgbClr val="167D8D"/>
            </a:solidFill>
            <a:prstDash val="solid"/>
            <a:round/>
            <a:headEnd len="med" w="med" type="none"/>
            <a:tailEnd len="med" w="med" type="none"/>
          </a:ln>
        </p:spPr>
      </p:cxnSp>
      <p:cxnSp>
        <p:nvCxnSpPr>
          <p:cNvPr id="759" name="Google Shape;759;p30"/>
          <p:cNvCxnSpPr/>
          <p:nvPr/>
        </p:nvCxnSpPr>
        <p:spPr>
          <a:xfrm>
            <a:off x="1937797" y="4944533"/>
            <a:ext cx="108300" cy="308100"/>
          </a:xfrm>
          <a:prstGeom prst="straightConnector1">
            <a:avLst/>
          </a:prstGeom>
          <a:noFill/>
          <a:ln cap="flat" cmpd="sng" w="25400">
            <a:solidFill>
              <a:srgbClr val="167D8D"/>
            </a:solidFill>
            <a:prstDash val="solid"/>
            <a:round/>
            <a:headEnd len="med" w="med" type="none"/>
            <a:tailEnd len="med" w="med" type="none"/>
          </a:ln>
        </p:spPr>
      </p:cxnSp>
      <p:cxnSp>
        <p:nvCxnSpPr>
          <p:cNvPr id="760" name="Google Shape;760;p30"/>
          <p:cNvCxnSpPr/>
          <p:nvPr/>
        </p:nvCxnSpPr>
        <p:spPr>
          <a:xfrm flipH="1" rot="10800000">
            <a:off x="2045956" y="4908151"/>
            <a:ext cx="108300" cy="344400"/>
          </a:xfrm>
          <a:prstGeom prst="straightConnector1">
            <a:avLst/>
          </a:prstGeom>
          <a:noFill/>
          <a:ln cap="flat" cmpd="sng" w="25400">
            <a:solidFill>
              <a:srgbClr val="167D8D"/>
            </a:solidFill>
            <a:prstDash val="solid"/>
            <a:round/>
            <a:headEnd len="med" w="med" type="none"/>
            <a:tailEnd len="med" w="med" type="none"/>
          </a:ln>
        </p:spPr>
      </p:cxnSp>
      <p:cxnSp>
        <p:nvCxnSpPr>
          <p:cNvPr id="761" name="Google Shape;761;p30"/>
          <p:cNvCxnSpPr/>
          <p:nvPr/>
        </p:nvCxnSpPr>
        <p:spPr>
          <a:xfrm>
            <a:off x="2154115" y="4908296"/>
            <a:ext cx="108300" cy="18000"/>
          </a:xfrm>
          <a:prstGeom prst="straightConnector1">
            <a:avLst/>
          </a:prstGeom>
          <a:noFill/>
          <a:ln cap="flat" cmpd="sng" w="25400">
            <a:solidFill>
              <a:srgbClr val="167D8D"/>
            </a:solidFill>
            <a:prstDash val="solid"/>
            <a:round/>
            <a:headEnd len="med" w="med" type="none"/>
            <a:tailEnd len="med" w="med" type="none"/>
          </a:ln>
        </p:spPr>
      </p:cxnSp>
      <p:cxnSp>
        <p:nvCxnSpPr>
          <p:cNvPr id="762" name="Google Shape;762;p30"/>
          <p:cNvCxnSpPr/>
          <p:nvPr/>
        </p:nvCxnSpPr>
        <p:spPr>
          <a:xfrm flipH="1" rot="10800000">
            <a:off x="2262275" y="4817815"/>
            <a:ext cx="108300" cy="108600"/>
          </a:xfrm>
          <a:prstGeom prst="straightConnector1">
            <a:avLst/>
          </a:prstGeom>
          <a:noFill/>
          <a:ln cap="flat" cmpd="sng" w="25400">
            <a:solidFill>
              <a:srgbClr val="167D8D"/>
            </a:solidFill>
            <a:prstDash val="solid"/>
            <a:round/>
            <a:headEnd len="med" w="med" type="none"/>
            <a:tailEnd len="med" w="med" type="none"/>
          </a:ln>
        </p:spPr>
      </p:cxnSp>
      <p:cxnSp>
        <p:nvCxnSpPr>
          <p:cNvPr id="763" name="Google Shape;763;p30"/>
          <p:cNvCxnSpPr/>
          <p:nvPr/>
        </p:nvCxnSpPr>
        <p:spPr>
          <a:xfrm>
            <a:off x="2370434" y="4817703"/>
            <a:ext cx="108300" cy="362400"/>
          </a:xfrm>
          <a:prstGeom prst="straightConnector1">
            <a:avLst/>
          </a:prstGeom>
          <a:noFill/>
          <a:ln cap="flat" cmpd="sng" w="25400">
            <a:solidFill>
              <a:srgbClr val="167D8D"/>
            </a:solidFill>
            <a:prstDash val="solid"/>
            <a:round/>
            <a:headEnd len="med" w="med" type="none"/>
            <a:tailEnd len="med" w="med" type="none"/>
          </a:ln>
        </p:spPr>
      </p:cxnSp>
      <p:cxnSp>
        <p:nvCxnSpPr>
          <p:cNvPr id="764" name="Google Shape;764;p30"/>
          <p:cNvCxnSpPr/>
          <p:nvPr/>
        </p:nvCxnSpPr>
        <p:spPr>
          <a:xfrm flipH="1" rot="10800000">
            <a:off x="2478593" y="4962576"/>
            <a:ext cx="108300" cy="217500"/>
          </a:xfrm>
          <a:prstGeom prst="straightConnector1">
            <a:avLst/>
          </a:prstGeom>
          <a:noFill/>
          <a:ln cap="flat" cmpd="sng" w="25400">
            <a:solidFill>
              <a:srgbClr val="167D8D"/>
            </a:solidFill>
            <a:prstDash val="solid"/>
            <a:round/>
            <a:headEnd len="med" w="med" type="none"/>
            <a:tailEnd len="med" w="med" type="none"/>
          </a:ln>
        </p:spPr>
      </p:cxnSp>
      <p:cxnSp>
        <p:nvCxnSpPr>
          <p:cNvPr id="765" name="Google Shape;765;p30"/>
          <p:cNvCxnSpPr/>
          <p:nvPr/>
        </p:nvCxnSpPr>
        <p:spPr>
          <a:xfrm>
            <a:off x="2586753" y="4962652"/>
            <a:ext cx="108300" cy="253800"/>
          </a:xfrm>
          <a:prstGeom prst="straightConnector1">
            <a:avLst/>
          </a:prstGeom>
          <a:noFill/>
          <a:ln cap="flat" cmpd="sng" w="25400">
            <a:solidFill>
              <a:srgbClr val="167D8D"/>
            </a:solidFill>
            <a:prstDash val="solid"/>
            <a:round/>
            <a:headEnd len="med" w="med" type="none"/>
            <a:tailEnd len="med" w="med" type="none"/>
          </a:ln>
        </p:spPr>
      </p:cxnSp>
      <p:cxnSp>
        <p:nvCxnSpPr>
          <p:cNvPr id="766" name="Google Shape;766;p30"/>
          <p:cNvCxnSpPr/>
          <p:nvPr/>
        </p:nvCxnSpPr>
        <p:spPr>
          <a:xfrm flipH="1" rot="10800000">
            <a:off x="2694912" y="5017113"/>
            <a:ext cx="108300" cy="199200"/>
          </a:xfrm>
          <a:prstGeom prst="straightConnector1">
            <a:avLst/>
          </a:prstGeom>
          <a:noFill/>
          <a:ln cap="flat" cmpd="sng" w="25400">
            <a:solidFill>
              <a:srgbClr val="167D8D"/>
            </a:solidFill>
            <a:prstDash val="solid"/>
            <a:round/>
            <a:headEnd len="med" w="med" type="none"/>
            <a:tailEnd len="med" w="med" type="none"/>
          </a:ln>
        </p:spPr>
      </p:cxnSp>
      <p:cxnSp>
        <p:nvCxnSpPr>
          <p:cNvPr id="767" name="Google Shape;767;p30"/>
          <p:cNvCxnSpPr/>
          <p:nvPr/>
        </p:nvCxnSpPr>
        <p:spPr>
          <a:xfrm flipH="1" rot="10800000">
            <a:off x="2803071" y="4944408"/>
            <a:ext cx="108300" cy="72600"/>
          </a:xfrm>
          <a:prstGeom prst="straightConnector1">
            <a:avLst/>
          </a:prstGeom>
          <a:noFill/>
          <a:ln cap="flat" cmpd="sng" w="25400">
            <a:solidFill>
              <a:srgbClr val="167D8D"/>
            </a:solidFill>
            <a:prstDash val="solid"/>
            <a:round/>
            <a:headEnd len="med" w="med" type="none"/>
            <a:tailEnd len="med" w="med" type="none"/>
          </a:ln>
        </p:spPr>
      </p:cxnSp>
      <p:cxnSp>
        <p:nvCxnSpPr>
          <p:cNvPr id="768" name="Google Shape;768;p30"/>
          <p:cNvCxnSpPr/>
          <p:nvPr/>
        </p:nvCxnSpPr>
        <p:spPr>
          <a:xfrm>
            <a:off x="2911231" y="4944533"/>
            <a:ext cx="108300" cy="253800"/>
          </a:xfrm>
          <a:prstGeom prst="straightConnector1">
            <a:avLst/>
          </a:prstGeom>
          <a:noFill/>
          <a:ln cap="flat" cmpd="sng" w="25400">
            <a:solidFill>
              <a:srgbClr val="167D8D"/>
            </a:solidFill>
            <a:prstDash val="solid"/>
            <a:round/>
            <a:headEnd len="med" w="med" type="none"/>
            <a:tailEnd len="med" w="med" type="none"/>
          </a:ln>
        </p:spPr>
      </p:cxnSp>
      <p:cxnSp>
        <p:nvCxnSpPr>
          <p:cNvPr id="769" name="Google Shape;769;p30"/>
          <p:cNvCxnSpPr/>
          <p:nvPr/>
        </p:nvCxnSpPr>
        <p:spPr>
          <a:xfrm flipH="1" rot="10800000">
            <a:off x="3019390" y="5089595"/>
            <a:ext cx="108300" cy="108600"/>
          </a:xfrm>
          <a:prstGeom prst="straightConnector1">
            <a:avLst/>
          </a:prstGeom>
          <a:noFill/>
          <a:ln cap="flat" cmpd="sng" w="25400">
            <a:solidFill>
              <a:srgbClr val="167D8D"/>
            </a:solidFill>
            <a:prstDash val="solid"/>
            <a:round/>
            <a:headEnd len="med" w="med" type="none"/>
            <a:tailEnd len="med" w="med" type="none"/>
          </a:ln>
        </p:spPr>
      </p:cxnSp>
      <p:cxnSp>
        <p:nvCxnSpPr>
          <p:cNvPr id="770" name="Google Shape;770;p30"/>
          <p:cNvCxnSpPr/>
          <p:nvPr/>
        </p:nvCxnSpPr>
        <p:spPr>
          <a:xfrm>
            <a:off x="3127549" y="5089483"/>
            <a:ext cx="108300" cy="235500"/>
          </a:xfrm>
          <a:prstGeom prst="straightConnector1">
            <a:avLst/>
          </a:prstGeom>
          <a:noFill/>
          <a:ln cap="flat" cmpd="sng" w="25400">
            <a:solidFill>
              <a:srgbClr val="167D8D"/>
            </a:solidFill>
            <a:prstDash val="solid"/>
            <a:round/>
            <a:headEnd len="med" w="med" type="none"/>
            <a:tailEnd len="med" w="med" type="none"/>
          </a:ln>
        </p:spPr>
      </p:cxnSp>
      <p:cxnSp>
        <p:nvCxnSpPr>
          <p:cNvPr id="771" name="Google Shape;771;p30"/>
          <p:cNvCxnSpPr/>
          <p:nvPr/>
        </p:nvCxnSpPr>
        <p:spPr>
          <a:xfrm flipH="1" rot="10800000">
            <a:off x="3235709" y="4890325"/>
            <a:ext cx="108300" cy="434700"/>
          </a:xfrm>
          <a:prstGeom prst="straightConnector1">
            <a:avLst/>
          </a:prstGeom>
          <a:noFill/>
          <a:ln cap="flat" cmpd="sng" w="25400">
            <a:solidFill>
              <a:srgbClr val="167D8D"/>
            </a:solidFill>
            <a:prstDash val="solid"/>
            <a:round/>
            <a:headEnd len="med" w="med" type="none"/>
            <a:tailEnd len="med" w="med" type="none"/>
          </a:ln>
        </p:spPr>
      </p:cxnSp>
      <p:cxnSp>
        <p:nvCxnSpPr>
          <p:cNvPr id="772" name="Google Shape;772;p30"/>
          <p:cNvCxnSpPr/>
          <p:nvPr/>
        </p:nvCxnSpPr>
        <p:spPr>
          <a:xfrm flipH="1" rot="10800000">
            <a:off x="3343868" y="4872177"/>
            <a:ext cx="108300" cy="18000"/>
          </a:xfrm>
          <a:prstGeom prst="straightConnector1">
            <a:avLst/>
          </a:prstGeom>
          <a:noFill/>
          <a:ln cap="flat" cmpd="sng" w="25400">
            <a:solidFill>
              <a:srgbClr val="167D8D"/>
            </a:solidFill>
            <a:prstDash val="solid"/>
            <a:round/>
            <a:headEnd len="med" w="med" type="none"/>
            <a:tailEnd len="med" w="med" type="none"/>
          </a:ln>
        </p:spPr>
      </p:cxnSp>
      <p:cxnSp>
        <p:nvCxnSpPr>
          <p:cNvPr id="773" name="Google Shape;773;p30"/>
          <p:cNvCxnSpPr/>
          <p:nvPr/>
        </p:nvCxnSpPr>
        <p:spPr>
          <a:xfrm flipH="1" rot="10800000">
            <a:off x="3452027" y="4201559"/>
            <a:ext cx="108300" cy="670500"/>
          </a:xfrm>
          <a:prstGeom prst="straightConnector1">
            <a:avLst/>
          </a:prstGeom>
          <a:noFill/>
          <a:ln cap="flat" cmpd="sng" w="25400">
            <a:solidFill>
              <a:srgbClr val="167D8D"/>
            </a:solidFill>
            <a:prstDash val="solid"/>
            <a:round/>
            <a:headEnd len="med" w="med" type="none"/>
            <a:tailEnd len="med" w="med" type="none"/>
          </a:ln>
        </p:spPr>
      </p:cxnSp>
      <p:cxnSp>
        <p:nvCxnSpPr>
          <p:cNvPr id="774" name="Google Shape;774;p30"/>
          <p:cNvCxnSpPr/>
          <p:nvPr/>
        </p:nvCxnSpPr>
        <p:spPr>
          <a:xfrm>
            <a:off x="3560187" y="4201668"/>
            <a:ext cx="108300" cy="344400"/>
          </a:xfrm>
          <a:prstGeom prst="straightConnector1">
            <a:avLst/>
          </a:prstGeom>
          <a:noFill/>
          <a:ln cap="flat" cmpd="sng" w="25400">
            <a:solidFill>
              <a:srgbClr val="167D8D"/>
            </a:solidFill>
            <a:prstDash val="solid"/>
            <a:round/>
            <a:headEnd len="med" w="med" type="none"/>
            <a:tailEnd len="med" w="med" type="none"/>
          </a:ln>
        </p:spPr>
      </p:cxnSp>
      <p:cxnSp>
        <p:nvCxnSpPr>
          <p:cNvPr id="775" name="Google Shape;775;p30"/>
          <p:cNvCxnSpPr/>
          <p:nvPr/>
        </p:nvCxnSpPr>
        <p:spPr>
          <a:xfrm>
            <a:off x="3668346" y="4545923"/>
            <a:ext cx="108300" cy="181200"/>
          </a:xfrm>
          <a:prstGeom prst="straightConnector1">
            <a:avLst/>
          </a:prstGeom>
          <a:noFill/>
          <a:ln cap="flat" cmpd="sng" w="25400">
            <a:solidFill>
              <a:srgbClr val="167D8D"/>
            </a:solidFill>
            <a:prstDash val="solid"/>
            <a:round/>
            <a:headEnd len="med" w="med" type="none"/>
            <a:tailEnd len="med" w="med" type="none"/>
          </a:ln>
        </p:spPr>
      </p:cxnSp>
      <p:cxnSp>
        <p:nvCxnSpPr>
          <p:cNvPr id="776" name="Google Shape;776;p30"/>
          <p:cNvCxnSpPr/>
          <p:nvPr/>
        </p:nvCxnSpPr>
        <p:spPr>
          <a:xfrm>
            <a:off x="3776505" y="4727109"/>
            <a:ext cx="108300" cy="398700"/>
          </a:xfrm>
          <a:prstGeom prst="straightConnector1">
            <a:avLst/>
          </a:prstGeom>
          <a:noFill/>
          <a:ln cap="flat" cmpd="sng" w="25400">
            <a:solidFill>
              <a:srgbClr val="167D8D"/>
            </a:solidFill>
            <a:prstDash val="solid"/>
            <a:round/>
            <a:headEnd len="med" w="med" type="none"/>
            <a:tailEnd len="med" w="med" type="none"/>
          </a:ln>
        </p:spPr>
      </p:cxnSp>
      <p:cxnSp>
        <p:nvCxnSpPr>
          <p:cNvPr id="777" name="Google Shape;777;p30"/>
          <p:cNvCxnSpPr/>
          <p:nvPr/>
        </p:nvCxnSpPr>
        <p:spPr>
          <a:xfrm flipH="1" rot="10800000">
            <a:off x="3884665" y="5107720"/>
            <a:ext cx="108300" cy="18000"/>
          </a:xfrm>
          <a:prstGeom prst="straightConnector1">
            <a:avLst/>
          </a:prstGeom>
          <a:noFill/>
          <a:ln cap="flat" cmpd="sng" w="25400">
            <a:solidFill>
              <a:srgbClr val="167D8D"/>
            </a:solidFill>
            <a:prstDash val="solid"/>
            <a:round/>
            <a:headEnd len="med" w="med" type="none"/>
            <a:tailEnd len="med" w="med" type="none"/>
          </a:ln>
        </p:spPr>
      </p:cxnSp>
      <p:cxnSp>
        <p:nvCxnSpPr>
          <p:cNvPr id="778" name="Google Shape;778;p30"/>
          <p:cNvCxnSpPr/>
          <p:nvPr/>
        </p:nvCxnSpPr>
        <p:spPr>
          <a:xfrm flipH="1" rot="10800000">
            <a:off x="3992824" y="4582301"/>
            <a:ext cx="108300" cy="525300"/>
          </a:xfrm>
          <a:prstGeom prst="straightConnector1">
            <a:avLst/>
          </a:prstGeom>
          <a:noFill/>
          <a:ln cap="flat" cmpd="sng" w="25400">
            <a:solidFill>
              <a:srgbClr val="167D8D"/>
            </a:solidFill>
            <a:prstDash val="solid"/>
            <a:round/>
            <a:headEnd len="med" w="med" type="none"/>
            <a:tailEnd len="med" w="med" type="none"/>
          </a:ln>
        </p:spPr>
      </p:cxnSp>
      <p:cxnSp>
        <p:nvCxnSpPr>
          <p:cNvPr id="779" name="Google Shape;779;p30"/>
          <p:cNvCxnSpPr/>
          <p:nvPr/>
        </p:nvCxnSpPr>
        <p:spPr>
          <a:xfrm flipH="1" rot="10800000">
            <a:off x="4100984" y="4364660"/>
            <a:ext cx="108300" cy="217500"/>
          </a:xfrm>
          <a:prstGeom prst="straightConnector1">
            <a:avLst/>
          </a:prstGeom>
          <a:noFill/>
          <a:ln cap="flat" cmpd="sng" w="25400">
            <a:solidFill>
              <a:srgbClr val="167D8D"/>
            </a:solidFill>
            <a:prstDash val="solid"/>
            <a:round/>
            <a:headEnd len="med" w="med" type="none"/>
            <a:tailEnd len="med" w="med" type="none"/>
          </a:ln>
        </p:spPr>
      </p:cxnSp>
      <p:cxnSp>
        <p:nvCxnSpPr>
          <p:cNvPr id="780" name="Google Shape;780;p30"/>
          <p:cNvCxnSpPr/>
          <p:nvPr/>
        </p:nvCxnSpPr>
        <p:spPr>
          <a:xfrm>
            <a:off x="4209143" y="4364736"/>
            <a:ext cx="108300" cy="217500"/>
          </a:xfrm>
          <a:prstGeom prst="straightConnector1">
            <a:avLst/>
          </a:prstGeom>
          <a:noFill/>
          <a:ln cap="flat" cmpd="sng" w="25400">
            <a:solidFill>
              <a:srgbClr val="167D8D"/>
            </a:solidFill>
            <a:prstDash val="solid"/>
            <a:round/>
            <a:headEnd len="med" w="med" type="none"/>
            <a:tailEnd len="med" w="med" type="none"/>
          </a:ln>
        </p:spPr>
      </p:cxnSp>
      <p:cxnSp>
        <p:nvCxnSpPr>
          <p:cNvPr id="781" name="Google Shape;781;p30"/>
          <p:cNvCxnSpPr/>
          <p:nvPr/>
        </p:nvCxnSpPr>
        <p:spPr>
          <a:xfrm>
            <a:off x="4317302" y="4582160"/>
            <a:ext cx="108300" cy="18000"/>
          </a:xfrm>
          <a:prstGeom prst="straightConnector1">
            <a:avLst/>
          </a:prstGeom>
          <a:noFill/>
          <a:ln cap="flat" cmpd="sng" w="25400">
            <a:solidFill>
              <a:srgbClr val="167D8D"/>
            </a:solidFill>
            <a:prstDash val="solid"/>
            <a:round/>
            <a:headEnd len="med" w="med" type="none"/>
            <a:tailEnd len="med" w="med" type="none"/>
          </a:ln>
        </p:spPr>
      </p:cxnSp>
      <p:cxnSp>
        <p:nvCxnSpPr>
          <p:cNvPr id="782" name="Google Shape;782;p30"/>
          <p:cNvCxnSpPr/>
          <p:nvPr/>
        </p:nvCxnSpPr>
        <p:spPr>
          <a:xfrm>
            <a:off x="4425462" y="4600279"/>
            <a:ext cx="108300" cy="217500"/>
          </a:xfrm>
          <a:prstGeom prst="straightConnector1">
            <a:avLst/>
          </a:prstGeom>
          <a:noFill/>
          <a:ln cap="flat" cmpd="sng" w="25400">
            <a:solidFill>
              <a:srgbClr val="167D8D"/>
            </a:solidFill>
            <a:prstDash val="solid"/>
            <a:round/>
            <a:headEnd len="med" w="med" type="none"/>
            <a:tailEnd len="med" w="med" type="none"/>
          </a:ln>
        </p:spPr>
      </p:cxnSp>
      <p:cxnSp>
        <p:nvCxnSpPr>
          <p:cNvPr id="783" name="Google Shape;783;p30"/>
          <p:cNvCxnSpPr/>
          <p:nvPr/>
        </p:nvCxnSpPr>
        <p:spPr>
          <a:xfrm flipH="1" rot="10800000">
            <a:off x="4533621" y="4274103"/>
            <a:ext cx="108300" cy="543600"/>
          </a:xfrm>
          <a:prstGeom prst="straightConnector1">
            <a:avLst/>
          </a:prstGeom>
          <a:noFill/>
          <a:ln cap="flat" cmpd="sng" w="25400">
            <a:solidFill>
              <a:srgbClr val="167D8D"/>
            </a:solidFill>
            <a:prstDash val="solid"/>
            <a:round/>
            <a:headEnd len="med" w="med" type="none"/>
            <a:tailEnd len="med" w="med" type="none"/>
          </a:ln>
        </p:spPr>
      </p:cxnSp>
      <p:cxnSp>
        <p:nvCxnSpPr>
          <p:cNvPr id="784" name="Google Shape;784;p30"/>
          <p:cNvCxnSpPr/>
          <p:nvPr/>
        </p:nvCxnSpPr>
        <p:spPr>
          <a:xfrm>
            <a:off x="4641780" y="4274143"/>
            <a:ext cx="108300" cy="597900"/>
          </a:xfrm>
          <a:prstGeom prst="straightConnector1">
            <a:avLst/>
          </a:prstGeom>
          <a:noFill/>
          <a:ln cap="flat" cmpd="sng" w="25400">
            <a:solidFill>
              <a:srgbClr val="167D8D"/>
            </a:solidFill>
            <a:prstDash val="solid"/>
            <a:round/>
            <a:headEnd len="med" w="med" type="none"/>
            <a:tailEnd len="med" w="med" type="none"/>
          </a:ln>
        </p:spPr>
      </p:cxnSp>
      <p:cxnSp>
        <p:nvCxnSpPr>
          <p:cNvPr id="785" name="Google Shape;785;p30"/>
          <p:cNvCxnSpPr/>
          <p:nvPr/>
        </p:nvCxnSpPr>
        <p:spPr>
          <a:xfrm>
            <a:off x="4749940" y="4872059"/>
            <a:ext cx="108300" cy="253800"/>
          </a:xfrm>
          <a:prstGeom prst="straightConnector1">
            <a:avLst/>
          </a:prstGeom>
          <a:noFill/>
          <a:ln cap="flat" cmpd="sng" w="25400">
            <a:solidFill>
              <a:srgbClr val="167D8D"/>
            </a:solidFill>
            <a:prstDash val="solid"/>
            <a:round/>
            <a:headEnd len="med" w="med" type="none"/>
            <a:tailEnd len="med" w="med" type="none"/>
          </a:ln>
        </p:spPr>
      </p:cxnSp>
      <p:cxnSp>
        <p:nvCxnSpPr>
          <p:cNvPr id="786" name="Google Shape;786;p30"/>
          <p:cNvCxnSpPr/>
          <p:nvPr/>
        </p:nvCxnSpPr>
        <p:spPr>
          <a:xfrm>
            <a:off x="4858099" y="5125720"/>
            <a:ext cx="108300" cy="90600"/>
          </a:xfrm>
          <a:prstGeom prst="straightConnector1">
            <a:avLst/>
          </a:prstGeom>
          <a:noFill/>
          <a:ln cap="flat" cmpd="sng" w="25400">
            <a:solidFill>
              <a:srgbClr val="167D8D"/>
            </a:solidFill>
            <a:prstDash val="solid"/>
            <a:round/>
            <a:headEnd len="med" w="med" type="none"/>
            <a:tailEnd len="med" w="med" type="none"/>
          </a:ln>
        </p:spPr>
      </p:cxnSp>
      <p:cxnSp>
        <p:nvCxnSpPr>
          <p:cNvPr id="787" name="Google Shape;787;p30"/>
          <p:cNvCxnSpPr/>
          <p:nvPr/>
        </p:nvCxnSpPr>
        <p:spPr>
          <a:xfrm flipH="1" rot="10800000">
            <a:off x="4966258" y="4799613"/>
            <a:ext cx="108300" cy="416700"/>
          </a:xfrm>
          <a:prstGeom prst="straightConnector1">
            <a:avLst/>
          </a:prstGeom>
          <a:noFill/>
          <a:ln cap="flat" cmpd="sng" w="25400">
            <a:solidFill>
              <a:srgbClr val="167D8D"/>
            </a:solidFill>
            <a:prstDash val="solid"/>
            <a:round/>
            <a:headEnd len="med" w="med" type="none"/>
            <a:tailEnd len="med" w="med" type="none"/>
          </a:ln>
        </p:spPr>
      </p:cxnSp>
      <p:cxnSp>
        <p:nvCxnSpPr>
          <p:cNvPr id="788" name="Google Shape;788;p30"/>
          <p:cNvCxnSpPr/>
          <p:nvPr/>
        </p:nvCxnSpPr>
        <p:spPr>
          <a:xfrm>
            <a:off x="5074418" y="4799584"/>
            <a:ext cx="108300" cy="217500"/>
          </a:xfrm>
          <a:prstGeom prst="straightConnector1">
            <a:avLst/>
          </a:prstGeom>
          <a:noFill/>
          <a:ln cap="flat" cmpd="sng" w="25400">
            <a:solidFill>
              <a:srgbClr val="167D8D"/>
            </a:solidFill>
            <a:prstDash val="solid"/>
            <a:round/>
            <a:headEnd len="med" w="med" type="none"/>
            <a:tailEnd len="med" w="med" type="none"/>
          </a:ln>
        </p:spPr>
      </p:cxnSp>
      <p:cxnSp>
        <p:nvCxnSpPr>
          <p:cNvPr id="789" name="Google Shape;789;p30"/>
          <p:cNvCxnSpPr/>
          <p:nvPr/>
        </p:nvCxnSpPr>
        <p:spPr>
          <a:xfrm flipH="1" rot="10800000">
            <a:off x="5182577" y="4600308"/>
            <a:ext cx="108300" cy="416700"/>
          </a:xfrm>
          <a:prstGeom prst="straightConnector1">
            <a:avLst/>
          </a:prstGeom>
          <a:noFill/>
          <a:ln cap="flat" cmpd="sng" w="25400">
            <a:solidFill>
              <a:srgbClr val="167D8D"/>
            </a:solidFill>
            <a:prstDash val="solid"/>
            <a:round/>
            <a:headEnd len="med" w="med" type="none"/>
            <a:tailEnd len="med" w="med" type="none"/>
          </a:ln>
        </p:spPr>
      </p:cxnSp>
      <p:cxnSp>
        <p:nvCxnSpPr>
          <p:cNvPr id="790" name="Google Shape;790;p30"/>
          <p:cNvCxnSpPr/>
          <p:nvPr/>
        </p:nvCxnSpPr>
        <p:spPr>
          <a:xfrm>
            <a:off x="5290736" y="4600279"/>
            <a:ext cx="108300" cy="308100"/>
          </a:xfrm>
          <a:prstGeom prst="straightConnector1">
            <a:avLst/>
          </a:prstGeom>
          <a:noFill/>
          <a:ln cap="flat" cmpd="sng" w="25400">
            <a:solidFill>
              <a:srgbClr val="167D8D"/>
            </a:solidFill>
            <a:prstDash val="solid"/>
            <a:round/>
            <a:headEnd len="med" w="med" type="none"/>
            <a:tailEnd len="med" w="med" type="none"/>
          </a:ln>
        </p:spPr>
      </p:cxnSp>
      <p:cxnSp>
        <p:nvCxnSpPr>
          <p:cNvPr id="791" name="Google Shape;791;p30"/>
          <p:cNvCxnSpPr/>
          <p:nvPr/>
        </p:nvCxnSpPr>
        <p:spPr>
          <a:xfrm flipH="1" rot="10800000">
            <a:off x="5398896" y="4545896"/>
            <a:ext cx="108300" cy="362400"/>
          </a:xfrm>
          <a:prstGeom prst="straightConnector1">
            <a:avLst/>
          </a:prstGeom>
          <a:noFill/>
          <a:ln cap="flat" cmpd="sng" w="25400">
            <a:solidFill>
              <a:srgbClr val="167D8D"/>
            </a:solidFill>
            <a:prstDash val="solid"/>
            <a:round/>
            <a:headEnd len="med" w="med" type="none"/>
            <a:tailEnd len="med" w="med" type="none"/>
          </a:ln>
        </p:spPr>
      </p:cxnSp>
      <p:cxnSp>
        <p:nvCxnSpPr>
          <p:cNvPr id="792" name="Google Shape;792;p30"/>
          <p:cNvCxnSpPr/>
          <p:nvPr/>
        </p:nvCxnSpPr>
        <p:spPr>
          <a:xfrm>
            <a:off x="5507055" y="4545923"/>
            <a:ext cx="108300" cy="36300"/>
          </a:xfrm>
          <a:prstGeom prst="straightConnector1">
            <a:avLst/>
          </a:prstGeom>
          <a:noFill/>
          <a:ln cap="flat" cmpd="sng" w="25400">
            <a:solidFill>
              <a:srgbClr val="167D8D"/>
            </a:solidFill>
            <a:prstDash val="solid"/>
            <a:round/>
            <a:headEnd len="med" w="med" type="none"/>
            <a:tailEnd len="med" w="med" type="none"/>
          </a:ln>
        </p:spPr>
      </p:cxnSp>
      <p:cxnSp>
        <p:nvCxnSpPr>
          <p:cNvPr id="793" name="Google Shape;793;p30"/>
          <p:cNvCxnSpPr/>
          <p:nvPr/>
        </p:nvCxnSpPr>
        <p:spPr>
          <a:xfrm>
            <a:off x="5615214" y="4582160"/>
            <a:ext cx="108300" cy="36300"/>
          </a:xfrm>
          <a:prstGeom prst="straightConnector1">
            <a:avLst/>
          </a:prstGeom>
          <a:noFill/>
          <a:ln cap="flat" cmpd="sng" w="25400">
            <a:solidFill>
              <a:srgbClr val="167D8D"/>
            </a:solidFill>
            <a:prstDash val="solid"/>
            <a:round/>
            <a:headEnd len="med" w="med" type="none"/>
            <a:tailEnd len="med" w="med" type="none"/>
          </a:ln>
        </p:spPr>
      </p:cxnSp>
      <p:cxnSp>
        <p:nvCxnSpPr>
          <p:cNvPr id="794" name="Google Shape;794;p30"/>
          <p:cNvCxnSpPr/>
          <p:nvPr/>
        </p:nvCxnSpPr>
        <p:spPr>
          <a:xfrm>
            <a:off x="5723374" y="4618397"/>
            <a:ext cx="108300" cy="344400"/>
          </a:xfrm>
          <a:prstGeom prst="straightConnector1">
            <a:avLst/>
          </a:prstGeom>
          <a:noFill/>
          <a:ln cap="flat" cmpd="sng" w="25400">
            <a:solidFill>
              <a:srgbClr val="167D8D"/>
            </a:solidFill>
            <a:prstDash val="solid"/>
            <a:round/>
            <a:headEnd len="med" w="med" type="none"/>
            <a:tailEnd len="med" w="med" type="none"/>
          </a:ln>
        </p:spPr>
      </p:cxnSp>
      <p:cxnSp>
        <p:nvCxnSpPr>
          <p:cNvPr id="795" name="Google Shape;795;p30"/>
          <p:cNvCxnSpPr/>
          <p:nvPr/>
        </p:nvCxnSpPr>
        <p:spPr>
          <a:xfrm flipH="1" rot="10800000">
            <a:off x="5831533" y="4908352"/>
            <a:ext cx="108300" cy="54300"/>
          </a:xfrm>
          <a:prstGeom prst="straightConnector1">
            <a:avLst/>
          </a:prstGeom>
          <a:noFill/>
          <a:ln cap="flat" cmpd="sng" w="25400">
            <a:solidFill>
              <a:srgbClr val="167D8D"/>
            </a:solidFill>
            <a:prstDash val="solid"/>
            <a:round/>
            <a:headEnd len="med" w="med" type="none"/>
            <a:tailEnd len="med" w="med" type="none"/>
          </a:ln>
        </p:spPr>
      </p:cxnSp>
      <p:cxnSp>
        <p:nvCxnSpPr>
          <p:cNvPr id="796" name="Google Shape;796;p30"/>
          <p:cNvCxnSpPr/>
          <p:nvPr/>
        </p:nvCxnSpPr>
        <p:spPr>
          <a:xfrm>
            <a:off x="5939692" y="4908296"/>
            <a:ext cx="108300" cy="217500"/>
          </a:xfrm>
          <a:prstGeom prst="straightConnector1">
            <a:avLst/>
          </a:prstGeom>
          <a:noFill/>
          <a:ln cap="flat" cmpd="sng" w="25400">
            <a:solidFill>
              <a:srgbClr val="167D8D"/>
            </a:solidFill>
            <a:prstDash val="solid"/>
            <a:round/>
            <a:headEnd len="med" w="med" type="none"/>
            <a:tailEnd len="med" w="med" type="none"/>
          </a:ln>
        </p:spPr>
      </p:cxnSp>
      <p:cxnSp>
        <p:nvCxnSpPr>
          <p:cNvPr id="797" name="Google Shape;797;p30"/>
          <p:cNvCxnSpPr/>
          <p:nvPr/>
        </p:nvCxnSpPr>
        <p:spPr>
          <a:xfrm flipH="1" rot="10800000">
            <a:off x="6047852" y="5089420"/>
            <a:ext cx="108300" cy="36300"/>
          </a:xfrm>
          <a:prstGeom prst="straightConnector1">
            <a:avLst/>
          </a:prstGeom>
          <a:noFill/>
          <a:ln cap="flat" cmpd="sng" w="25400">
            <a:solidFill>
              <a:srgbClr val="167D8D"/>
            </a:solidFill>
            <a:prstDash val="solid"/>
            <a:round/>
            <a:headEnd len="med" w="med" type="none"/>
            <a:tailEnd len="med" w="med" type="none"/>
          </a:ln>
        </p:spPr>
      </p:cxnSp>
      <p:cxnSp>
        <p:nvCxnSpPr>
          <p:cNvPr id="798" name="Google Shape;798;p30"/>
          <p:cNvCxnSpPr/>
          <p:nvPr/>
        </p:nvCxnSpPr>
        <p:spPr>
          <a:xfrm>
            <a:off x="6156011" y="5089483"/>
            <a:ext cx="108300" cy="72600"/>
          </a:xfrm>
          <a:prstGeom prst="straightConnector1">
            <a:avLst/>
          </a:prstGeom>
          <a:noFill/>
          <a:ln cap="flat" cmpd="sng" w="25400">
            <a:solidFill>
              <a:srgbClr val="167D8D"/>
            </a:solidFill>
            <a:prstDash val="solid"/>
            <a:round/>
            <a:headEnd len="med" w="med" type="none"/>
            <a:tailEnd len="med" w="med" type="none"/>
          </a:ln>
        </p:spPr>
      </p:cxnSp>
      <p:cxnSp>
        <p:nvCxnSpPr>
          <p:cNvPr id="799" name="Google Shape;799;p30"/>
          <p:cNvCxnSpPr/>
          <p:nvPr/>
        </p:nvCxnSpPr>
        <p:spPr>
          <a:xfrm>
            <a:off x="6264170" y="5161957"/>
            <a:ext cx="108300" cy="0"/>
          </a:xfrm>
          <a:prstGeom prst="straightConnector1">
            <a:avLst/>
          </a:prstGeom>
          <a:noFill/>
          <a:ln cap="flat" cmpd="sng" w="25400">
            <a:solidFill>
              <a:srgbClr val="167D8D"/>
            </a:solidFill>
            <a:prstDash val="solid"/>
            <a:round/>
            <a:headEnd len="med" w="med" type="none"/>
            <a:tailEnd len="med" w="med" type="none"/>
          </a:ln>
        </p:spPr>
      </p:cxnSp>
      <p:cxnSp>
        <p:nvCxnSpPr>
          <p:cNvPr id="800" name="Google Shape;800;p30"/>
          <p:cNvCxnSpPr/>
          <p:nvPr/>
        </p:nvCxnSpPr>
        <p:spPr>
          <a:xfrm>
            <a:off x="6372330" y="5161957"/>
            <a:ext cx="108300" cy="54300"/>
          </a:xfrm>
          <a:prstGeom prst="straightConnector1">
            <a:avLst/>
          </a:prstGeom>
          <a:noFill/>
          <a:ln cap="flat" cmpd="sng" w="25400">
            <a:solidFill>
              <a:srgbClr val="167D8D"/>
            </a:solidFill>
            <a:prstDash val="solid"/>
            <a:round/>
            <a:headEnd len="med" w="med" type="none"/>
            <a:tailEnd len="med" w="med" type="none"/>
          </a:ln>
        </p:spPr>
      </p:cxnSp>
      <p:cxnSp>
        <p:nvCxnSpPr>
          <p:cNvPr id="801" name="Google Shape;801;p30"/>
          <p:cNvCxnSpPr/>
          <p:nvPr/>
        </p:nvCxnSpPr>
        <p:spPr>
          <a:xfrm>
            <a:off x="6480489" y="5216313"/>
            <a:ext cx="108300" cy="0"/>
          </a:xfrm>
          <a:prstGeom prst="straightConnector1">
            <a:avLst/>
          </a:prstGeom>
          <a:noFill/>
          <a:ln cap="flat" cmpd="sng" w="25400">
            <a:solidFill>
              <a:srgbClr val="167D8D"/>
            </a:solidFill>
            <a:prstDash val="solid"/>
            <a:round/>
            <a:headEnd len="med" w="med" type="none"/>
            <a:tailEnd len="med" w="med" type="none"/>
          </a:ln>
        </p:spPr>
      </p:cxnSp>
      <p:cxnSp>
        <p:nvCxnSpPr>
          <p:cNvPr id="802" name="Google Shape;802;p30"/>
          <p:cNvCxnSpPr/>
          <p:nvPr/>
        </p:nvCxnSpPr>
        <p:spPr>
          <a:xfrm flipH="1" rot="10800000">
            <a:off x="6588648" y="4853913"/>
            <a:ext cx="108300" cy="362400"/>
          </a:xfrm>
          <a:prstGeom prst="straightConnector1">
            <a:avLst/>
          </a:prstGeom>
          <a:noFill/>
          <a:ln cap="flat" cmpd="sng" w="25400">
            <a:solidFill>
              <a:srgbClr val="167D8D"/>
            </a:solidFill>
            <a:prstDash val="solid"/>
            <a:round/>
            <a:headEnd len="med" w="med" type="none"/>
            <a:tailEnd len="med" w="med" type="none"/>
          </a:ln>
        </p:spPr>
      </p:cxnSp>
      <p:cxnSp>
        <p:nvCxnSpPr>
          <p:cNvPr id="803" name="Google Shape;803;p30"/>
          <p:cNvCxnSpPr/>
          <p:nvPr/>
        </p:nvCxnSpPr>
        <p:spPr>
          <a:xfrm flipH="1" rot="10800000">
            <a:off x="6696808" y="4763340"/>
            <a:ext cx="108300" cy="90600"/>
          </a:xfrm>
          <a:prstGeom prst="straightConnector1">
            <a:avLst/>
          </a:prstGeom>
          <a:noFill/>
          <a:ln cap="flat" cmpd="sng" w="25400">
            <a:solidFill>
              <a:srgbClr val="167D8D"/>
            </a:solidFill>
            <a:prstDash val="solid"/>
            <a:round/>
            <a:headEnd len="med" w="med" type="none"/>
            <a:tailEnd len="med" w="med" type="none"/>
          </a:ln>
        </p:spPr>
      </p:cxnSp>
      <p:cxnSp>
        <p:nvCxnSpPr>
          <p:cNvPr id="804" name="Google Shape;804;p30"/>
          <p:cNvCxnSpPr/>
          <p:nvPr/>
        </p:nvCxnSpPr>
        <p:spPr>
          <a:xfrm>
            <a:off x="6804967" y="4763347"/>
            <a:ext cx="108300" cy="271800"/>
          </a:xfrm>
          <a:prstGeom prst="straightConnector1">
            <a:avLst/>
          </a:prstGeom>
          <a:noFill/>
          <a:ln cap="flat" cmpd="sng" w="25400">
            <a:solidFill>
              <a:srgbClr val="167D8D"/>
            </a:solidFill>
            <a:prstDash val="solid"/>
            <a:round/>
            <a:headEnd len="med" w="med" type="none"/>
            <a:tailEnd len="med" w="med" type="none"/>
          </a:ln>
        </p:spPr>
      </p:cxnSp>
      <p:cxnSp>
        <p:nvCxnSpPr>
          <p:cNvPr id="805" name="Google Shape;805;p30"/>
          <p:cNvCxnSpPr/>
          <p:nvPr/>
        </p:nvCxnSpPr>
        <p:spPr>
          <a:xfrm>
            <a:off x="6913126" y="5035127"/>
            <a:ext cx="108300" cy="126900"/>
          </a:xfrm>
          <a:prstGeom prst="straightConnector1">
            <a:avLst/>
          </a:prstGeom>
          <a:noFill/>
          <a:ln cap="flat" cmpd="sng" w="25400">
            <a:solidFill>
              <a:srgbClr val="167D8D"/>
            </a:solidFill>
            <a:prstDash val="solid"/>
            <a:round/>
            <a:headEnd len="med" w="med" type="none"/>
            <a:tailEnd len="med" w="med" type="none"/>
          </a:ln>
        </p:spPr>
      </p:cxnSp>
      <p:cxnSp>
        <p:nvCxnSpPr>
          <p:cNvPr id="806" name="Google Shape;806;p30"/>
          <p:cNvCxnSpPr/>
          <p:nvPr/>
        </p:nvCxnSpPr>
        <p:spPr>
          <a:xfrm flipH="1" rot="10800000">
            <a:off x="7021286" y="5089357"/>
            <a:ext cx="108300" cy="72600"/>
          </a:xfrm>
          <a:prstGeom prst="straightConnector1">
            <a:avLst/>
          </a:prstGeom>
          <a:noFill/>
          <a:ln cap="flat" cmpd="sng" w="25400">
            <a:solidFill>
              <a:srgbClr val="167D8D"/>
            </a:solidFill>
            <a:prstDash val="solid"/>
            <a:round/>
            <a:headEnd len="med" w="med" type="none"/>
            <a:tailEnd len="med" w="med" type="none"/>
          </a:ln>
        </p:spPr>
      </p:cxnSp>
      <p:cxnSp>
        <p:nvCxnSpPr>
          <p:cNvPr id="807" name="Google Shape;807;p30"/>
          <p:cNvCxnSpPr/>
          <p:nvPr/>
        </p:nvCxnSpPr>
        <p:spPr>
          <a:xfrm flipH="1" rot="10800000">
            <a:off x="7129445" y="5035183"/>
            <a:ext cx="108300" cy="54300"/>
          </a:xfrm>
          <a:prstGeom prst="straightConnector1">
            <a:avLst/>
          </a:prstGeom>
          <a:noFill/>
          <a:ln cap="flat" cmpd="sng" w="25400">
            <a:solidFill>
              <a:srgbClr val="167D8D"/>
            </a:solidFill>
            <a:prstDash val="solid"/>
            <a:round/>
            <a:headEnd len="med" w="med" type="none"/>
            <a:tailEnd len="med" w="med" type="none"/>
          </a:ln>
        </p:spPr>
      </p:cxnSp>
      <p:cxnSp>
        <p:nvCxnSpPr>
          <p:cNvPr id="808" name="Google Shape;808;p30"/>
          <p:cNvCxnSpPr/>
          <p:nvPr/>
        </p:nvCxnSpPr>
        <p:spPr>
          <a:xfrm>
            <a:off x="7237604" y="5035127"/>
            <a:ext cx="108300" cy="163200"/>
          </a:xfrm>
          <a:prstGeom prst="straightConnector1">
            <a:avLst/>
          </a:prstGeom>
          <a:noFill/>
          <a:ln cap="flat" cmpd="sng" w="25400">
            <a:solidFill>
              <a:srgbClr val="167D8D"/>
            </a:solidFill>
            <a:prstDash val="solid"/>
            <a:round/>
            <a:headEnd len="med" w="med" type="none"/>
            <a:tailEnd len="med" w="med" type="none"/>
          </a:ln>
        </p:spPr>
      </p:cxnSp>
      <p:cxnSp>
        <p:nvCxnSpPr>
          <p:cNvPr id="809" name="Google Shape;809;p30"/>
          <p:cNvCxnSpPr/>
          <p:nvPr/>
        </p:nvCxnSpPr>
        <p:spPr>
          <a:xfrm flipH="1" rot="10800000">
            <a:off x="7345764" y="4998995"/>
            <a:ext cx="108300" cy="199200"/>
          </a:xfrm>
          <a:prstGeom prst="straightConnector1">
            <a:avLst/>
          </a:prstGeom>
          <a:noFill/>
          <a:ln cap="flat" cmpd="sng" w="25400">
            <a:solidFill>
              <a:srgbClr val="167D8D"/>
            </a:solidFill>
            <a:prstDash val="solid"/>
            <a:round/>
            <a:headEnd len="med" w="med" type="none"/>
            <a:tailEnd len="med" w="med" type="none"/>
          </a:ln>
        </p:spPr>
      </p:cxnSp>
      <p:cxnSp>
        <p:nvCxnSpPr>
          <p:cNvPr id="810" name="Google Shape;810;p30"/>
          <p:cNvCxnSpPr/>
          <p:nvPr/>
        </p:nvCxnSpPr>
        <p:spPr>
          <a:xfrm flipH="1" rot="10800000">
            <a:off x="7453923" y="4890289"/>
            <a:ext cx="108300" cy="108600"/>
          </a:xfrm>
          <a:prstGeom prst="straightConnector1">
            <a:avLst/>
          </a:prstGeom>
          <a:noFill/>
          <a:ln cap="flat" cmpd="sng" w="25400">
            <a:solidFill>
              <a:srgbClr val="167D8D"/>
            </a:solidFill>
            <a:prstDash val="solid"/>
            <a:round/>
            <a:headEnd len="med" w="med" type="none"/>
            <a:tailEnd len="med" w="med" type="none"/>
          </a:ln>
        </p:spPr>
      </p:cxnSp>
      <p:cxnSp>
        <p:nvCxnSpPr>
          <p:cNvPr id="811" name="Google Shape;811;p30"/>
          <p:cNvCxnSpPr/>
          <p:nvPr/>
        </p:nvCxnSpPr>
        <p:spPr>
          <a:xfrm>
            <a:off x="7562082" y="4890177"/>
            <a:ext cx="108300" cy="271800"/>
          </a:xfrm>
          <a:prstGeom prst="straightConnector1">
            <a:avLst/>
          </a:prstGeom>
          <a:noFill/>
          <a:ln cap="flat" cmpd="sng" w="25400">
            <a:solidFill>
              <a:srgbClr val="167D8D"/>
            </a:solidFill>
            <a:prstDash val="solid"/>
            <a:round/>
            <a:headEnd len="med" w="med" type="none"/>
            <a:tailEnd len="med" w="med" type="none"/>
          </a:ln>
        </p:spPr>
      </p:cxnSp>
      <p:cxnSp>
        <p:nvCxnSpPr>
          <p:cNvPr id="812" name="Google Shape;812;p30"/>
          <p:cNvCxnSpPr/>
          <p:nvPr/>
        </p:nvCxnSpPr>
        <p:spPr>
          <a:xfrm>
            <a:off x="7670242" y="5161957"/>
            <a:ext cx="108300" cy="144900"/>
          </a:xfrm>
          <a:prstGeom prst="straightConnector1">
            <a:avLst/>
          </a:prstGeom>
          <a:noFill/>
          <a:ln cap="flat" cmpd="sng" w="25400">
            <a:solidFill>
              <a:srgbClr val="167D8D"/>
            </a:solidFill>
            <a:prstDash val="solid"/>
            <a:round/>
            <a:headEnd len="med" w="med" type="none"/>
            <a:tailEnd len="med" w="med" type="none"/>
          </a:ln>
        </p:spPr>
      </p:cxnSp>
      <p:cxnSp>
        <p:nvCxnSpPr>
          <p:cNvPr id="813" name="Google Shape;813;p30"/>
          <p:cNvCxnSpPr/>
          <p:nvPr/>
        </p:nvCxnSpPr>
        <p:spPr>
          <a:xfrm flipH="1" rot="10800000">
            <a:off x="7778401" y="5071407"/>
            <a:ext cx="108300" cy="235500"/>
          </a:xfrm>
          <a:prstGeom prst="straightConnector1">
            <a:avLst/>
          </a:prstGeom>
          <a:noFill/>
          <a:ln cap="flat" cmpd="sng" w="25400">
            <a:solidFill>
              <a:srgbClr val="167D8D"/>
            </a:solidFill>
            <a:prstDash val="solid"/>
            <a:round/>
            <a:headEnd len="med" w="med" type="none"/>
            <a:tailEnd len="med" w="med" type="none"/>
          </a:ln>
        </p:spPr>
      </p:cxnSp>
      <p:cxnSp>
        <p:nvCxnSpPr>
          <p:cNvPr id="814" name="Google Shape;814;p30"/>
          <p:cNvCxnSpPr/>
          <p:nvPr/>
        </p:nvCxnSpPr>
        <p:spPr>
          <a:xfrm>
            <a:off x="7886560" y="5071364"/>
            <a:ext cx="108300" cy="144900"/>
          </a:xfrm>
          <a:prstGeom prst="straightConnector1">
            <a:avLst/>
          </a:prstGeom>
          <a:noFill/>
          <a:ln cap="flat" cmpd="sng" w="25400">
            <a:solidFill>
              <a:srgbClr val="167D8D"/>
            </a:solidFill>
            <a:prstDash val="solid"/>
            <a:round/>
            <a:headEnd len="med" w="med" type="none"/>
            <a:tailEnd len="med" w="med" type="none"/>
          </a:ln>
        </p:spPr>
      </p:cxnSp>
      <p:cxnSp>
        <p:nvCxnSpPr>
          <p:cNvPr id="815" name="Google Shape;815;p30"/>
          <p:cNvCxnSpPr/>
          <p:nvPr/>
        </p:nvCxnSpPr>
        <p:spPr>
          <a:xfrm flipH="1" rot="10800000">
            <a:off x="7994720" y="4962513"/>
            <a:ext cx="108300" cy="253800"/>
          </a:xfrm>
          <a:prstGeom prst="straightConnector1">
            <a:avLst/>
          </a:prstGeom>
          <a:noFill/>
          <a:ln cap="flat" cmpd="sng" w="25400">
            <a:solidFill>
              <a:srgbClr val="167D8D"/>
            </a:solidFill>
            <a:prstDash val="solid"/>
            <a:round/>
            <a:headEnd len="med" w="med" type="none"/>
            <a:tailEnd len="med" w="med" type="none"/>
          </a:ln>
        </p:spPr>
      </p:cxnSp>
      <p:cxnSp>
        <p:nvCxnSpPr>
          <p:cNvPr id="816" name="Google Shape;816;p30"/>
          <p:cNvCxnSpPr/>
          <p:nvPr/>
        </p:nvCxnSpPr>
        <p:spPr>
          <a:xfrm>
            <a:off x="8102879" y="4962652"/>
            <a:ext cx="108300" cy="36300"/>
          </a:xfrm>
          <a:prstGeom prst="straightConnector1">
            <a:avLst/>
          </a:prstGeom>
          <a:noFill/>
          <a:ln cap="flat" cmpd="sng" w="25400">
            <a:solidFill>
              <a:srgbClr val="167D8D"/>
            </a:solidFill>
            <a:prstDash val="solid"/>
            <a:round/>
            <a:headEnd len="med" w="med" type="none"/>
            <a:tailEnd len="med" w="med" type="none"/>
          </a:ln>
        </p:spPr>
      </p:cxnSp>
      <p:cxnSp>
        <p:nvCxnSpPr>
          <p:cNvPr id="817" name="Google Shape;817;p30"/>
          <p:cNvCxnSpPr/>
          <p:nvPr/>
        </p:nvCxnSpPr>
        <p:spPr>
          <a:xfrm>
            <a:off x="8211038" y="4998889"/>
            <a:ext cx="108300" cy="126900"/>
          </a:xfrm>
          <a:prstGeom prst="straightConnector1">
            <a:avLst/>
          </a:prstGeom>
          <a:noFill/>
          <a:ln cap="flat" cmpd="sng" w="25400">
            <a:solidFill>
              <a:srgbClr val="167D8D"/>
            </a:solidFill>
            <a:prstDash val="solid"/>
            <a:round/>
            <a:headEnd len="med" w="med" type="none"/>
            <a:tailEnd len="med" w="med" type="none"/>
          </a:ln>
        </p:spPr>
      </p:cxnSp>
      <p:cxnSp>
        <p:nvCxnSpPr>
          <p:cNvPr id="818" name="Google Shape;818;p30"/>
          <p:cNvCxnSpPr/>
          <p:nvPr/>
        </p:nvCxnSpPr>
        <p:spPr>
          <a:xfrm flipH="1" rot="10800000">
            <a:off x="8319198" y="5107720"/>
            <a:ext cx="108300" cy="18000"/>
          </a:xfrm>
          <a:prstGeom prst="straightConnector1">
            <a:avLst/>
          </a:prstGeom>
          <a:noFill/>
          <a:ln cap="flat" cmpd="sng" w="25400">
            <a:solidFill>
              <a:srgbClr val="167D8D"/>
            </a:solidFill>
            <a:prstDash val="solid"/>
            <a:round/>
            <a:headEnd len="med" w="med" type="none"/>
            <a:tailEnd len="med" w="med" type="none"/>
          </a:ln>
        </p:spPr>
      </p:cxnSp>
      <p:cxnSp>
        <p:nvCxnSpPr>
          <p:cNvPr id="819" name="Google Shape;819;p30"/>
          <p:cNvCxnSpPr/>
          <p:nvPr/>
        </p:nvCxnSpPr>
        <p:spPr>
          <a:xfrm>
            <a:off x="8427357" y="5107601"/>
            <a:ext cx="108300" cy="163200"/>
          </a:xfrm>
          <a:prstGeom prst="straightConnector1">
            <a:avLst/>
          </a:prstGeom>
          <a:noFill/>
          <a:ln cap="flat" cmpd="sng" w="25400">
            <a:solidFill>
              <a:srgbClr val="167D8D"/>
            </a:solidFill>
            <a:prstDash val="solid"/>
            <a:round/>
            <a:headEnd len="med" w="med" type="none"/>
            <a:tailEnd len="med" w="med" type="none"/>
          </a:ln>
        </p:spPr>
      </p:cxnSp>
      <p:cxnSp>
        <p:nvCxnSpPr>
          <p:cNvPr id="820" name="Google Shape;820;p30"/>
          <p:cNvCxnSpPr/>
          <p:nvPr/>
        </p:nvCxnSpPr>
        <p:spPr>
          <a:xfrm flipH="1" rot="10800000">
            <a:off x="8535516" y="4618469"/>
            <a:ext cx="108300" cy="652200"/>
          </a:xfrm>
          <a:prstGeom prst="straightConnector1">
            <a:avLst/>
          </a:prstGeom>
          <a:noFill/>
          <a:ln cap="flat" cmpd="sng" w="25400">
            <a:solidFill>
              <a:srgbClr val="167D8D"/>
            </a:solidFill>
            <a:prstDash val="solid"/>
            <a:round/>
            <a:headEnd len="med" w="med" type="none"/>
            <a:tailEnd len="med" w="med" type="none"/>
          </a:ln>
        </p:spPr>
      </p:cxnSp>
      <p:cxnSp>
        <p:nvCxnSpPr>
          <p:cNvPr id="821" name="Google Shape;821;p30"/>
          <p:cNvCxnSpPr/>
          <p:nvPr/>
        </p:nvCxnSpPr>
        <p:spPr>
          <a:xfrm>
            <a:off x="8643676" y="4618397"/>
            <a:ext cx="108300" cy="434700"/>
          </a:xfrm>
          <a:prstGeom prst="straightConnector1">
            <a:avLst/>
          </a:prstGeom>
          <a:noFill/>
          <a:ln cap="flat" cmpd="sng" w="25400">
            <a:solidFill>
              <a:srgbClr val="167D8D"/>
            </a:solidFill>
            <a:prstDash val="solid"/>
            <a:round/>
            <a:headEnd len="med" w="med" type="none"/>
            <a:tailEnd len="med" w="med" type="none"/>
          </a:ln>
        </p:spPr>
      </p:cxnSp>
      <p:cxnSp>
        <p:nvCxnSpPr>
          <p:cNvPr id="822" name="Google Shape;822;p30"/>
          <p:cNvCxnSpPr/>
          <p:nvPr/>
        </p:nvCxnSpPr>
        <p:spPr>
          <a:xfrm flipH="1" rot="10800000">
            <a:off x="8751835" y="4763445"/>
            <a:ext cx="108300" cy="289800"/>
          </a:xfrm>
          <a:prstGeom prst="straightConnector1">
            <a:avLst/>
          </a:prstGeom>
          <a:noFill/>
          <a:ln cap="flat" cmpd="sng" w="25400">
            <a:solidFill>
              <a:srgbClr val="167D8D"/>
            </a:solidFill>
            <a:prstDash val="solid"/>
            <a:round/>
            <a:headEnd len="med" w="med" type="none"/>
            <a:tailEnd len="med" w="med" type="none"/>
          </a:ln>
        </p:spPr>
      </p:cxnSp>
      <p:cxnSp>
        <p:nvCxnSpPr>
          <p:cNvPr id="823" name="Google Shape;823;p30"/>
          <p:cNvCxnSpPr/>
          <p:nvPr/>
        </p:nvCxnSpPr>
        <p:spPr>
          <a:xfrm>
            <a:off x="8859995" y="4763347"/>
            <a:ext cx="108300" cy="90600"/>
          </a:xfrm>
          <a:prstGeom prst="straightConnector1">
            <a:avLst/>
          </a:prstGeom>
          <a:noFill/>
          <a:ln cap="flat" cmpd="sng" w="25400">
            <a:solidFill>
              <a:srgbClr val="167D8D"/>
            </a:solidFill>
            <a:prstDash val="solid"/>
            <a:round/>
            <a:headEnd len="med" w="med" type="none"/>
            <a:tailEnd len="med" w="med" type="none"/>
          </a:ln>
        </p:spPr>
      </p:cxnSp>
      <p:cxnSp>
        <p:nvCxnSpPr>
          <p:cNvPr id="824" name="Google Shape;824;p30"/>
          <p:cNvCxnSpPr/>
          <p:nvPr/>
        </p:nvCxnSpPr>
        <p:spPr>
          <a:xfrm flipH="1" rot="10800000">
            <a:off x="8968154" y="4709040"/>
            <a:ext cx="108300" cy="144900"/>
          </a:xfrm>
          <a:prstGeom prst="straightConnector1">
            <a:avLst/>
          </a:prstGeom>
          <a:noFill/>
          <a:ln cap="flat" cmpd="sng" w="25400">
            <a:solidFill>
              <a:srgbClr val="167D8D"/>
            </a:solidFill>
            <a:prstDash val="solid"/>
            <a:round/>
            <a:headEnd len="med" w="med" type="none"/>
            <a:tailEnd len="med" w="med" type="none"/>
          </a:ln>
        </p:spPr>
      </p:cxnSp>
      <p:cxnSp>
        <p:nvCxnSpPr>
          <p:cNvPr id="825" name="Google Shape;825;p30"/>
          <p:cNvCxnSpPr/>
          <p:nvPr/>
        </p:nvCxnSpPr>
        <p:spPr>
          <a:xfrm>
            <a:off x="9076313" y="4708991"/>
            <a:ext cx="108300" cy="326100"/>
          </a:xfrm>
          <a:prstGeom prst="straightConnector1">
            <a:avLst/>
          </a:prstGeom>
          <a:noFill/>
          <a:ln cap="flat" cmpd="sng" w="25400">
            <a:solidFill>
              <a:srgbClr val="167D8D"/>
            </a:solidFill>
            <a:prstDash val="solid"/>
            <a:round/>
            <a:headEnd len="med" w="med" type="none"/>
            <a:tailEnd len="med" w="med" type="none"/>
          </a:ln>
        </p:spPr>
      </p:cxnSp>
      <p:cxnSp>
        <p:nvCxnSpPr>
          <p:cNvPr id="826" name="Google Shape;826;p30"/>
          <p:cNvCxnSpPr/>
          <p:nvPr/>
        </p:nvCxnSpPr>
        <p:spPr>
          <a:xfrm flipH="1" rot="10800000">
            <a:off x="9184473" y="4763327"/>
            <a:ext cx="108300" cy="271800"/>
          </a:xfrm>
          <a:prstGeom prst="straightConnector1">
            <a:avLst/>
          </a:prstGeom>
          <a:noFill/>
          <a:ln cap="flat" cmpd="sng" w="25400">
            <a:solidFill>
              <a:srgbClr val="167D8D"/>
            </a:solidFill>
            <a:prstDash val="solid"/>
            <a:round/>
            <a:headEnd len="med" w="med" type="none"/>
            <a:tailEnd len="med" w="med" type="none"/>
          </a:ln>
        </p:spPr>
      </p:cxnSp>
      <p:cxnSp>
        <p:nvCxnSpPr>
          <p:cNvPr id="827" name="Google Shape;827;p30"/>
          <p:cNvCxnSpPr/>
          <p:nvPr/>
        </p:nvCxnSpPr>
        <p:spPr>
          <a:xfrm flipH="1" rot="10800000">
            <a:off x="9292632" y="3404347"/>
            <a:ext cx="108300" cy="1359000"/>
          </a:xfrm>
          <a:prstGeom prst="straightConnector1">
            <a:avLst/>
          </a:prstGeom>
          <a:noFill/>
          <a:ln cap="flat" cmpd="sng" w="25400">
            <a:solidFill>
              <a:srgbClr val="167D8D"/>
            </a:solidFill>
            <a:prstDash val="solid"/>
            <a:round/>
            <a:headEnd len="med" w="med" type="none"/>
            <a:tailEnd len="med" w="med" type="none"/>
          </a:ln>
        </p:spPr>
      </p:cxnSp>
      <p:cxnSp>
        <p:nvCxnSpPr>
          <p:cNvPr id="828" name="Google Shape;828;p30"/>
          <p:cNvCxnSpPr/>
          <p:nvPr/>
        </p:nvCxnSpPr>
        <p:spPr>
          <a:xfrm>
            <a:off x="9400791" y="3404447"/>
            <a:ext cx="108300" cy="471000"/>
          </a:xfrm>
          <a:prstGeom prst="straightConnector1">
            <a:avLst/>
          </a:prstGeom>
          <a:noFill/>
          <a:ln cap="flat" cmpd="sng" w="25400">
            <a:solidFill>
              <a:srgbClr val="167D8D"/>
            </a:solidFill>
            <a:prstDash val="solid"/>
            <a:round/>
            <a:headEnd len="med" w="med" type="none"/>
            <a:tailEnd len="med" w="med" type="none"/>
          </a:ln>
        </p:spPr>
      </p:cxnSp>
      <p:cxnSp>
        <p:nvCxnSpPr>
          <p:cNvPr id="829" name="Google Shape;829;p30"/>
          <p:cNvCxnSpPr/>
          <p:nvPr/>
        </p:nvCxnSpPr>
        <p:spPr>
          <a:xfrm>
            <a:off x="9508951" y="3875532"/>
            <a:ext cx="108300" cy="308100"/>
          </a:xfrm>
          <a:prstGeom prst="straightConnector1">
            <a:avLst/>
          </a:prstGeom>
          <a:noFill/>
          <a:ln cap="flat" cmpd="sng" w="25400">
            <a:solidFill>
              <a:srgbClr val="167D8D"/>
            </a:solidFill>
            <a:prstDash val="solid"/>
            <a:round/>
            <a:headEnd len="med" w="med" type="none"/>
            <a:tailEnd len="med" w="med" type="none"/>
          </a:ln>
        </p:spPr>
      </p:cxnSp>
      <p:cxnSp>
        <p:nvCxnSpPr>
          <p:cNvPr id="830" name="Google Shape;830;p30"/>
          <p:cNvCxnSpPr/>
          <p:nvPr/>
        </p:nvCxnSpPr>
        <p:spPr>
          <a:xfrm>
            <a:off x="9617110" y="4183549"/>
            <a:ext cx="108300" cy="652200"/>
          </a:xfrm>
          <a:prstGeom prst="straightConnector1">
            <a:avLst/>
          </a:prstGeom>
          <a:noFill/>
          <a:ln cap="flat" cmpd="sng" w="25400">
            <a:solidFill>
              <a:srgbClr val="167D8D"/>
            </a:solidFill>
            <a:prstDash val="solid"/>
            <a:round/>
            <a:headEnd len="med" w="med" type="none"/>
            <a:tailEnd len="med" w="med" type="none"/>
          </a:ln>
        </p:spPr>
      </p:cxnSp>
      <p:cxnSp>
        <p:nvCxnSpPr>
          <p:cNvPr id="831" name="Google Shape;831;p30"/>
          <p:cNvCxnSpPr/>
          <p:nvPr/>
        </p:nvCxnSpPr>
        <p:spPr>
          <a:xfrm flipH="1" rot="10800000">
            <a:off x="9725269" y="4763221"/>
            <a:ext cx="108300" cy="72600"/>
          </a:xfrm>
          <a:prstGeom prst="straightConnector1">
            <a:avLst/>
          </a:prstGeom>
          <a:noFill/>
          <a:ln cap="flat" cmpd="sng" w="25400">
            <a:solidFill>
              <a:srgbClr val="167D8D"/>
            </a:solidFill>
            <a:prstDash val="solid"/>
            <a:round/>
            <a:headEnd len="med" w="med" type="none"/>
            <a:tailEnd len="med" w="med" type="none"/>
          </a:ln>
        </p:spPr>
      </p:cxnSp>
      <p:cxnSp>
        <p:nvCxnSpPr>
          <p:cNvPr id="832" name="Google Shape;832;p30"/>
          <p:cNvCxnSpPr/>
          <p:nvPr/>
        </p:nvCxnSpPr>
        <p:spPr>
          <a:xfrm>
            <a:off x="9833429" y="4763347"/>
            <a:ext cx="108300" cy="326100"/>
          </a:xfrm>
          <a:prstGeom prst="straightConnector1">
            <a:avLst/>
          </a:prstGeom>
          <a:noFill/>
          <a:ln cap="flat" cmpd="sng" w="25400">
            <a:solidFill>
              <a:srgbClr val="167D8D"/>
            </a:solidFill>
            <a:prstDash val="solid"/>
            <a:round/>
            <a:headEnd len="med" w="med" type="none"/>
            <a:tailEnd len="med" w="med" type="none"/>
          </a:ln>
        </p:spPr>
      </p:cxnSp>
      <p:cxnSp>
        <p:nvCxnSpPr>
          <p:cNvPr id="833" name="Google Shape;833;p30"/>
          <p:cNvCxnSpPr/>
          <p:nvPr/>
        </p:nvCxnSpPr>
        <p:spPr>
          <a:xfrm flipH="1" rot="10800000">
            <a:off x="9941588" y="4672783"/>
            <a:ext cx="108300" cy="416700"/>
          </a:xfrm>
          <a:prstGeom prst="straightConnector1">
            <a:avLst/>
          </a:prstGeom>
          <a:noFill/>
          <a:ln cap="flat" cmpd="sng" w="25400">
            <a:solidFill>
              <a:srgbClr val="167D8D"/>
            </a:solidFill>
            <a:prstDash val="solid"/>
            <a:round/>
            <a:headEnd len="med" w="med" type="none"/>
            <a:tailEnd len="med" w="med" type="none"/>
          </a:ln>
        </p:spPr>
      </p:cxnSp>
      <p:cxnSp>
        <p:nvCxnSpPr>
          <p:cNvPr id="834" name="Google Shape;834;p30"/>
          <p:cNvCxnSpPr/>
          <p:nvPr/>
        </p:nvCxnSpPr>
        <p:spPr>
          <a:xfrm flipH="1" rot="10800000">
            <a:off x="10049747" y="4618453"/>
            <a:ext cx="108300" cy="54300"/>
          </a:xfrm>
          <a:prstGeom prst="straightConnector1">
            <a:avLst/>
          </a:prstGeom>
          <a:noFill/>
          <a:ln cap="flat" cmpd="sng" w="25400">
            <a:solidFill>
              <a:srgbClr val="167D8D"/>
            </a:solidFill>
            <a:prstDash val="solid"/>
            <a:round/>
            <a:headEnd len="med" w="med" type="none"/>
            <a:tailEnd len="med" w="med" type="none"/>
          </a:ln>
        </p:spPr>
      </p:cxnSp>
      <p:cxnSp>
        <p:nvCxnSpPr>
          <p:cNvPr id="835" name="Google Shape;835;p30"/>
          <p:cNvCxnSpPr/>
          <p:nvPr/>
        </p:nvCxnSpPr>
        <p:spPr>
          <a:xfrm flipH="1" rot="10800000">
            <a:off x="10157907" y="4111097"/>
            <a:ext cx="108300" cy="507300"/>
          </a:xfrm>
          <a:prstGeom prst="straightConnector1">
            <a:avLst/>
          </a:prstGeom>
          <a:noFill/>
          <a:ln cap="flat" cmpd="sng" w="25400">
            <a:solidFill>
              <a:srgbClr val="167D8D"/>
            </a:solidFill>
            <a:prstDash val="solid"/>
            <a:round/>
            <a:headEnd len="med" w="med" type="none"/>
            <a:tailEnd len="med" w="med" type="none"/>
          </a:ln>
        </p:spPr>
      </p:cxnSp>
      <p:cxnSp>
        <p:nvCxnSpPr>
          <p:cNvPr id="836" name="Google Shape;836;p30"/>
          <p:cNvCxnSpPr/>
          <p:nvPr/>
        </p:nvCxnSpPr>
        <p:spPr>
          <a:xfrm>
            <a:off x="10266066" y="4111075"/>
            <a:ext cx="108300" cy="36300"/>
          </a:xfrm>
          <a:prstGeom prst="straightConnector1">
            <a:avLst/>
          </a:prstGeom>
          <a:noFill/>
          <a:ln cap="flat" cmpd="sng" w="25400">
            <a:solidFill>
              <a:srgbClr val="167D8D"/>
            </a:solidFill>
            <a:prstDash val="solid"/>
            <a:round/>
            <a:headEnd len="med" w="med" type="none"/>
            <a:tailEnd len="med" w="med" type="none"/>
          </a:ln>
        </p:spPr>
      </p:cxnSp>
      <p:cxnSp>
        <p:nvCxnSpPr>
          <p:cNvPr id="837" name="Google Shape;837;p30"/>
          <p:cNvCxnSpPr/>
          <p:nvPr/>
        </p:nvCxnSpPr>
        <p:spPr>
          <a:xfrm flipH="1" rot="10800000">
            <a:off x="10374225" y="3857512"/>
            <a:ext cx="108300" cy="289800"/>
          </a:xfrm>
          <a:prstGeom prst="straightConnector1">
            <a:avLst/>
          </a:prstGeom>
          <a:noFill/>
          <a:ln cap="flat" cmpd="sng" w="25400">
            <a:solidFill>
              <a:srgbClr val="167D8D"/>
            </a:solidFill>
            <a:prstDash val="solid"/>
            <a:round/>
            <a:headEnd len="med" w="med" type="none"/>
            <a:tailEnd len="med" w="med" type="none"/>
          </a:ln>
        </p:spPr>
      </p:cxnSp>
      <p:cxnSp>
        <p:nvCxnSpPr>
          <p:cNvPr id="838" name="Google Shape;838;p30"/>
          <p:cNvCxnSpPr/>
          <p:nvPr/>
        </p:nvCxnSpPr>
        <p:spPr>
          <a:xfrm>
            <a:off x="10482385" y="3857413"/>
            <a:ext cx="108300" cy="507300"/>
          </a:xfrm>
          <a:prstGeom prst="straightConnector1">
            <a:avLst/>
          </a:prstGeom>
          <a:noFill/>
          <a:ln cap="flat" cmpd="sng" w="25400">
            <a:solidFill>
              <a:srgbClr val="167D8D"/>
            </a:solidFill>
            <a:prstDash val="solid"/>
            <a:round/>
            <a:headEnd len="med" w="med" type="none"/>
            <a:tailEnd len="med" w="med" type="none"/>
          </a:ln>
        </p:spPr>
      </p:cxnSp>
      <p:cxnSp>
        <p:nvCxnSpPr>
          <p:cNvPr id="839" name="Google Shape;839;p30"/>
          <p:cNvCxnSpPr/>
          <p:nvPr/>
        </p:nvCxnSpPr>
        <p:spPr>
          <a:xfrm flipH="1" rot="10800000">
            <a:off x="10590544" y="4256136"/>
            <a:ext cx="108300" cy="108600"/>
          </a:xfrm>
          <a:prstGeom prst="straightConnector1">
            <a:avLst/>
          </a:prstGeom>
          <a:noFill/>
          <a:ln cap="flat" cmpd="sng" w="25400">
            <a:solidFill>
              <a:srgbClr val="167D8D"/>
            </a:solidFill>
            <a:prstDash val="solid"/>
            <a:round/>
            <a:headEnd len="med" w="med" type="none"/>
            <a:tailEnd len="med" w="med" type="none"/>
          </a:ln>
        </p:spPr>
      </p:cxnSp>
      <p:cxnSp>
        <p:nvCxnSpPr>
          <p:cNvPr id="840" name="Google Shape;840;p30"/>
          <p:cNvCxnSpPr/>
          <p:nvPr/>
        </p:nvCxnSpPr>
        <p:spPr>
          <a:xfrm>
            <a:off x="10698703" y="4256024"/>
            <a:ext cx="108300" cy="253800"/>
          </a:xfrm>
          <a:prstGeom prst="straightConnector1">
            <a:avLst/>
          </a:prstGeom>
          <a:noFill/>
          <a:ln cap="flat" cmpd="sng" w="25400">
            <a:solidFill>
              <a:srgbClr val="167D8D"/>
            </a:solidFill>
            <a:prstDash val="solid"/>
            <a:round/>
            <a:headEnd len="med" w="med" type="none"/>
            <a:tailEnd len="med" w="med" type="none"/>
          </a:ln>
        </p:spPr>
      </p:cxnSp>
      <p:cxnSp>
        <p:nvCxnSpPr>
          <p:cNvPr id="841" name="Google Shape;841;p30"/>
          <p:cNvCxnSpPr/>
          <p:nvPr/>
        </p:nvCxnSpPr>
        <p:spPr>
          <a:xfrm>
            <a:off x="10806863" y="4509685"/>
            <a:ext cx="108300" cy="54300"/>
          </a:xfrm>
          <a:prstGeom prst="straightConnector1">
            <a:avLst/>
          </a:prstGeom>
          <a:noFill/>
          <a:ln cap="flat" cmpd="sng" w="25400">
            <a:solidFill>
              <a:srgbClr val="167D8D"/>
            </a:solidFill>
            <a:prstDash val="solid"/>
            <a:round/>
            <a:headEnd len="med" w="med" type="none"/>
            <a:tailEnd len="med" w="med" type="none"/>
          </a:ln>
        </p:spPr>
      </p:cxnSp>
      <p:cxnSp>
        <p:nvCxnSpPr>
          <p:cNvPr id="842" name="Google Shape;842;p30"/>
          <p:cNvCxnSpPr/>
          <p:nvPr/>
        </p:nvCxnSpPr>
        <p:spPr>
          <a:xfrm flipH="1" rot="10800000">
            <a:off x="10915022" y="4364841"/>
            <a:ext cx="108300" cy="199200"/>
          </a:xfrm>
          <a:prstGeom prst="straightConnector1">
            <a:avLst/>
          </a:prstGeom>
          <a:noFill/>
          <a:ln cap="flat" cmpd="sng" w="25400">
            <a:solidFill>
              <a:srgbClr val="167D8D"/>
            </a:solidFill>
            <a:prstDash val="solid"/>
            <a:round/>
            <a:headEnd len="med" w="med" type="none"/>
            <a:tailEnd len="med" w="med" type="none"/>
          </a:ln>
        </p:spPr>
      </p:cxnSp>
      <p:cxnSp>
        <p:nvCxnSpPr>
          <p:cNvPr id="843" name="Google Shape;843;p30"/>
          <p:cNvCxnSpPr/>
          <p:nvPr/>
        </p:nvCxnSpPr>
        <p:spPr>
          <a:xfrm>
            <a:off x="11023181" y="4364736"/>
            <a:ext cx="108300" cy="54300"/>
          </a:xfrm>
          <a:prstGeom prst="straightConnector1">
            <a:avLst/>
          </a:prstGeom>
          <a:noFill/>
          <a:ln cap="flat" cmpd="sng" w="25400">
            <a:solidFill>
              <a:srgbClr val="167D8D"/>
            </a:solidFill>
            <a:prstDash val="solid"/>
            <a:round/>
            <a:headEnd len="med" w="med" type="none"/>
            <a:tailEnd len="med" w="med" type="none"/>
          </a:ln>
        </p:spPr>
      </p:cxnSp>
      <p:cxnSp>
        <p:nvCxnSpPr>
          <p:cNvPr id="844" name="Google Shape;844;p30"/>
          <p:cNvCxnSpPr/>
          <p:nvPr/>
        </p:nvCxnSpPr>
        <p:spPr>
          <a:xfrm>
            <a:off x="11131341" y="4419092"/>
            <a:ext cx="108300" cy="163200"/>
          </a:xfrm>
          <a:prstGeom prst="straightConnector1">
            <a:avLst/>
          </a:prstGeom>
          <a:noFill/>
          <a:ln cap="flat" cmpd="sng" w="25400">
            <a:solidFill>
              <a:srgbClr val="167D8D"/>
            </a:solidFill>
            <a:prstDash val="solid"/>
            <a:round/>
            <a:headEnd len="med" w="med" type="none"/>
            <a:tailEnd len="med" w="med" type="none"/>
          </a:ln>
        </p:spPr>
      </p:cxnSp>
      <p:sp>
        <p:nvSpPr>
          <p:cNvPr id="845" name="Google Shape;845;p30"/>
          <p:cNvSpPr txBox="1"/>
          <p:nvPr/>
        </p:nvSpPr>
        <p:spPr>
          <a:xfrm>
            <a:off x="1155700" y="55245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2019</a:t>
            </a:r>
            <a:endParaRPr sz="1500">
              <a:solidFill>
                <a:srgbClr val="58717A"/>
              </a:solidFill>
            </a:endParaRPr>
          </a:p>
        </p:txBody>
      </p:sp>
      <p:sp>
        <p:nvSpPr>
          <p:cNvPr id="846" name="Google Shape;846;p30"/>
          <p:cNvSpPr txBox="1"/>
          <p:nvPr/>
        </p:nvSpPr>
        <p:spPr>
          <a:xfrm>
            <a:off x="2453612" y="55245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2020</a:t>
            </a:r>
            <a:endParaRPr sz="1500">
              <a:solidFill>
                <a:srgbClr val="58717A"/>
              </a:solidFill>
            </a:endParaRPr>
          </a:p>
        </p:txBody>
      </p:sp>
      <p:sp>
        <p:nvSpPr>
          <p:cNvPr id="847" name="Google Shape;847;p30"/>
          <p:cNvSpPr txBox="1"/>
          <p:nvPr/>
        </p:nvSpPr>
        <p:spPr>
          <a:xfrm>
            <a:off x="3751524" y="55245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2021</a:t>
            </a:r>
            <a:endParaRPr sz="1500">
              <a:solidFill>
                <a:srgbClr val="58717A"/>
              </a:solidFill>
            </a:endParaRPr>
          </a:p>
        </p:txBody>
      </p:sp>
      <p:sp>
        <p:nvSpPr>
          <p:cNvPr id="848" name="Google Shape;848;p30"/>
          <p:cNvSpPr txBox="1"/>
          <p:nvPr/>
        </p:nvSpPr>
        <p:spPr>
          <a:xfrm>
            <a:off x="5049436" y="55245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2022</a:t>
            </a:r>
            <a:endParaRPr sz="1500">
              <a:solidFill>
                <a:srgbClr val="58717A"/>
              </a:solidFill>
            </a:endParaRPr>
          </a:p>
        </p:txBody>
      </p:sp>
      <p:sp>
        <p:nvSpPr>
          <p:cNvPr id="849" name="Google Shape;849;p30"/>
          <p:cNvSpPr txBox="1"/>
          <p:nvPr/>
        </p:nvSpPr>
        <p:spPr>
          <a:xfrm>
            <a:off x="6347348" y="55245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2023</a:t>
            </a:r>
            <a:endParaRPr sz="1500">
              <a:solidFill>
                <a:srgbClr val="58717A"/>
              </a:solidFill>
            </a:endParaRPr>
          </a:p>
        </p:txBody>
      </p:sp>
      <p:sp>
        <p:nvSpPr>
          <p:cNvPr id="850" name="Google Shape;850;p30"/>
          <p:cNvSpPr txBox="1"/>
          <p:nvPr/>
        </p:nvSpPr>
        <p:spPr>
          <a:xfrm>
            <a:off x="7645260" y="55245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2024</a:t>
            </a:r>
            <a:endParaRPr sz="1500">
              <a:solidFill>
                <a:srgbClr val="58717A"/>
              </a:solidFill>
            </a:endParaRPr>
          </a:p>
        </p:txBody>
      </p:sp>
      <p:sp>
        <p:nvSpPr>
          <p:cNvPr id="851" name="Google Shape;851;p30"/>
          <p:cNvSpPr txBox="1"/>
          <p:nvPr/>
        </p:nvSpPr>
        <p:spPr>
          <a:xfrm>
            <a:off x="8943173" y="55245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2025</a:t>
            </a:r>
            <a:endParaRPr sz="1500">
              <a:solidFill>
                <a:srgbClr val="58717A"/>
              </a:solidFill>
            </a:endParaRPr>
          </a:p>
        </p:txBody>
      </p:sp>
      <p:sp>
        <p:nvSpPr>
          <p:cNvPr id="852" name="Google Shape;852;p30"/>
          <p:cNvSpPr txBox="1"/>
          <p:nvPr/>
        </p:nvSpPr>
        <p:spPr>
          <a:xfrm>
            <a:off x="10241085" y="5524500"/>
            <a:ext cx="8637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58717A"/>
                </a:solidFill>
              </a:rPr>
              <a:t>2026</a:t>
            </a:r>
            <a:endParaRPr sz="1500">
              <a:solidFill>
                <a:srgbClr val="58717A"/>
              </a:solidFill>
            </a:endParaRPr>
          </a:p>
        </p:txBody>
      </p:sp>
      <p:sp>
        <p:nvSpPr>
          <p:cNvPr id="853" name="Google Shape;853;p30"/>
          <p:cNvSpPr txBox="1"/>
          <p:nvPr/>
        </p:nvSpPr>
        <p:spPr>
          <a:xfrm>
            <a:off x="762000" y="5918200"/>
            <a:ext cx="10668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173541"/>
                </a:solidFill>
              </a:rPr>
              <a:t>Activity grew strongly in 2025; the timeline alone does not identify AI's effect.</a:t>
            </a:r>
            <a:endParaRPr sz="1600">
              <a:solidFill>
                <a:srgbClr val="173541"/>
              </a:solidFill>
            </a:endParaRPr>
          </a:p>
        </p:txBody>
      </p:sp>
      <p:sp>
        <p:nvSpPr>
          <p:cNvPr id="854" name="Google Shape;854;p30"/>
          <p:cNvSpPr txBox="1"/>
          <p:nvPr/>
        </p:nvSpPr>
        <p:spPr>
          <a:xfrm>
            <a:off x="762000" y="6273800"/>
            <a:ext cx="106680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u="sng">
                <a:solidFill>
                  <a:srgbClr val="58717A"/>
                </a:solidFill>
                <a:hlinkClick r:id="rId3">
                  <a:extLst>
                    <a:ext uri="{A12FA001-AC4F-418D-AE19-62706E023703}">
                      <ahyp:hlinkClr val="tx"/>
                    </a:ext>
                  </a:extLst>
                </a:hlinkClick>
              </a:rPr>
              <a:t>GitHub PR snapshot, 30 Sep 2026. Bots excluded. Opened and merged counts use their respective event dates.</a:t>
            </a:r>
            <a:endParaRPr sz="1100">
              <a:solidFill>
                <a:srgbClr val="58717A"/>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859" name="Shape 859"/>
        <p:cNvGrpSpPr/>
        <p:nvPr/>
      </p:nvGrpSpPr>
      <p:grpSpPr>
        <a:xfrm>
          <a:off x="0" y="0"/>
          <a:ext cx="0" cy="0"/>
          <a:chOff x="0" y="0"/>
          <a:chExt cx="0" cy="0"/>
        </a:xfrm>
      </p:grpSpPr>
      <p:sp>
        <p:nvSpPr>
          <p:cNvPr id="860" name="Google Shape;860;p31"/>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Programming builds understanding</a:t>
            </a:r>
            <a:endParaRPr b="1" i="0" sz="3200" u="none" cap="none" strike="noStrike">
              <a:solidFill>
                <a:srgbClr val="173541"/>
              </a:solidFill>
            </a:endParaRPr>
          </a:p>
        </p:txBody>
      </p:sp>
      <p:sp>
        <p:nvSpPr>
          <p:cNvPr id="861" name="Google Shape;861;p31"/>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The code is only part of what developers create.</a:t>
            </a:r>
            <a:endParaRPr b="1" sz="2900">
              <a:solidFill>
                <a:srgbClr val="167D8D"/>
              </a:solidFill>
            </a:endParaRPr>
          </a:p>
        </p:txBody>
      </p:sp>
      <p:sp>
        <p:nvSpPr>
          <p:cNvPr id="862" name="Google Shape;862;p31"/>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Naur emphasizes the understanding behind a program:</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how it represents a problem, why it has its particular form,</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and how to adapt it when requirements change.</a:t>
            </a:r>
            <a:endParaRPr sz="2400">
              <a:solidFill>
                <a:srgbClr val="173541"/>
              </a:solidFill>
            </a:endParaRPr>
          </a:p>
        </p:txBody>
      </p:sp>
      <p:sp>
        <p:nvSpPr>
          <p:cNvPr id="863" name="Google Shape;863;p31"/>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173541"/>
                </a:solidFill>
              </a:rPr>
              <a:t>AI connection: generating code does not automatically</a:t>
            </a:r>
            <a:endParaRPr b="1" sz="2400">
              <a:solidFill>
                <a:srgbClr val="173541"/>
              </a:solidFill>
            </a:endParaRPr>
          </a:p>
          <a:p>
            <a:pPr indent="0" lvl="0" marL="0" rtl="0" algn="l">
              <a:lnSpc>
                <a:spcPct val="110000"/>
              </a:lnSpc>
              <a:spcBef>
                <a:spcPts val="0"/>
              </a:spcBef>
              <a:spcAft>
                <a:spcPts val="0"/>
              </a:spcAft>
              <a:buNone/>
            </a:pPr>
            <a:r>
              <a:rPr b="1" lang="en-US" sz="2400">
                <a:solidFill>
                  <a:srgbClr val="173541"/>
                </a:solidFill>
              </a:rPr>
              <a:t>transfer that understanding to its maintainers.</a:t>
            </a:r>
            <a:endParaRPr b="1" sz="2400">
              <a:solidFill>
                <a:srgbClr val="173541"/>
              </a:solidFill>
            </a:endParaRPr>
          </a:p>
        </p:txBody>
      </p:sp>
      <p:sp>
        <p:nvSpPr>
          <p:cNvPr id="864" name="Google Shape;864;p31"/>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3">
                  <a:extLst>
                    <a:ext uri="{A12FA001-AC4F-418D-AE19-62706E023703}">
                      <ahyp:hlinkClr val="tx"/>
                    </a:ext>
                  </a:extLst>
                </a:hlinkClick>
              </a:rPr>
              <a:t>Naur (1985), Programming as Theory Building</a:t>
            </a:r>
            <a:endParaRPr sz="1100">
              <a:solidFill>
                <a:srgbClr val="58717A"/>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869" name="Shape 869"/>
        <p:cNvGrpSpPr/>
        <p:nvPr/>
      </p:nvGrpSpPr>
      <p:grpSpPr>
        <a:xfrm>
          <a:off x="0" y="0"/>
          <a:ext cx="0" cy="0"/>
          <a:chOff x="0" y="0"/>
          <a:chExt cx="0" cy="0"/>
        </a:xfrm>
      </p:grpSpPr>
      <p:sp>
        <p:nvSpPr>
          <p:cNvPr id="870" name="Google Shape;870;p32"/>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Knowledge and craft are intertwined</a:t>
            </a:r>
            <a:endParaRPr b="1" i="0" sz="3200" u="none" cap="none" strike="noStrike">
              <a:solidFill>
                <a:srgbClr val="173541"/>
              </a:solidFill>
            </a:endParaRPr>
          </a:p>
        </p:txBody>
      </p:sp>
      <p:sp>
        <p:nvSpPr>
          <p:cNvPr id="871" name="Google Shape;871;p32"/>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Episteme: knowledge</a:t>
            </a:r>
            <a:endParaRPr b="1" sz="2900">
              <a:solidFill>
                <a:srgbClr val="167D8D"/>
              </a:solidFill>
            </a:endParaRPr>
          </a:p>
          <a:p>
            <a:pPr indent="0" lvl="0" marL="0" rtl="0" algn="l">
              <a:lnSpc>
                <a:spcPct val="110000"/>
              </a:lnSpc>
              <a:spcBef>
                <a:spcPts val="0"/>
              </a:spcBef>
              <a:spcAft>
                <a:spcPts val="0"/>
              </a:spcAft>
              <a:buNone/>
            </a:pPr>
            <a:r>
              <a:rPr b="1" lang="en-US" sz="2900">
                <a:solidFill>
                  <a:srgbClr val="167D8D"/>
                </a:solidFill>
              </a:rPr>
              <a:t>Techne: craft or art</a:t>
            </a:r>
            <a:endParaRPr b="1" sz="2900">
              <a:solidFill>
                <a:srgbClr val="167D8D"/>
              </a:solidFill>
            </a:endParaRPr>
          </a:p>
        </p:txBody>
      </p:sp>
      <p:sp>
        <p:nvSpPr>
          <p:cNvPr id="872" name="Google Shape;872;p32"/>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Parry cautions against a simple theory–practice split.</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In Aristotle, craft can itself involve theoretical understanding.</a:t>
            </a:r>
            <a:endParaRPr sz="2400">
              <a:solidFill>
                <a:srgbClr val="173541"/>
              </a:solidFill>
            </a:endParaRPr>
          </a:p>
        </p:txBody>
      </p:sp>
      <p:sp>
        <p:nvSpPr>
          <p:cNvPr id="873" name="Google Shape;873;p32"/>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173541"/>
                </a:solidFill>
              </a:rPr>
              <a:t>Discussion: what understanding belongs to the craft</a:t>
            </a:r>
            <a:endParaRPr b="1" sz="2400">
              <a:solidFill>
                <a:srgbClr val="173541"/>
              </a:solidFill>
            </a:endParaRPr>
          </a:p>
          <a:p>
            <a:pPr indent="0" lvl="0" marL="0" rtl="0" algn="l">
              <a:lnSpc>
                <a:spcPct val="110000"/>
              </a:lnSpc>
              <a:spcBef>
                <a:spcPts val="0"/>
              </a:spcBef>
              <a:spcAft>
                <a:spcPts val="0"/>
              </a:spcAft>
              <a:buNone/>
            </a:pPr>
            <a:r>
              <a:rPr b="1" lang="en-US" sz="2400">
                <a:solidFill>
                  <a:srgbClr val="173541"/>
                </a:solidFill>
              </a:rPr>
              <a:t>of developing an Earth system model?</a:t>
            </a:r>
            <a:endParaRPr b="1" sz="2400">
              <a:solidFill>
                <a:srgbClr val="173541"/>
              </a:solidFill>
            </a:endParaRPr>
          </a:p>
        </p:txBody>
      </p:sp>
      <p:sp>
        <p:nvSpPr>
          <p:cNvPr id="874" name="Google Shape;874;p32"/>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3">
                  <a:extLst>
                    <a:ext uri="{A12FA001-AC4F-418D-AE19-62706E023703}">
                      <ahyp:hlinkClr val="tx"/>
                    </a:ext>
                  </a:extLst>
                </a:hlinkClick>
              </a:rPr>
              <a:t>Parry, Episteme and Techne, Stanford Encyclopedia of Philosophy</a:t>
            </a:r>
            <a:endParaRPr sz="1100">
              <a:solidFill>
                <a:srgbClr val="58717A"/>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879" name="Shape 879"/>
        <p:cNvGrpSpPr/>
        <p:nvPr/>
      </p:nvGrpSpPr>
      <p:grpSpPr>
        <a:xfrm>
          <a:off x="0" y="0"/>
          <a:ext cx="0" cy="0"/>
          <a:chOff x="0" y="0"/>
          <a:chExt cx="0" cy="0"/>
        </a:xfrm>
      </p:grpSpPr>
      <p:sp>
        <p:nvSpPr>
          <p:cNvPr id="880" name="Google Shape;880;p33"/>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Scientific tools help produce knowledge</a:t>
            </a:r>
            <a:endParaRPr b="1" i="0" sz="3200" u="none" cap="none" strike="noStrike">
              <a:solidFill>
                <a:srgbClr val="173541"/>
              </a:solidFill>
            </a:endParaRPr>
          </a:p>
        </p:txBody>
      </p:sp>
      <p:sp>
        <p:nvSpPr>
          <p:cNvPr id="881" name="Google Shape;881;p33"/>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People and instruments jointly shape scientific work.</a:t>
            </a:r>
            <a:endParaRPr b="1" sz="2900">
              <a:solidFill>
                <a:srgbClr val="167D8D"/>
              </a:solidFill>
            </a:endParaRPr>
          </a:p>
        </p:txBody>
      </p:sp>
      <p:sp>
        <p:nvSpPr>
          <p:cNvPr id="882" name="Google Shape;882;p33"/>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Russo examines the role of technologies and instruments</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in how scientific knowledge is produced.</a:t>
            </a:r>
            <a:endParaRPr sz="2400">
              <a:solidFill>
                <a:srgbClr val="173541"/>
              </a:solidFill>
            </a:endParaRPr>
          </a:p>
        </p:txBody>
      </p:sp>
      <p:sp>
        <p:nvSpPr>
          <p:cNvPr id="883" name="Google Shape;883;p33"/>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173541"/>
                </a:solidFill>
              </a:rPr>
              <a:t>Discussion: if AI helps build our modeling tools,</a:t>
            </a:r>
            <a:endParaRPr b="1" sz="2400">
              <a:solidFill>
                <a:srgbClr val="173541"/>
              </a:solidFill>
            </a:endParaRPr>
          </a:p>
          <a:p>
            <a:pPr indent="0" lvl="0" marL="0" rtl="0" algn="l">
              <a:lnSpc>
                <a:spcPct val="110000"/>
              </a:lnSpc>
              <a:spcBef>
                <a:spcPts val="0"/>
              </a:spcBef>
              <a:spcAft>
                <a:spcPts val="0"/>
              </a:spcAft>
              <a:buNone/>
            </a:pPr>
            <a:r>
              <a:rPr b="1" lang="en-US" sz="2400">
                <a:solidFill>
                  <a:srgbClr val="173541"/>
                </a:solidFill>
              </a:rPr>
              <a:t>how does that change what we learn by building them?</a:t>
            </a:r>
            <a:endParaRPr b="1" sz="2400">
              <a:solidFill>
                <a:srgbClr val="173541"/>
              </a:solidFill>
            </a:endParaRPr>
          </a:p>
        </p:txBody>
      </p:sp>
      <p:sp>
        <p:nvSpPr>
          <p:cNvPr id="884" name="Google Shape;884;p33"/>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3">
                  <a:extLst>
                    <a:ext uri="{A12FA001-AC4F-418D-AE19-62706E023703}">
                      <ahyp:hlinkClr val="tx"/>
                    </a:ext>
                  </a:extLst>
                </a:hlinkClick>
              </a:rPr>
              <a:t>Russo (2022), Techno-Scientific Practices: An Informational Approach</a:t>
            </a:r>
            <a:endParaRPr sz="1100">
              <a:solidFill>
                <a:srgbClr val="58717A"/>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889" name="Shape 889"/>
        <p:cNvGrpSpPr/>
        <p:nvPr/>
      </p:nvGrpSpPr>
      <p:grpSpPr>
        <a:xfrm>
          <a:off x="0" y="0"/>
          <a:ext cx="0" cy="0"/>
          <a:chOff x="0" y="0"/>
          <a:chExt cx="0" cy="0"/>
        </a:xfrm>
      </p:grpSpPr>
      <p:sp>
        <p:nvSpPr>
          <p:cNvPr id="890" name="Google Shape;890;p34"/>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Understanding through simpler models</a:t>
            </a:r>
            <a:endParaRPr b="1" i="0" sz="3200" u="none" cap="none" strike="noStrike">
              <a:solidFill>
                <a:srgbClr val="173541"/>
              </a:solidFill>
            </a:endParaRPr>
          </a:p>
        </p:txBody>
      </p:sp>
      <p:sp>
        <p:nvSpPr>
          <p:cNvPr id="891" name="Google Shape;891;p34"/>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Model hierarchies help us identify mechanisms.</a:t>
            </a:r>
            <a:endParaRPr b="1" sz="2900">
              <a:solidFill>
                <a:srgbClr val="167D8D"/>
              </a:solidFill>
            </a:endParaRPr>
          </a:p>
        </p:txBody>
      </p:sp>
      <p:sp>
        <p:nvSpPr>
          <p:cNvPr id="892" name="Google Shape;892;p34"/>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Held argues for closing the gap between simulation</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and understanding. Jeevanjee and colleagues show how</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simplification and mechanism tests can help.</a:t>
            </a:r>
            <a:endParaRPr sz="2400">
              <a:solidFill>
                <a:srgbClr val="173541"/>
              </a:solidFill>
            </a:endParaRPr>
          </a:p>
        </p:txBody>
      </p:sp>
      <p:sp>
        <p:nvSpPr>
          <p:cNvPr id="893" name="Google Shape;893;p34"/>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173541"/>
                </a:solidFill>
              </a:rPr>
              <a:t>AI connection: can agents help design and run the</a:t>
            </a:r>
            <a:endParaRPr b="1" sz="2400">
              <a:solidFill>
                <a:srgbClr val="173541"/>
              </a:solidFill>
            </a:endParaRPr>
          </a:p>
          <a:p>
            <a:pPr indent="0" lvl="0" marL="0" rtl="0" algn="l">
              <a:lnSpc>
                <a:spcPct val="110000"/>
              </a:lnSpc>
              <a:spcBef>
                <a:spcPts val="0"/>
              </a:spcBef>
              <a:spcAft>
                <a:spcPts val="0"/>
              </a:spcAft>
              <a:buNone/>
            </a:pPr>
            <a:r>
              <a:rPr b="1" lang="en-US" sz="2400">
                <a:solidFill>
                  <a:srgbClr val="173541"/>
                </a:solidFill>
              </a:rPr>
              <a:t>simpler experiments that explain a complex model?</a:t>
            </a:r>
            <a:endParaRPr b="1" sz="2400">
              <a:solidFill>
                <a:srgbClr val="173541"/>
              </a:solidFill>
            </a:endParaRPr>
          </a:p>
        </p:txBody>
      </p:sp>
      <p:sp>
        <p:nvSpPr>
          <p:cNvPr id="894" name="Google Shape;894;p34"/>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3">
                  <a:extLst>
                    <a:ext uri="{A12FA001-AC4F-418D-AE19-62706E023703}">
                      <ahyp:hlinkClr val="tx"/>
                    </a:ext>
                  </a:extLst>
                </a:hlinkClick>
              </a:rPr>
              <a:t>Held (2005), The Gap between Simulation and Understanding in Climate Modeling</a:t>
            </a:r>
            <a:endParaRPr sz="1100">
              <a:solidFill>
                <a:srgbClr val="58717A"/>
              </a:solidFill>
            </a:endParaRPr>
          </a:p>
        </p:txBody>
      </p:sp>
      <p:sp>
        <p:nvSpPr>
          <p:cNvPr id="895" name="Google Shape;895;p34"/>
          <p:cNvSpPr txBox="1"/>
          <p:nvPr/>
        </p:nvSpPr>
        <p:spPr>
          <a:xfrm>
            <a:off x="762000" y="65278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4">
                  <a:extLst>
                    <a:ext uri="{A12FA001-AC4F-418D-AE19-62706E023703}">
                      <ahyp:hlinkClr val="tx"/>
                    </a:ext>
                  </a:extLst>
                </a:hlinkClick>
              </a:rPr>
              <a:t>Jeevanjee et al. (2017), A perspective on climate model hierarchies</a:t>
            </a:r>
            <a:endParaRPr sz="1100">
              <a:solidFill>
                <a:srgbClr val="58717A"/>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900" name="Shape 900"/>
        <p:cNvGrpSpPr/>
        <p:nvPr/>
      </p:nvGrpSpPr>
      <p:grpSpPr>
        <a:xfrm>
          <a:off x="0" y="0"/>
          <a:ext cx="0" cy="0"/>
          <a:chOff x="0" y="0"/>
          <a:chExt cx="0" cy="0"/>
        </a:xfrm>
      </p:grpSpPr>
      <p:sp>
        <p:nvSpPr>
          <p:cNvPr id="901" name="Google Shape;901;p35"/>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Who needs to understand what?</a:t>
            </a:r>
            <a:endParaRPr b="1" i="0" sz="3200" u="none" cap="none" strike="noStrike">
              <a:solidFill>
                <a:srgbClr val="173541"/>
              </a:solidFill>
            </a:endParaRPr>
          </a:p>
        </p:txBody>
      </p:sp>
      <p:sp>
        <p:nvSpPr>
          <p:cNvPr id="902" name="Google Shape;902;p35"/>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Understanding a component and understanding</a:t>
            </a:r>
            <a:endParaRPr b="1" sz="2900">
              <a:solidFill>
                <a:srgbClr val="167D8D"/>
              </a:solidFill>
            </a:endParaRPr>
          </a:p>
          <a:p>
            <a:pPr indent="0" lvl="0" marL="0" rtl="0" algn="l">
              <a:lnSpc>
                <a:spcPct val="110000"/>
              </a:lnSpc>
              <a:spcBef>
                <a:spcPts val="0"/>
              </a:spcBef>
              <a:spcAft>
                <a:spcPts val="0"/>
              </a:spcAft>
              <a:buNone/>
            </a:pPr>
            <a:r>
              <a:rPr b="1" lang="en-US" sz="2900">
                <a:solidFill>
                  <a:srgbClr val="167D8D"/>
                </a:solidFill>
              </a:rPr>
              <a:t>the whole model are different demands.</a:t>
            </a:r>
            <a:endParaRPr b="1" sz="2900">
              <a:solidFill>
                <a:srgbClr val="167D8D"/>
              </a:solidFill>
            </a:endParaRPr>
          </a:p>
        </p:txBody>
      </p:sp>
      <p:sp>
        <p:nvSpPr>
          <p:cNvPr id="903" name="Google Shape;903;p35"/>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Which assumptions must the contributor explain?</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Which interactions must a maintainer assess?</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What knowledge must the community retain?</a:t>
            </a:r>
            <a:endParaRPr sz="2400">
              <a:solidFill>
                <a:srgbClr val="173541"/>
              </a:solidFill>
            </a:endParaRPr>
          </a:p>
        </p:txBody>
      </p:sp>
      <p:sp>
        <p:nvSpPr>
          <p:cNvPr id="904" name="Google Shape;904;p35"/>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173541"/>
                </a:solidFill>
              </a:rPr>
              <a:t>Working question: how can we preserve shared</a:t>
            </a:r>
            <a:endParaRPr b="1" sz="2400">
              <a:solidFill>
                <a:srgbClr val="173541"/>
              </a:solidFill>
            </a:endParaRPr>
          </a:p>
          <a:p>
            <a:pPr indent="0" lvl="0" marL="0" rtl="0" algn="l">
              <a:lnSpc>
                <a:spcPct val="110000"/>
              </a:lnSpc>
              <a:spcBef>
                <a:spcPts val="0"/>
              </a:spcBef>
              <a:spcAft>
                <a:spcPts val="0"/>
              </a:spcAft>
              <a:buNone/>
            </a:pPr>
            <a:r>
              <a:rPr b="1" lang="en-US" sz="2400">
                <a:solidFill>
                  <a:srgbClr val="173541"/>
                </a:solidFill>
              </a:rPr>
              <a:t>understanding as the codebase grows?</a:t>
            </a:r>
            <a:endParaRPr b="1" sz="2400">
              <a:solidFill>
                <a:srgbClr val="173541"/>
              </a:solidFill>
            </a:endParaRPr>
          </a:p>
        </p:txBody>
      </p:sp>
      <p:sp>
        <p:nvSpPr>
          <p:cNvPr id="905" name="Google Shape;905;p35"/>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3">
                  <a:extLst>
                    <a:ext uri="{A12FA001-AC4F-418D-AE19-62706E023703}">
                      <ahyp:hlinkClr val="tx"/>
                    </a:ext>
                  </a:extLst>
                </a:hlinkClick>
              </a:rPr>
              <a:t>Conceptual starting point: Naur (1985), Programming as Theory Building</a:t>
            </a:r>
            <a:endParaRPr sz="1100">
              <a:solidFill>
                <a:srgbClr val="58717A"/>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910" name="Shape 910"/>
        <p:cNvGrpSpPr/>
        <p:nvPr/>
      </p:nvGrpSpPr>
      <p:grpSpPr>
        <a:xfrm>
          <a:off x="0" y="0"/>
          <a:ext cx="0" cy="0"/>
          <a:chOff x="0" y="0"/>
          <a:chExt cx="0" cy="0"/>
        </a:xfrm>
      </p:grpSpPr>
      <p:sp>
        <p:nvSpPr>
          <p:cNvPr id="911" name="Google Shape;911;p36"/>
          <p:cNvSpPr txBox="1"/>
          <p:nvPr/>
        </p:nvSpPr>
        <p:spPr>
          <a:xfrm>
            <a:off x="762000" y="469900"/>
            <a:ext cx="10668000" cy="1079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3"/>
              </a:buClr>
              <a:buSzPts val="3400"/>
              <a:buFont typeface="Cambria"/>
              <a:buNone/>
            </a:pPr>
            <a:r>
              <a:rPr b="1" lang="en-US" sz="3200">
                <a:solidFill>
                  <a:srgbClr val="173541"/>
                </a:solidFill>
              </a:rPr>
              <a:t>Can AI accelerate understanding too?</a:t>
            </a:r>
            <a:endParaRPr b="1" i="0" sz="3200" u="none" cap="none" strike="noStrike">
              <a:solidFill>
                <a:srgbClr val="173541"/>
              </a:solidFill>
            </a:endParaRPr>
          </a:p>
        </p:txBody>
      </p:sp>
      <p:sp>
        <p:nvSpPr>
          <p:cNvPr id="912" name="Google Shape;912;p36"/>
          <p:cNvSpPr txBox="1"/>
          <p:nvPr/>
        </p:nvSpPr>
        <p:spPr>
          <a:xfrm>
            <a:off x="762000" y="1841500"/>
            <a:ext cx="10668000" cy="1269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67D8D"/>
                </a:solidFill>
              </a:rPr>
              <a:t>Implementation speed is only one possible benefit.</a:t>
            </a:r>
            <a:endParaRPr b="1" sz="2900">
              <a:solidFill>
                <a:srgbClr val="167D8D"/>
              </a:solidFill>
            </a:endParaRPr>
          </a:p>
        </p:txBody>
      </p:sp>
      <p:sp>
        <p:nvSpPr>
          <p:cNvPr id="913" name="Google Shape;913;p36"/>
          <p:cNvSpPr txBox="1"/>
          <p:nvPr/>
        </p:nvSpPr>
        <p:spPr>
          <a:xfrm>
            <a:off x="762000" y="3429000"/>
            <a:ext cx="10668000" cy="1524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400">
                <a:solidFill>
                  <a:srgbClr val="173541"/>
                </a:solidFill>
              </a:rPr>
              <a:t>AI can help explore unfamiliar code and explain its structure.</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Could it also help us test assumptions and investigate</a:t>
            </a:r>
            <a:endParaRPr sz="2400">
              <a:solidFill>
                <a:srgbClr val="173541"/>
              </a:solidFill>
            </a:endParaRPr>
          </a:p>
          <a:p>
            <a:pPr indent="0" lvl="0" marL="0" rtl="0" algn="l">
              <a:lnSpc>
                <a:spcPct val="110000"/>
              </a:lnSpc>
              <a:spcBef>
                <a:spcPts val="0"/>
              </a:spcBef>
              <a:spcAft>
                <a:spcPts val="0"/>
              </a:spcAft>
              <a:buNone/>
            </a:pPr>
            <a:r>
              <a:rPr lang="en-US" sz="2400">
                <a:solidFill>
                  <a:srgbClr val="173541"/>
                </a:solidFill>
              </a:rPr>
              <a:t>unexpected model behavior?</a:t>
            </a:r>
            <a:endParaRPr sz="2400">
              <a:solidFill>
                <a:srgbClr val="173541"/>
              </a:solidFill>
            </a:endParaRPr>
          </a:p>
        </p:txBody>
      </p:sp>
      <p:sp>
        <p:nvSpPr>
          <p:cNvPr id="914" name="Google Shape;914;p36"/>
          <p:cNvSpPr txBox="1"/>
          <p:nvPr/>
        </p:nvSpPr>
        <p:spPr>
          <a:xfrm>
            <a:off x="762000" y="5219700"/>
            <a:ext cx="106680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173541"/>
                </a:solidFill>
              </a:rPr>
              <a:t>Possible comparison: time to produce a change</a:t>
            </a:r>
            <a:endParaRPr b="1" sz="2400">
              <a:solidFill>
                <a:srgbClr val="173541"/>
              </a:solidFill>
            </a:endParaRPr>
          </a:p>
          <a:p>
            <a:pPr indent="0" lvl="0" marL="0" rtl="0" algn="l">
              <a:lnSpc>
                <a:spcPct val="110000"/>
              </a:lnSpc>
              <a:spcBef>
                <a:spcPts val="0"/>
              </a:spcBef>
              <a:spcAft>
                <a:spcPts val="0"/>
              </a:spcAft>
              <a:buNone/>
            </a:pPr>
            <a:r>
              <a:rPr b="1" lang="en-US" sz="2400">
                <a:solidFill>
                  <a:srgbClr val="173541"/>
                </a:solidFill>
              </a:rPr>
              <a:t>and time to explain and validate it.</a:t>
            </a:r>
            <a:endParaRPr b="1" sz="2400">
              <a:solidFill>
                <a:srgbClr val="173541"/>
              </a:solidFill>
            </a:endParaRPr>
          </a:p>
        </p:txBody>
      </p:sp>
      <p:sp>
        <p:nvSpPr>
          <p:cNvPr id="915" name="Google Shape;915;p36"/>
          <p:cNvSpPr txBox="1"/>
          <p:nvPr/>
        </p:nvSpPr>
        <p:spPr>
          <a:xfrm>
            <a:off x="762000" y="6299200"/>
            <a:ext cx="106680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u="sng">
                <a:solidFill>
                  <a:srgbClr val="58717A"/>
                </a:solidFill>
                <a:hlinkClick r:id="rId3">
                  <a:extLst>
                    <a:ext uri="{A12FA001-AC4F-418D-AE19-62706E023703}">
                      <ahyp:hlinkClr val="tx"/>
                    </a:ext>
                  </a:extLst>
                </a:hlinkClick>
              </a:rPr>
              <a:t>GitHub Docs, Using GitHub Copilot to explore a codebase</a:t>
            </a:r>
            <a:endParaRPr sz="1100">
              <a:solidFill>
                <a:srgbClr val="58717A"/>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a:dk1>
        <a:srgbClr val="173541"/>
      </a:dk1>
      <a:lt1>
        <a:srgbClr val="F6F5F0"/>
      </a:lt1>
      <a:dk2>
        <a:srgbClr val="102D3A"/>
      </a:dk2>
      <a:lt2>
        <a:srgbClr val="E3EFEC"/>
      </a:lt2>
      <a:accent1>
        <a:srgbClr val="167D8D"/>
      </a:accent1>
      <a:accent2>
        <a:srgbClr val="C57335"/>
      </a:accent2>
      <a:accent3>
        <a:srgbClr val="8FD5CA"/>
      </a:accent3>
      <a:accent4>
        <a:srgbClr val="B6CCD2"/>
      </a:accent4>
      <a:accent5>
        <a:srgbClr val="58717A"/>
      </a:accent5>
      <a:accent6>
        <a:srgbClr val="A19377"/>
      </a:accent6>
      <a:hlink>
        <a:srgbClr val="167D8D"/>
      </a:hlink>
      <a:folHlink>
        <a:srgbClr val="58717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